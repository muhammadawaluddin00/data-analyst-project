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Lst>
  <p:sldSz cx="18288000" cy="10287000"/>
  <p:notesSz cx="6858000" cy="9144000"/>
  <p:embeddedFontLst>
    <p:embeddedFont>
      <p:font typeface="Comfortaa" panose="020B0604020202020204" charset="0"/>
      <p:regular r:id="rId29"/>
      <p:bold r:id="rId30"/>
    </p:embeddedFont>
    <p:embeddedFont>
      <p:font typeface="Nunito" pitchFamily="2" charset="0"/>
      <p:regular r:id="rId31"/>
      <p:bold r:id="rId32"/>
      <p:italic r:id="rId33"/>
      <p:boldItalic r:id="rId34"/>
    </p:embeddedFont>
    <p:embeddedFont>
      <p:font typeface="Nunito Medium" panose="020B0604020202020204" charset="0"/>
      <p:regular r:id="rId35"/>
      <p:bold r:id="rId36"/>
      <p:italic r:id="rId37"/>
      <p:boldItalic r:id="rId38"/>
    </p:embeddedFont>
    <p:embeddedFont>
      <p:font typeface="Oswald Medium" panose="00000600000000000000" pitchFamily="2" charset="0"/>
      <p:regular r:id="rId39"/>
      <p:bold r:id="rId40"/>
    </p:embeddedFont>
    <p:embeddedFont>
      <p:font typeface="Oswald SemiBold" panose="00000700000000000000" pitchFamily="2" charset="0"/>
      <p:regular r:id="rId41"/>
      <p:bold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8" roundtripDataSignature="AMtx7mjd/5/vpE3UdWkqcTL71GkE/9iQ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484A38D-38E9-4093-8DEF-69E4C63834CB}">
  <a:tblStyle styleId="{6484A38D-38E9-4093-8DEF-69E4C63834C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94" y="12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d03f543068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g3d03f543068_0_7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d03f543068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g3d03f543068_0_3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d03f543068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5" name="Google Shape;205;g3d03f543068_0_4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d03f543068_8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g3d03f543068_8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d09045918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g3d090459189_1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d090459189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g3d090459189_1_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d090459189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g3d090459189_1_3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d090459189_1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g3d090459189_1_5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d090459189_1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1" name="Google Shape;291;g3d090459189_1_7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d090459189_1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0" name="Google Shape;310;g3d090459189_1_9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d774fd106a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1" name="Google Shape;321;g3d774fd106a_3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d774fd106a_14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0" name="Google Shape;330;g3d774fd106a_14_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d774fd106a_12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5" name="Google Shape;345;g3d774fd106a_12_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d03f543068_9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4" name="Google Shape;354;g3d03f543068_9_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d090459189_1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4" name="Google Shape;364;g3d090459189_1_1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d09ade4597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6" name="Google Shape;376;g3d09ade4597_0_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d09ade4597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9" name="Google Shape;389;g3d09ade4597_0_2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d04925079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1" name="Google Shape;401;g3d049250796_0_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3d774fd106a_8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0" name="Google Shape;410;g3d774fd106a_8_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3d03f543068_9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2" name="Google Shape;422;g3d03f543068_9_2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3d774fd106a_8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5" name="Google Shape;435;g3d774fd106a_8_2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4" name="Google Shape;444;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2"/>
          <p:cNvSpPr>
            <a:spLocks noGrp="1"/>
          </p:cNvSpPr>
          <p:nvPr>
            <p:ph type="pic" idx="2"/>
          </p:nvPr>
        </p:nvSpPr>
        <p:spPr>
          <a:xfrm>
            <a:off x="1792288" y="612775"/>
            <a:ext cx="5486400" cy="4114800"/>
          </a:xfrm>
          <a:prstGeom prst="rect">
            <a:avLst/>
          </a:prstGeom>
          <a:noFill/>
          <a:ln>
            <a:noFill/>
          </a:ln>
        </p:spPr>
      </p:sp>
      <p:sp>
        <p:nvSpPr>
          <p:cNvPr id="64" name="Google Shape;64;p2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s://lookerstudio.google.com/"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lookerstudio.google.com/"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83"/>
        <p:cNvGrpSpPr/>
        <p:nvPr/>
      </p:nvGrpSpPr>
      <p:grpSpPr>
        <a:xfrm>
          <a:off x="0" y="0"/>
          <a:ext cx="0" cy="0"/>
          <a:chOff x="0" y="0"/>
          <a:chExt cx="0" cy="0"/>
        </a:xfrm>
      </p:grpSpPr>
      <p:grpSp>
        <p:nvGrpSpPr>
          <p:cNvPr id="84" name="Google Shape;84;p1"/>
          <p:cNvGrpSpPr/>
          <p:nvPr/>
        </p:nvGrpSpPr>
        <p:grpSpPr>
          <a:xfrm>
            <a:off x="17259300" y="-361652"/>
            <a:ext cx="3086100" cy="10648652"/>
            <a:chOff x="0" y="-95250"/>
            <a:chExt cx="812800" cy="2804583"/>
          </a:xfrm>
        </p:grpSpPr>
        <p:sp>
          <p:nvSpPr>
            <p:cNvPr id="85" name="Google Shape;85;p1"/>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
            <p:cNvSpPr txBox="1"/>
            <p:nvPr/>
          </p:nvSpPr>
          <p:spPr>
            <a:xfrm>
              <a:off x="0" y="-95250"/>
              <a:ext cx="812800" cy="2804583"/>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7" name="Google Shape;87;p1"/>
          <p:cNvSpPr txBox="1"/>
          <p:nvPr/>
        </p:nvSpPr>
        <p:spPr>
          <a:xfrm>
            <a:off x="1028700" y="3748753"/>
            <a:ext cx="10209000" cy="3407100"/>
          </a:xfrm>
          <a:prstGeom prst="rect">
            <a:avLst/>
          </a:prstGeom>
          <a:noFill/>
          <a:ln>
            <a:noFill/>
          </a:ln>
        </p:spPr>
        <p:txBody>
          <a:bodyPr spcFirstLastPara="1" wrap="square" lIns="0" tIns="0" rIns="0" bIns="0" anchor="t" anchorCtr="0">
            <a:spAutoFit/>
          </a:bodyPr>
          <a:lstStyle/>
          <a:p>
            <a:pPr marL="0" marR="0" lvl="0" indent="0" algn="l" rtl="0">
              <a:lnSpc>
                <a:spcPct val="113999"/>
              </a:lnSpc>
              <a:spcBef>
                <a:spcPts val="0"/>
              </a:spcBef>
              <a:spcAft>
                <a:spcPts val="0"/>
              </a:spcAft>
              <a:buNone/>
            </a:pPr>
            <a:r>
              <a:rPr lang="en-US" sz="10343" b="1">
                <a:solidFill>
                  <a:srgbClr val="303870"/>
                </a:solidFill>
              </a:rPr>
              <a:t>DATA</a:t>
            </a:r>
            <a:endParaRPr sz="10343" b="1">
              <a:solidFill>
                <a:srgbClr val="303870"/>
              </a:solidFill>
            </a:endParaRPr>
          </a:p>
          <a:p>
            <a:pPr marL="0" marR="0" lvl="0" indent="0" algn="l" rtl="0">
              <a:lnSpc>
                <a:spcPct val="113999"/>
              </a:lnSpc>
              <a:spcBef>
                <a:spcPts val="0"/>
              </a:spcBef>
              <a:spcAft>
                <a:spcPts val="0"/>
              </a:spcAft>
              <a:buNone/>
            </a:pPr>
            <a:r>
              <a:rPr lang="en-US" sz="10343" b="1">
                <a:solidFill>
                  <a:srgbClr val="303870"/>
                </a:solidFill>
              </a:rPr>
              <a:t>VISUALIZATION</a:t>
            </a:r>
            <a:endParaRPr sz="10343" b="1">
              <a:solidFill>
                <a:srgbClr val="303870"/>
              </a:solidFill>
            </a:endParaRPr>
          </a:p>
        </p:txBody>
      </p:sp>
      <p:grpSp>
        <p:nvGrpSpPr>
          <p:cNvPr id="88" name="Google Shape;88;p1"/>
          <p:cNvGrpSpPr/>
          <p:nvPr/>
        </p:nvGrpSpPr>
        <p:grpSpPr>
          <a:xfrm>
            <a:off x="1028700" y="6882414"/>
            <a:ext cx="7264943" cy="1199809"/>
            <a:chOff x="0" y="-95250"/>
            <a:chExt cx="1913388" cy="315997"/>
          </a:xfrm>
        </p:grpSpPr>
        <p:sp>
          <p:nvSpPr>
            <p:cNvPr id="89" name="Google Shape;89;p1"/>
            <p:cNvSpPr/>
            <p:nvPr/>
          </p:nvSpPr>
          <p:spPr>
            <a:xfrm>
              <a:off x="0" y="0"/>
              <a:ext cx="1913388" cy="220747"/>
            </a:xfrm>
            <a:custGeom>
              <a:avLst/>
              <a:gdLst/>
              <a:ahLst/>
              <a:cxnLst/>
              <a:rect l="l" t="t" r="r" b="b"/>
              <a:pathLst>
                <a:path w="1913388" h="220747" extrusionOk="0">
                  <a:moveTo>
                    <a:pt x="106566" y="0"/>
                  </a:moveTo>
                  <a:lnTo>
                    <a:pt x="1806822" y="0"/>
                  </a:lnTo>
                  <a:cubicBezTo>
                    <a:pt x="1835085" y="0"/>
                    <a:pt x="1862190" y="11227"/>
                    <a:pt x="1882175" y="31213"/>
                  </a:cubicBezTo>
                  <a:cubicBezTo>
                    <a:pt x="1902160" y="51198"/>
                    <a:pt x="1913388" y="78303"/>
                    <a:pt x="1913388" y="106566"/>
                  </a:cubicBezTo>
                  <a:lnTo>
                    <a:pt x="1913388" y="114181"/>
                  </a:lnTo>
                  <a:cubicBezTo>
                    <a:pt x="1913388" y="173036"/>
                    <a:pt x="1865677" y="220747"/>
                    <a:pt x="1806822" y="220747"/>
                  </a:cubicBezTo>
                  <a:lnTo>
                    <a:pt x="106566" y="220747"/>
                  </a:lnTo>
                  <a:cubicBezTo>
                    <a:pt x="47711" y="220747"/>
                    <a:pt x="0" y="173036"/>
                    <a:pt x="0" y="114181"/>
                  </a:cubicBezTo>
                  <a:lnTo>
                    <a:pt x="0" y="106566"/>
                  </a:lnTo>
                  <a:cubicBezTo>
                    <a:pt x="0" y="47711"/>
                    <a:pt x="47711" y="0"/>
                    <a:pt x="106566" y="0"/>
                  </a:cubicBezTo>
                  <a:close/>
                </a:path>
              </a:pathLst>
            </a:custGeom>
            <a:noFill/>
            <a:ln w="38100" cap="rnd" cmpd="sng">
              <a:solidFill>
                <a:srgbClr val="30387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
            <p:cNvSpPr txBox="1"/>
            <p:nvPr/>
          </p:nvSpPr>
          <p:spPr>
            <a:xfrm>
              <a:off x="0" y="-95250"/>
              <a:ext cx="1913388" cy="315997"/>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1" name="Google Shape;91;p1"/>
          <p:cNvSpPr txBox="1"/>
          <p:nvPr/>
        </p:nvSpPr>
        <p:spPr>
          <a:xfrm>
            <a:off x="1363969" y="7350910"/>
            <a:ext cx="6594300" cy="497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230">
                <a:solidFill>
                  <a:srgbClr val="303870"/>
                </a:solidFill>
                <a:latin typeface="Nunito"/>
                <a:ea typeface="Nunito"/>
                <a:cs typeface="Nunito"/>
                <a:sym typeface="Nunito"/>
              </a:rPr>
              <a:t>Presented by : Group D7</a:t>
            </a:r>
            <a:endParaRPr/>
          </a:p>
        </p:txBody>
      </p:sp>
      <p:sp>
        <p:nvSpPr>
          <p:cNvPr id="92" name="Google Shape;92;p1"/>
          <p:cNvSpPr txBox="1"/>
          <p:nvPr/>
        </p:nvSpPr>
        <p:spPr>
          <a:xfrm>
            <a:off x="1028700" y="1853073"/>
            <a:ext cx="7652100" cy="4986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240">
                <a:solidFill>
                  <a:srgbClr val="303870"/>
                </a:solidFill>
                <a:latin typeface="Nunito"/>
                <a:ea typeface="Nunito"/>
                <a:cs typeface="Nunito"/>
                <a:sym typeface="Nunito"/>
              </a:rPr>
              <a:t>Final Project Data Analyst - Batch 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96"/>
        <p:cNvGrpSpPr/>
        <p:nvPr/>
      </p:nvGrpSpPr>
      <p:grpSpPr>
        <a:xfrm>
          <a:off x="0" y="0"/>
          <a:ext cx="0" cy="0"/>
          <a:chOff x="0" y="0"/>
          <a:chExt cx="0" cy="0"/>
        </a:xfrm>
      </p:grpSpPr>
      <p:grpSp>
        <p:nvGrpSpPr>
          <p:cNvPr id="97" name="Google Shape;97;p2"/>
          <p:cNvGrpSpPr/>
          <p:nvPr/>
        </p:nvGrpSpPr>
        <p:grpSpPr>
          <a:xfrm>
            <a:off x="17259300" y="-361652"/>
            <a:ext cx="3086100" cy="10648652"/>
            <a:chOff x="0" y="-95250"/>
            <a:chExt cx="812800" cy="2804583"/>
          </a:xfrm>
        </p:grpSpPr>
        <p:sp>
          <p:nvSpPr>
            <p:cNvPr id="98" name="Google Shape;98;p2"/>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txBox="1"/>
            <p:nvPr/>
          </p:nvSpPr>
          <p:spPr>
            <a:xfrm>
              <a:off x="0" y="-95250"/>
              <a:ext cx="812800" cy="2804583"/>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0" name="Google Shape;100;p2"/>
          <p:cNvSpPr txBox="1"/>
          <p:nvPr/>
        </p:nvSpPr>
        <p:spPr>
          <a:xfrm>
            <a:off x="1028700" y="1375895"/>
            <a:ext cx="10422463" cy="1369582"/>
          </a:xfrm>
          <a:prstGeom prst="rect">
            <a:avLst/>
          </a:prstGeom>
          <a:noFill/>
          <a:ln>
            <a:noFill/>
          </a:ln>
        </p:spPr>
        <p:txBody>
          <a:bodyPr spcFirstLastPara="1" wrap="square" lIns="0" tIns="0" rIns="0" bIns="0" anchor="t" anchorCtr="0">
            <a:spAutoFit/>
          </a:bodyPr>
          <a:lstStyle/>
          <a:p>
            <a:pPr marL="0" marR="0" lvl="0" indent="0" algn="l" rtl="0">
              <a:lnSpc>
                <a:spcPct val="113998"/>
              </a:lnSpc>
              <a:spcBef>
                <a:spcPts val="0"/>
              </a:spcBef>
              <a:spcAft>
                <a:spcPts val="0"/>
              </a:spcAft>
              <a:buNone/>
            </a:pPr>
            <a:r>
              <a:rPr lang="en-US" sz="7872" b="1" i="0" u="none" strike="noStrike" cap="none">
                <a:solidFill>
                  <a:srgbClr val="303870"/>
                </a:solidFill>
                <a:latin typeface="Arial"/>
                <a:ea typeface="Arial"/>
                <a:cs typeface="Arial"/>
                <a:sym typeface="Arial"/>
              </a:rPr>
              <a:t>OUR CONTENTS</a:t>
            </a:r>
            <a:endParaRPr/>
          </a:p>
        </p:txBody>
      </p:sp>
      <p:grpSp>
        <p:nvGrpSpPr>
          <p:cNvPr id="101" name="Google Shape;101;p2"/>
          <p:cNvGrpSpPr/>
          <p:nvPr/>
        </p:nvGrpSpPr>
        <p:grpSpPr>
          <a:xfrm>
            <a:off x="1028700" y="2855498"/>
            <a:ext cx="5567160" cy="1199804"/>
            <a:chOff x="0" y="-95250"/>
            <a:chExt cx="1466248" cy="315997"/>
          </a:xfrm>
        </p:grpSpPr>
        <p:sp>
          <p:nvSpPr>
            <p:cNvPr id="102" name="Google Shape;102;p2"/>
            <p:cNvSpPr/>
            <p:nvPr/>
          </p:nvSpPr>
          <p:spPr>
            <a:xfrm>
              <a:off x="0" y="0"/>
              <a:ext cx="1466248" cy="220747"/>
            </a:xfrm>
            <a:custGeom>
              <a:avLst/>
              <a:gdLst/>
              <a:ahLst/>
              <a:cxnLst/>
              <a:rect l="l" t="t" r="r" b="b"/>
              <a:pathLst>
                <a:path w="1466248" h="220747" extrusionOk="0">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noFill/>
            <a:ln w="38100" cap="rnd" cmpd="sng">
              <a:solidFill>
                <a:srgbClr val="30387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txBox="1"/>
            <p:nvPr/>
          </p:nvSpPr>
          <p:spPr>
            <a:xfrm>
              <a:off x="0" y="-95250"/>
              <a:ext cx="1466248" cy="315997"/>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4" name="Google Shape;104;p2"/>
          <p:cNvGrpSpPr/>
          <p:nvPr/>
        </p:nvGrpSpPr>
        <p:grpSpPr>
          <a:xfrm>
            <a:off x="7403047" y="2801068"/>
            <a:ext cx="5567197" cy="1199809"/>
            <a:chOff x="0" y="-95250"/>
            <a:chExt cx="1466248" cy="315997"/>
          </a:xfrm>
        </p:grpSpPr>
        <p:sp>
          <p:nvSpPr>
            <p:cNvPr id="105" name="Google Shape;105;p2"/>
            <p:cNvSpPr/>
            <p:nvPr/>
          </p:nvSpPr>
          <p:spPr>
            <a:xfrm>
              <a:off x="0" y="0"/>
              <a:ext cx="1466248" cy="220747"/>
            </a:xfrm>
            <a:custGeom>
              <a:avLst/>
              <a:gdLst/>
              <a:ahLst/>
              <a:cxnLst/>
              <a:rect l="l" t="t" r="r" b="b"/>
              <a:pathLst>
                <a:path w="1466248" h="220747" extrusionOk="0">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noFill/>
            <a:ln w="38100" cap="rnd" cmpd="sng">
              <a:solidFill>
                <a:srgbClr val="30387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txBox="1"/>
            <p:nvPr/>
          </p:nvSpPr>
          <p:spPr>
            <a:xfrm>
              <a:off x="0" y="-95250"/>
              <a:ext cx="1466248" cy="315997"/>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7" name="Google Shape;107;p2"/>
          <p:cNvGrpSpPr/>
          <p:nvPr/>
        </p:nvGrpSpPr>
        <p:grpSpPr>
          <a:xfrm>
            <a:off x="7403047" y="3970844"/>
            <a:ext cx="5567197" cy="1199809"/>
            <a:chOff x="0" y="-95250"/>
            <a:chExt cx="1466248" cy="315997"/>
          </a:xfrm>
        </p:grpSpPr>
        <p:sp>
          <p:nvSpPr>
            <p:cNvPr id="108" name="Google Shape;108;p2"/>
            <p:cNvSpPr/>
            <p:nvPr/>
          </p:nvSpPr>
          <p:spPr>
            <a:xfrm>
              <a:off x="0" y="0"/>
              <a:ext cx="1466248" cy="220747"/>
            </a:xfrm>
            <a:custGeom>
              <a:avLst/>
              <a:gdLst/>
              <a:ahLst/>
              <a:cxnLst/>
              <a:rect l="l" t="t" r="r" b="b"/>
              <a:pathLst>
                <a:path w="1466248" h="220747" extrusionOk="0">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noFill/>
            <a:ln w="38100" cap="rnd" cmpd="sng">
              <a:solidFill>
                <a:srgbClr val="30387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txBox="1"/>
            <p:nvPr/>
          </p:nvSpPr>
          <p:spPr>
            <a:xfrm>
              <a:off x="0" y="-95250"/>
              <a:ext cx="1466248" cy="315997"/>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0" name="Google Shape;110;p2"/>
          <p:cNvGrpSpPr/>
          <p:nvPr/>
        </p:nvGrpSpPr>
        <p:grpSpPr>
          <a:xfrm>
            <a:off x="7403047" y="5142370"/>
            <a:ext cx="5567197" cy="1199809"/>
            <a:chOff x="0" y="-95250"/>
            <a:chExt cx="1466248" cy="315997"/>
          </a:xfrm>
        </p:grpSpPr>
        <p:sp>
          <p:nvSpPr>
            <p:cNvPr id="111" name="Google Shape;111;p2"/>
            <p:cNvSpPr/>
            <p:nvPr/>
          </p:nvSpPr>
          <p:spPr>
            <a:xfrm>
              <a:off x="0" y="0"/>
              <a:ext cx="1466248" cy="220747"/>
            </a:xfrm>
            <a:custGeom>
              <a:avLst/>
              <a:gdLst/>
              <a:ahLst/>
              <a:cxnLst/>
              <a:rect l="l" t="t" r="r" b="b"/>
              <a:pathLst>
                <a:path w="1466248" h="220747" extrusionOk="0">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noFill/>
            <a:ln w="38100" cap="rnd" cmpd="sng">
              <a:solidFill>
                <a:srgbClr val="30387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txBox="1"/>
            <p:nvPr/>
          </p:nvSpPr>
          <p:spPr>
            <a:xfrm>
              <a:off x="0" y="-95250"/>
              <a:ext cx="1466248" cy="315997"/>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3" name="Google Shape;113;p2"/>
          <p:cNvGrpSpPr/>
          <p:nvPr/>
        </p:nvGrpSpPr>
        <p:grpSpPr>
          <a:xfrm>
            <a:off x="1028663" y="3966061"/>
            <a:ext cx="5567197" cy="1199809"/>
            <a:chOff x="0" y="-95250"/>
            <a:chExt cx="1466248" cy="315997"/>
          </a:xfrm>
        </p:grpSpPr>
        <p:sp>
          <p:nvSpPr>
            <p:cNvPr id="114" name="Google Shape;114;p2"/>
            <p:cNvSpPr/>
            <p:nvPr/>
          </p:nvSpPr>
          <p:spPr>
            <a:xfrm>
              <a:off x="0" y="0"/>
              <a:ext cx="1466248" cy="220747"/>
            </a:xfrm>
            <a:custGeom>
              <a:avLst/>
              <a:gdLst/>
              <a:ahLst/>
              <a:cxnLst/>
              <a:rect l="l" t="t" r="r" b="b"/>
              <a:pathLst>
                <a:path w="1466248" h="220747" extrusionOk="0">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noFill/>
            <a:ln w="38100" cap="rnd" cmpd="sng">
              <a:solidFill>
                <a:srgbClr val="30387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txBox="1"/>
            <p:nvPr/>
          </p:nvSpPr>
          <p:spPr>
            <a:xfrm>
              <a:off x="0" y="-95250"/>
              <a:ext cx="1466100" cy="3159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6" name="Google Shape;116;p2"/>
          <p:cNvGrpSpPr/>
          <p:nvPr/>
        </p:nvGrpSpPr>
        <p:grpSpPr>
          <a:xfrm>
            <a:off x="1028588" y="6214748"/>
            <a:ext cx="5567197" cy="1199809"/>
            <a:chOff x="0" y="-95250"/>
            <a:chExt cx="1466248" cy="315997"/>
          </a:xfrm>
        </p:grpSpPr>
        <p:sp>
          <p:nvSpPr>
            <p:cNvPr id="117" name="Google Shape;117;p2"/>
            <p:cNvSpPr/>
            <p:nvPr/>
          </p:nvSpPr>
          <p:spPr>
            <a:xfrm>
              <a:off x="0" y="0"/>
              <a:ext cx="1466248" cy="220747"/>
            </a:xfrm>
            <a:custGeom>
              <a:avLst/>
              <a:gdLst/>
              <a:ahLst/>
              <a:cxnLst/>
              <a:rect l="l" t="t" r="r" b="b"/>
              <a:pathLst>
                <a:path w="1466248" h="220747" extrusionOk="0">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noFill/>
            <a:ln w="38100" cap="rnd" cmpd="sng">
              <a:solidFill>
                <a:srgbClr val="30387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txBox="1"/>
            <p:nvPr/>
          </p:nvSpPr>
          <p:spPr>
            <a:xfrm>
              <a:off x="0" y="-95250"/>
              <a:ext cx="1466248" cy="315997"/>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9" name="Google Shape;119;p2"/>
          <p:cNvSpPr txBox="1"/>
          <p:nvPr/>
        </p:nvSpPr>
        <p:spPr>
          <a:xfrm>
            <a:off x="1285620" y="3323993"/>
            <a:ext cx="5053200" cy="497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230" b="0" i="0" u="none" strike="noStrike" cap="none">
                <a:solidFill>
                  <a:srgbClr val="303870"/>
                </a:solidFill>
                <a:latin typeface="Nunito"/>
                <a:ea typeface="Nunito"/>
                <a:cs typeface="Nunito"/>
                <a:sym typeface="Nunito"/>
              </a:rPr>
              <a:t>01. </a:t>
            </a:r>
            <a:r>
              <a:rPr lang="en-US" sz="3230">
                <a:solidFill>
                  <a:srgbClr val="303870"/>
                </a:solidFill>
                <a:latin typeface="Nunito"/>
                <a:ea typeface="Nunito"/>
                <a:cs typeface="Nunito"/>
                <a:sym typeface="Nunito"/>
              </a:rPr>
              <a:t>Team</a:t>
            </a:r>
            <a:r>
              <a:rPr lang="en-US" sz="3230" b="0" i="0" u="none" strike="noStrike" cap="none">
                <a:solidFill>
                  <a:srgbClr val="303870"/>
                </a:solidFill>
                <a:latin typeface="Nunito"/>
                <a:ea typeface="Nunito"/>
                <a:cs typeface="Nunito"/>
                <a:sym typeface="Nunito"/>
              </a:rPr>
              <a:t> Profile</a:t>
            </a:r>
            <a:endParaRPr/>
          </a:p>
        </p:txBody>
      </p:sp>
      <p:sp>
        <p:nvSpPr>
          <p:cNvPr id="120" name="Google Shape;120;p2"/>
          <p:cNvSpPr txBox="1"/>
          <p:nvPr/>
        </p:nvSpPr>
        <p:spPr>
          <a:xfrm>
            <a:off x="7659967" y="3269564"/>
            <a:ext cx="5053200" cy="497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230" b="0" i="0" u="none" strike="noStrike" cap="none">
                <a:solidFill>
                  <a:srgbClr val="303870"/>
                </a:solidFill>
                <a:latin typeface="Nunito"/>
                <a:ea typeface="Nunito"/>
                <a:cs typeface="Nunito"/>
                <a:sym typeface="Nunito"/>
              </a:rPr>
              <a:t>0</a:t>
            </a:r>
            <a:r>
              <a:rPr lang="en-US" sz="3230">
                <a:solidFill>
                  <a:srgbClr val="303870"/>
                </a:solidFill>
                <a:latin typeface="Nunito"/>
                <a:ea typeface="Nunito"/>
                <a:cs typeface="Nunito"/>
                <a:sym typeface="Nunito"/>
              </a:rPr>
              <a:t>5</a:t>
            </a:r>
            <a:r>
              <a:rPr lang="en-US" sz="3230" b="0" i="0" u="none" strike="noStrike" cap="none">
                <a:solidFill>
                  <a:srgbClr val="303870"/>
                </a:solidFill>
                <a:latin typeface="Nunito"/>
                <a:ea typeface="Nunito"/>
                <a:cs typeface="Nunito"/>
                <a:sym typeface="Nunito"/>
              </a:rPr>
              <a:t>. </a:t>
            </a:r>
            <a:r>
              <a:rPr lang="en-US" sz="3230">
                <a:solidFill>
                  <a:srgbClr val="303870"/>
                </a:solidFill>
                <a:latin typeface="Nunito"/>
                <a:ea typeface="Nunito"/>
                <a:cs typeface="Nunito"/>
                <a:sym typeface="Nunito"/>
              </a:rPr>
              <a:t>Dashboard Page 1</a:t>
            </a:r>
            <a:endParaRPr/>
          </a:p>
        </p:txBody>
      </p:sp>
      <p:sp>
        <p:nvSpPr>
          <p:cNvPr id="121" name="Google Shape;121;p2"/>
          <p:cNvSpPr txBox="1"/>
          <p:nvPr/>
        </p:nvSpPr>
        <p:spPr>
          <a:xfrm>
            <a:off x="7659967" y="4439340"/>
            <a:ext cx="5053200" cy="497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230" b="0" i="0" u="none" strike="noStrike" cap="none">
                <a:solidFill>
                  <a:srgbClr val="303870"/>
                </a:solidFill>
                <a:latin typeface="Nunito"/>
                <a:ea typeface="Nunito"/>
                <a:cs typeface="Nunito"/>
                <a:sym typeface="Nunito"/>
              </a:rPr>
              <a:t>0</a:t>
            </a:r>
            <a:r>
              <a:rPr lang="en-US" sz="3230">
                <a:solidFill>
                  <a:srgbClr val="303870"/>
                </a:solidFill>
                <a:latin typeface="Nunito"/>
                <a:ea typeface="Nunito"/>
                <a:cs typeface="Nunito"/>
                <a:sym typeface="Nunito"/>
              </a:rPr>
              <a:t>6</a:t>
            </a:r>
            <a:r>
              <a:rPr lang="en-US" sz="3230" b="0" i="0" u="none" strike="noStrike" cap="none">
                <a:solidFill>
                  <a:srgbClr val="303870"/>
                </a:solidFill>
                <a:latin typeface="Nunito"/>
                <a:ea typeface="Nunito"/>
                <a:cs typeface="Nunito"/>
                <a:sym typeface="Nunito"/>
              </a:rPr>
              <a:t>. </a:t>
            </a:r>
            <a:r>
              <a:rPr lang="en-US" sz="3230">
                <a:solidFill>
                  <a:srgbClr val="303870"/>
                </a:solidFill>
                <a:latin typeface="Nunito"/>
                <a:ea typeface="Nunito"/>
                <a:cs typeface="Nunito"/>
                <a:sym typeface="Nunito"/>
              </a:rPr>
              <a:t>Dashboard Page 2</a:t>
            </a:r>
            <a:endParaRPr/>
          </a:p>
        </p:txBody>
      </p:sp>
      <p:sp>
        <p:nvSpPr>
          <p:cNvPr id="122" name="Google Shape;122;p2"/>
          <p:cNvSpPr txBox="1"/>
          <p:nvPr/>
        </p:nvSpPr>
        <p:spPr>
          <a:xfrm>
            <a:off x="1285582" y="4434558"/>
            <a:ext cx="5053200" cy="497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230" b="0" i="0" u="none" strike="noStrike" cap="none">
                <a:solidFill>
                  <a:srgbClr val="303870"/>
                </a:solidFill>
                <a:latin typeface="Nunito"/>
                <a:ea typeface="Nunito"/>
                <a:cs typeface="Nunito"/>
                <a:sym typeface="Nunito"/>
              </a:rPr>
              <a:t>0</a:t>
            </a:r>
            <a:r>
              <a:rPr lang="en-US" sz="3230">
                <a:solidFill>
                  <a:srgbClr val="303870"/>
                </a:solidFill>
                <a:latin typeface="Nunito"/>
                <a:ea typeface="Nunito"/>
                <a:cs typeface="Nunito"/>
                <a:sym typeface="Nunito"/>
              </a:rPr>
              <a:t>2</a:t>
            </a:r>
            <a:r>
              <a:rPr lang="en-US" sz="3230" b="0" i="0" u="none" strike="noStrike" cap="none">
                <a:solidFill>
                  <a:srgbClr val="303870"/>
                </a:solidFill>
                <a:latin typeface="Nunito"/>
                <a:ea typeface="Nunito"/>
                <a:cs typeface="Nunito"/>
                <a:sym typeface="Nunito"/>
              </a:rPr>
              <a:t>. </a:t>
            </a:r>
            <a:r>
              <a:rPr lang="en-US" sz="3230">
                <a:solidFill>
                  <a:srgbClr val="303870"/>
                </a:solidFill>
                <a:latin typeface="Nunito"/>
                <a:ea typeface="Nunito"/>
                <a:cs typeface="Nunito"/>
                <a:sym typeface="Nunito"/>
              </a:rPr>
              <a:t>Dataset Overview</a:t>
            </a:r>
            <a:endParaRPr/>
          </a:p>
        </p:txBody>
      </p:sp>
      <p:sp>
        <p:nvSpPr>
          <p:cNvPr id="123" name="Google Shape;123;p2"/>
          <p:cNvSpPr txBox="1"/>
          <p:nvPr/>
        </p:nvSpPr>
        <p:spPr>
          <a:xfrm>
            <a:off x="7659967" y="5610866"/>
            <a:ext cx="5053200" cy="497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230" b="0" i="0" u="none" strike="noStrike" cap="none">
                <a:solidFill>
                  <a:srgbClr val="303870"/>
                </a:solidFill>
                <a:latin typeface="Nunito"/>
                <a:ea typeface="Nunito"/>
                <a:cs typeface="Nunito"/>
                <a:sym typeface="Nunito"/>
              </a:rPr>
              <a:t>0</a:t>
            </a:r>
            <a:r>
              <a:rPr lang="en-US" sz="3230">
                <a:solidFill>
                  <a:srgbClr val="303870"/>
                </a:solidFill>
                <a:latin typeface="Nunito"/>
                <a:ea typeface="Nunito"/>
                <a:cs typeface="Nunito"/>
                <a:sym typeface="Nunito"/>
              </a:rPr>
              <a:t>7</a:t>
            </a:r>
            <a:r>
              <a:rPr lang="en-US" sz="3230" b="0" i="0" u="none" strike="noStrike" cap="none">
                <a:solidFill>
                  <a:srgbClr val="303870"/>
                </a:solidFill>
                <a:latin typeface="Nunito"/>
                <a:ea typeface="Nunito"/>
                <a:cs typeface="Nunito"/>
                <a:sym typeface="Nunito"/>
              </a:rPr>
              <a:t>. </a:t>
            </a:r>
            <a:r>
              <a:rPr lang="en-US" sz="3230">
                <a:solidFill>
                  <a:srgbClr val="303870"/>
                </a:solidFill>
                <a:latin typeface="Nunito"/>
                <a:ea typeface="Nunito"/>
                <a:cs typeface="Nunito"/>
                <a:sym typeface="Nunito"/>
              </a:rPr>
              <a:t>Question No. 2</a:t>
            </a:r>
            <a:endParaRPr/>
          </a:p>
        </p:txBody>
      </p:sp>
      <p:sp>
        <p:nvSpPr>
          <p:cNvPr id="124" name="Google Shape;124;p2"/>
          <p:cNvSpPr txBox="1"/>
          <p:nvPr/>
        </p:nvSpPr>
        <p:spPr>
          <a:xfrm>
            <a:off x="1285582" y="5606084"/>
            <a:ext cx="5053200" cy="497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230" b="0" i="0" u="none" strike="noStrike" cap="none">
                <a:solidFill>
                  <a:srgbClr val="303870"/>
                </a:solidFill>
                <a:latin typeface="Nunito"/>
                <a:ea typeface="Nunito"/>
                <a:cs typeface="Nunito"/>
                <a:sym typeface="Nunito"/>
              </a:rPr>
              <a:t>0</a:t>
            </a:r>
            <a:r>
              <a:rPr lang="en-US" sz="3230">
                <a:solidFill>
                  <a:srgbClr val="303870"/>
                </a:solidFill>
                <a:latin typeface="Nunito"/>
                <a:ea typeface="Nunito"/>
                <a:cs typeface="Nunito"/>
                <a:sym typeface="Nunito"/>
              </a:rPr>
              <a:t>3</a:t>
            </a:r>
            <a:r>
              <a:rPr lang="en-US" sz="3230" b="0" i="0" u="none" strike="noStrike" cap="none">
                <a:solidFill>
                  <a:srgbClr val="303870"/>
                </a:solidFill>
                <a:latin typeface="Nunito"/>
                <a:ea typeface="Nunito"/>
                <a:cs typeface="Nunito"/>
                <a:sym typeface="Nunito"/>
              </a:rPr>
              <a:t>. </a:t>
            </a:r>
            <a:r>
              <a:rPr lang="en-US" sz="3230">
                <a:solidFill>
                  <a:srgbClr val="303870"/>
                </a:solidFill>
                <a:latin typeface="Nunito"/>
                <a:ea typeface="Nunito"/>
                <a:cs typeface="Nunito"/>
                <a:sym typeface="Nunito"/>
              </a:rPr>
              <a:t>Data Preparation</a:t>
            </a:r>
            <a:endParaRPr sz="3230">
              <a:solidFill>
                <a:srgbClr val="303870"/>
              </a:solidFill>
              <a:latin typeface="Nunito"/>
              <a:ea typeface="Nunito"/>
              <a:cs typeface="Nunito"/>
              <a:sym typeface="Nunito"/>
            </a:endParaRPr>
          </a:p>
        </p:txBody>
      </p:sp>
      <p:sp>
        <p:nvSpPr>
          <p:cNvPr id="125" name="Google Shape;125;p2"/>
          <p:cNvSpPr txBox="1"/>
          <p:nvPr/>
        </p:nvSpPr>
        <p:spPr>
          <a:xfrm>
            <a:off x="1285520" y="6686319"/>
            <a:ext cx="5053200" cy="497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230" b="0" i="0" u="none" strike="noStrike" cap="none">
                <a:solidFill>
                  <a:srgbClr val="303870"/>
                </a:solidFill>
                <a:latin typeface="Nunito"/>
                <a:ea typeface="Nunito"/>
                <a:cs typeface="Nunito"/>
                <a:sym typeface="Nunito"/>
              </a:rPr>
              <a:t>0</a:t>
            </a:r>
            <a:r>
              <a:rPr lang="en-US" sz="3230">
                <a:solidFill>
                  <a:srgbClr val="303870"/>
                </a:solidFill>
                <a:latin typeface="Nunito"/>
                <a:ea typeface="Nunito"/>
                <a:cs typeface="Nunito"/>
                <a:sym typeface="Nunito"/>
              </a:rPr>
              <a:t>4</a:t>
            </a:r>
            <a:r>
              <a:rPr lang="en-US" sz="3230" b="0" i="0" u="none" strike="noStrike" cap="none">
                <a:solidFill>
                  <a:srgbClr val="303870"/>
                </a:solidFill>
                <a:latin typeface="Nunito"/>
                <a:ea typeface="Nunito"/>
                <a:cs typeface="Nunito"/>
                <a:sym typeface="Nunito"/>
              </a:rPr>
              <a:t>. </a:t>
            </a:r>
            <a:r>
              <a:rPr lang="en-US" sz="3230">
                <a:solidFill>
                  <a:srgbClr val="303870"/>
                </a:solidFill>
                <a:latin typeface="Nunito"/>
                <a:ea typeface="Nunito"/>
                <a:cs typeface="Nunito"/>
                <a:sym typeface="Nunito"/>
              </a:rPr>
              <a:t>Question No. 1</a:t>
            </a:r>
            <a:endParaRPr/>
          </a:p>
        </p:txBody>
      </p:sp>
      <p:grpSp>
        <p:nvGrpSpPr>
          <p:cNvPr id="126" name="Google Shape;126;p2"/>
          <p:cNvGrpSpPr/>
          <p:nvPr/>
        </p:nvGrpSpPr>
        <p:grpSpPr>
          <a:xfrm>
            <a:off x="409898" y="5424163"/>
            <a:ext cx="6145726" cy="4057296"/>
            <a:chOff x="-74067" y="-253440"/>
            <a:chExt cx="1618617" cy="1068581"/>
          </a:xfrm>
        </p:grpSpPr>
        <p:sp>
          <p:nvSpPr>
            <p:cNvPr id="127" name="Google Shape;127;p2"/>
            <p:cNvSpPr/>
            <p:nvPr/>
          </p:nvSpPr>
          <p:spPr>
            <a:xfrm>
              <a:off x="78302" y="-253440"/>
              <a:ext cx="1466248" cy="220747"/>
            </a:xfrm>
            <a:custGeom>
              <a:avLst/>
              <a:gdLst/>
              <a:ahLst/>
              <a:cxnLst/>
              <a:rect l="l" t="t" r="r" b="b"/>
              <a:pathLst>
                <a:path w="1466248" h="220747" extrusionOk="0">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noFill/>
            <a:ln w="38100" cap="rnd" cmpd="sng">
              <a:solidFill>
                <a:srgbClr val="30387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txBox="1"/>
            <p:nvPr/>
          </p:nvSpPr>
          <p:spPr>
            <a:xfrm>
              <a:off x="-74067" y="499242"/>
              <a:ext cx="1466100" cy="3159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156"/>
        <p:cNvGrpSpPr/>
        <p:nvPr/>
      </p:nvGrpSpPr>
      <p:grpSpPr>
        <a:xfrm>
          <a:off x="0" y="0"/>
          <a:ext cx="0" cy="0"/>
          <a:chOff x="0" y="0"/>
          <a:chExt cx="0" cy="0"/>
        </a:xfrm>
      </p:grpSpPr>
      <p:grpSp>
        <p:nvGrpSpPr>
          <p:cNvPr id="157" name="Google Shape;157;p4"/>
          <p:cNvGrpSpPr/>
          <p:nvPr/>
        </p:nvGrpSpPr>
        <p:grpSpPr>
          <a:xfrm>
            <a:off x="17259300" y="-361652"/>
            <a:ext cx="3086100" cy="10648652"/>
            <a:chOff x="0" y="-95250"/>
            <a:chExt cx="812800" cy="2804583"/>
          </a:xfrm>
        </p:grpSpPr>
        <p:sp>
          <p:nvSpPr>
            <p:cNvPr id="158" name="Google Shape;158;p4"/>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txBox="1"/>
            <p:nvPr/>
          </p:nvSpPr>
          <p:spPr>
            <a:xfrm>
              <a:off x="0" y="-95250"/>
              <a:ext cx="812800" cy="2804583"/>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0" name="Google Shape;160;p4"/>
          <p:cNvSpPr txBox="1"/>
          <p:nvPr/>
        </p:nvSpPr>
        <p:spPr>
          <a:xfrm>
            <a:off x="4238991" y="262721"/>
            <a:ext cx="9810000" cy="950100"/>
          </a:xfrm>
          <a:prstGeom prst="rect">
            <a:avLst/>
          </a:prstGeom>
          <a:noFill/>
          <a:ln>
            <a:noFill/>
          </a:ln>
        </p:spPr>
        <p:txBody>
          <a:bodyPr spcFirstLastPara="1" wrap="square" lIns="0" tIns="0" rIns="0" bIns="0" anchor="t" anchorCtr="0">
            <a:spAutoFit/>
          </a:bodyPr>
          <a:lstStyle/>
          <a:p>
            <a:pPr marL="0" marR="0" lvl="0" indent="0" algn="ctr" rtl="0">
              <a:lnSpc>
                <a:spcPct val="113998"/>
              </a:lnSpc>
              <a:spcBef>
                <a:spcPts val="0"/>
              </a:spcBef>
              <a:spcAft>
                <a:spcPts val="0"/>
              </a:spcAft>
              <a:buNone/>
            </a:pPr>
            <a:r>
              <a:rPr lang="en-US" sz="6172" b="1">
                <a:solidFill>
                  <a:srgbClr val="303870"/>
                </a:solidFill>
              </a:rPr>
              <a:t>DATASET OVERVIEW</a:t>
            </a:r>
            <a:endParaRPr sz="100"/>
          </a:p>
        </p:txBody>
      </p:sp>
      <p:sp>
        <p:nvSpPr>
          <p:cNvPr id="161" name="Google Shape;161;p4"/>
          <p:cNvSpPr txBox="1"/>
          <p:nvPr/>
        </p:nvSpPr>
        <p:spPr>
          <a:xfrm>
            <a:off x="1238250" y="1963075"/>
            <a:ext cx="8286900" cy="1219200"/>
          </a:xfrm>
          <a:prstGeom prst="rect">
            <a:avLst/>
          </a:prstGeom>
          <a:noFill/>
          <a:ln>
            <a:noFill/>
          </a:ln>
        </p:spPr>
        <p:txBody>
          <a:bodyPr spcFirstLastPara="1" wrap="square" lIns="0" tIns="0" rIns="0" bIns="0" anchor="t" anchorCtr="0">
            <a:spAutoFit/>
          </a:bodyPr>
          <a:lstStyle/>
          <a:p>
            <a:pPr marL="0" lvl="0" indent="0" algn="just" rtl="0">
              <a:lnSpc>
                <a:spcPct val="115000"/>
              </a:lnSpc>
              <a:spcBef>
                <a:spcPts val="0"/>
              </a:spcBef>
              <a:spcAft>
                <a:spcPts val="0"/>
              </a:spcAft>
              <a:buClr>
                <a:schemeClr val="dk1"/>
              </a:buClr>
              <a:buSzPts val="1100"/>
              <a:buFont typeface="Arial"/>
              <a:buNone/>
            </a:pPr>
            <a:r>
              <a:rPr lang="en-US" sz="2400">
                <a:solidFill>
                  <a:schemeClr val="dk1"/>
                </a:solidFill>
                <a:latin typeface="Nunito Medium"/>
                <a:ea typeface="Nunito Medium"/>
                <a:cs typeface="Nunito Medium"/>
                <a:sym typeface="Nunito Medium"/>
              </a:rPr>
              <a:t>Data yang digunakan adalah data yang berasal dari Tokopedia (</a:t>
            </a:r>
            <a:r>
              <a:rPr lang="en-US" sz="2400" i="1">
                <a:solidFill>
                  <a:schemeClr val="dk1"/>
                </a:solidFill>
                <a:latin typeface="Nunito Medium"/>
                <a:ea typeface="Nunito Medium"/>
                <a:cs typeface="Nunito Medium"/>
                <a:sym typeface="Nunito Medium"/>
              </a:rPr>
              <a:t>bukan data sesungguhnya</a:t>
            </a:r>
            <a:r>
              <a:rPr lang="en-US" sz="2400">
                <a:solidFill>
                  <a:schemeClr val="dk1"/>
                </a:solidFill>
                <a:latin typeface="Nunito Medium"/>
                <a:ea typeface="Nunito Medium"/>
                <a:cs typeface="Nunito Medium"/>
                <a:sym typeface="Nunito Medium"/>
              </a:rPr>
              <a:t>). Mengenai penjelasan dataset adalah sebagai berikut:</a:t>
            </a:r>
            <a:endParaRPr sz="2400">
              <a:latin typeface="Nunito Medium"/>
              <a:ea typeface="Nunito Medium"/>
              <a:cs typeface="Nunito Medium"/>
              <a:sym typeface="Nunito Medium"/>
            </a:endParaRPr>
          </a:p>
        </p:txBody>
      </p:sp>
      <p:pic>
        <p:nvPicPr>
          <p:cNvPr id="162" name="Google Shape;162;p4"/>
          <p:cNvPicPr preferRelativeResize="0"/>
          <p:nvPr/>
        </p:nvPicPr>
        <p:blipFill>
          <a:blip r:embed="rId3">
            <a:alphaModFix/>
          </a:blip>
          <a:stretch>
            <a:fillRect/>
          </a:stretch>
        </p:blipFill>
        <p:spPr>
          <a:xfrm>
            <a:off x="5058150" y="3829050"/>
            <a:ext cx="9401700" cy="6000900"/>
          </a:xfrm>
          <a:prstGeom prst="roundRect">
            <a:avLst>
              <a:gd name="adj" fmla="val 6184"/>
            </a:avLst>
          </a:prstGeom>
          <a:noFill/>
          <a:ln w="38100" cap="flat" cmpd="sng">
            <a:solidFill>
              <a:schemeClr val="dk2"/>
            </a:solidFill>
            <a:prstDash val="dash"/>
            <a:round/>
            <a:headEnd type="none" w="sm" len="sm"/>
            <a:tailEnd type="none" w="sm" len="sm"/>
          </a:ln>
          <a:effectLst>
            <a:outerShdw blurRad="57150" dist="19050" dir="5400000" algn="bl" rotWithShape="0">
              <a:srgbClr val="000000">
                <a:alpha val="50000"/>
              </a:srgbClr>
            </a:outerShdw>
          </a:effectLst>
        </p:spPr>
      </p:pic>
      <p:grpSp>
        <p:nvGrpSpPr>
          <p:cNvPr id="163" name="Google Shape;163;p4"/>
          <p:cNvGrpSpPr/>
          <p:nvPr/>
        </p:nvGrpSpPr>
        <p:grpSpPr>
          <a:xfrm>
            <a:off x="933450" y="1238246"/>
            <a:ext cx="8877252" cy="2063587"/>
            <a:chOff x="0" y="-95250"/>
            <a:chExt cx="1466248" cy="315997"/>
          </a:xfrm>
        </p:grpSpPr>
        <p:sp>
          <p:nvSpPr>
            <p:cNvPr id="164" name="Google Shape;164;p4"/>
            <p:cNvSpPr/>
            <p:nvPr/>
          </p:nvSpPr>
          <p:spPr>
            <a:xfrm>
              <a:off x="0" y="0"/>
              <a:ext cx="1466248" cy="220747"/>
            </a:xfrm>
            <a:custGeom>
              <a:avLst/>
              <a:gdLst/>
              <a:ahLst/>
              <a:cxnLst/>
              <a:rect l="l" t="t" r="r" b="b"/>
              <a:pathLst>
                <a:path w="1466248" h="220747" extrusionOk="0">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noFill/>
            <a:ln w="38100" cap="rnd" cmpd="sng">
              <a:solidFill>
                <a:srgbClr val="30387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4"/>
            <p:cNvSpPr txBox="1"/>
            <p:nvPr/>
          </p:nvSpPr>
          <p:spPr>
            <a:xfrm>
              <a:off x="0" y="-95250"/>
              <a:ext cx="1466100" cy="3159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166" name="Google Shape;166;p4"/>
          <p:cNvCxnSpPr>
            <a:endCxn id="162" idx="1"/>
          </p:cNvCxnSpPr>
          <p:nvPr/>
        </p:nvCxnSpPr>
        <p:spPr>
          <a:xfrm rot="-5400000" flipH="1">
            <a:off x="2178600" y="3949950"/>
            <a:ext cx="3435900" cy="2323200"/>
          </a:xfrm>
          <a:prstGeom prst="curvedConnector2">
            <a:avLst/>
          </a:prstGeom>
          <a:noFill/>
          <a:ln w="76200" cap="flat" cmpd="sng">
            <a:solidFill>
              <a:schemeClr val="dk2"/>
            </a:solidFill>
            <a:prstDash val="solid"/>
            <a:round/>
            <a:headEnd type="none" w="med" len="med"/>
            <a:tailEnd type="triangl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170"/>
        <p:cNvGrpSpPr/>
        <p:nvPr/>
      </p:nvGrpSpPr>
      <p:grpSpPr>
        <a:xfrm>
          <a:off x="0" y="0"/>
          <a:ext cx="0" cy="0"/>
          <a:chOff x="0" y="0"/>
          <a:chExt cx="0" cy="0"/>
        </a:xfrm>
      </p:grpSpPr>
      <p:grpSp>
        <p:nvGrpSpPr>
          <p:cNvPr id="171" name="Google Shape;171;g3d03f543068_0_77"/>
          <p:cNvGrpSpPr/>
          <p:nvPr/>
        </p:nvGrpSpPr>
        <p:grpSpPr>
          <a:xfrm>
            <a:off x="17259300" y="-361655"/>
            <a:ext cx="3086120" cy="10649165"/>
            <a:chOff x="0" y="-95250"/>
            <a:chExt cx="812800" cy="2804700"/>
          </a:xfrm>
        </p:grpSpPr>
        <p:sp>
          <p:nvSpPr>
            <p:cNvPr id="172" name="Google Shape;172;g3d03f543068_0_77"/>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g3d03f543068_0_77"/>
            <p:cNvSpPr txBox="1"/>
            <p:nvPr/>
          </p:nvSpPr>
          <p:spPr>
            <a:xfrm>
              <a:off x="0" y="-95250"/>
              <a:ext cx="812700" cy="28047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74" name="Google Shape;174;g3d03f543068_0_77"/>
          <p:cNvSpPr txBox="1"/>
          <p:nvPr/>
        </p:nvSpPr>
        <p:spPr>
          <a:xfrm>
            <a:off x="171450" y="508736"/>
            <a:ext cx="8359500" cy="769500"/>
          </a:xfrm>
          <a:prstGeom prst="rect">
            <a:avLst/>
          </a:prstGeom>
          <a:noFill/>
          <a:ln>
            <a:noFill/>
          </a:ln>
        </p:spPr>
        <p:txBody>
          <a:bodyPr spcFirstLastPara="1" wrap="square" lIns="0" tIns="0" rIns="0" bIns="0" anchor="t" anchorCtr="0">
            <a:spAutoFit/>
          </a:bodyPr>
          <a:lstStyle/>
          <a:p>
            <a:pPr marL="0" marR="0" lvl="0" indent="0" algn="l" rtl="0">
              <a:lnSpc>
                <a:spcPct val="113999"/>
              </a:lnSpc>
              <a:spcBef>
                <a:spcPts val="0"/>
              </a:spcBef>
              <a:spcAft>
                <a:spcPts val="0"/>
              </a:spcAft>
              <a:buNone/>
            </a:pPr>
            <a:r>
              <a:rPr lang="en-US" sz="5000" b="1">
                <a:solidFill>
                  <a:srgbClr val="303870"/>
                </a:solidFill>
              </a:rPr>
              <a:t>DATA PREPARATION</a:t>
            </a:r>
            <a:endParaRPr sz="5000"/>
          </a:p>
        </p:txBody>
      </p:sp>
      <p:sp>
        <p:nvSpPr>
          <p:cNvPr id="175" name="Google Shape;175;g3d03f543068_0_77"/>
          <p:cNvSpPr txBox="1"/>
          <p:nvPr/>
        </p:nvSpPr>
        <p:spPr>
          <a:xfrm>
            <a:off x="114300" y="2171700"/>
            <a:ext cx="11696700" cy="681900"/>
          </a:xfrm>
          <a:prstGeom prst="rect">
            <a:avLst/>
          </a:prstGeom>
          <a:noFill/>
          <a:ln>
            <a:noFill/>
          </a:ln>
        </p:spPr>
        <p:txBody>
          <a:bodyPr spcFirstLastPara="1" wrap="square" lIns="91425" tIns="91425" rIns="91425" bIns="91425" anchor="t" anchorCtr="0">
            <a:spAutoFit/>
          </a:bodyPr>
          <a:lstStyle/>
          <a:p>
            <a:pPr marL="0" lvl="0" indent="0" algn="l" rtl="0">
              <a:lnSpc>
                <a:spcPct val="140000"/>
              </a:lnSpc>
              <a:spcBef>
                <a:spcPts val="0"/>
              </a:spcBef>
              <a:spcAft>
                <a:spcPts val="0"/>
              </a:spcAft>
              <a:buNone/>
            </a:pPr>
            <a:r>
              <a:rPr lang="en-US" sz="3230">
                <a:solidFill>
                  <a:srgbClr val="303870"/>
                </a:solidFill>
                <a:latin typeface="Nunito"/>
                <a:ea typeface="Nunito"/>
                <a:cs typeface="Nunito"/>
                <a:sym typeface="Nunito"/>
              </a:rPr>
              <a:t>Overview dataset yang akan digunakan</a:t>
            </a:r>
            <a:endParaRPr/>
          </a:p>
        </p:txBody>
      </p:sp>
      <p:pic>
        <p:nvPicPr>
          <p:cNvPr id="176" name="Google Shape;176;g3d03f543068_0_77"/>
          <p:cNvPicPr preferRelativeResize="0"/>
          <p:nvPr/>
        </p:nvPicPr>
        <p:blipFill>
          <a:blip r:embed="rId3">
            <a:alphaModFix/>
          </a:blip>
          <a:stretch>
            <a:fillRect/>
          </a:stretch>
        </p:blipFill>
        <p:spPr>
          <a:xfrm>
            <a:off x="1395438" y="3276600"/>
            <a:ext cx="14887500" cy="5829300"/>
          </a:xfrm>
          <a:prstGeom prst="roundRect">
            <a:avLst>
              <a:gd name="adj" fmla="val 7435"/>
            </a:avLst>
          </a:prstGeom>
          <a:noFill/>
          <a:ln w="38100" cap="flat" cmpd="sng">
            <a:solidFill>
              <a:schemeClr val="dk2"/>
            </a:solidFill>
            <a:prstDash val="dash"/>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180"/>
        <p:cNvGrpSpPr/>
        <p:nvPr/>
      </p:nvGrpSpPr>
      <p:grpSpPr>
        <a:xfrm>
          <a:off x="0" y="0"/>
          <a:ext cx="0" cy="0"/>
          <a:chOff x="0" y="0"/>
          <a:chExt cx="0" cy="0"/>
        </a:xfrm>
      </p:grpSpPr>
      <p:grpSp>
        <p:nvGrpSpPr>
          <p:cNvPr id="181" name="Google Shape;181;p5"/>
          <p:cNvGrpSpPr/>
          <p:nvPr/>
        </p:nvGrpSpPr>
        <p:grpSpPr>
          <a:xfrm>
            <a:off x="17259300" y="-361652"/>
            <a:ext cx="3086100" cy="10648652"/>
            <a:chOff x="0" y="-95250"/>
            <a:chExt cx="812800" cy="2804583"/>
          </a:xfrm>
        </p:grpSpPr>
        <p:sp>
          <p:nvSpPr>
            <p:cNvPr id="182" name="Google Shape;182;p5"/>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5"/>
            <p:cNvSpPr txBox="1"/>
            <p:nvPr/>
          </p:nvSpPr>
          <p:spPr>
            <a:xfrm>
              <a:off x="0" y="-95250"/>
              <a:ext cx="812800" cy="2804583"/>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4" name="Google Shape;184;p5"/>
          <p:cNvSpPr txBox="1"/>
          <p:nvPr/>
        </p:nvSpPr>
        <p:spPr>
          <a:xfrm>
            <a:off x="171450" y="508736"/>
            <a:ext cx="8359500" cy="769500"/>
          </a:xfrm>
          <a:prstGeom prst="rect">
            <a:avLst/>
          </a:prstGeom>
          <a:noFill/>
          <a:ln>
            <a:noFill/>
          </a:ln>
        </p:spPr>
        <p:txBody>
          <a:bodyPr spcFirstLastPara="1" wrap="square" lIns="0" tIns="0" rIns="0" bIns="0" anchor="t" anchorCtr="0">
            <a:spAutoFit/>
          </a:bodyPr>
          <a:lstStyle/>
          <a:p>
            <a:pPr marL="0" marR="0" lvl="0" indent="0" algn="l" rtl="0">
              <a:lnSpc>
                <a:spcPct val="113998"/>
              </a:lnSpc>
              <a:spcBef>
                <a:spcPts val="0"/>
              </a:spcBef>
              <a:spcAft>
                <a:spcPts val="0"/>
              </a:spcAft>
              <a:buNone/>
            </a:pPr>
            <a:r>
              <a:rPr lang="en-US" sz="5000" b="1">
                <a:solidFill>
                  <a:srgbClr val="303870"/>
                </a:solidFill>
              </a:rPr>
              <a:t>DATA PREPARATION</a:t>
            </a:r>
            <a:endParaRPr sz="5000"/>
          </a:p>
        </p:txBody>
      </p:sp>
      <p:sp>
        <p:nvSpPr>
          <p:cNvPr id="185" name="Google Shape;185;p5"/>
          <p:cNvSpPr txBox="1"/>
          <p:nvPr/>
        </p:nvSpPr>
        <p:spPr>
          <a:xfrm>
            <a:off x="114300" y="2171700"/>
            <a:ext cx="11696700" cy="681900"/>
          </a:xfrm>
          <a:prstGeom prst="rect">
            <a:avLst/>
          </a:prstGeom>
          <a:noFill/>
          <a:ln>
            <a:noFill/>
          </a:ln>
        </p:spPr>
        <p:txBody>
          <a:bodyPr spcFirstLastPara="1" wrap="square" lIns="91425" tIns="91425" rIns="91425" bIns="91425" anchor="t" anchorCtr="0">
            <a:spAutoFit/>
          </a:bodyPr>
          <a:lstStyle/>
          <a:p>
            <a:pPr marL="0" lvl="0" indent="0" algn="l" rtl="0">
              <a:lnSpc>
                <a:spcPct val="140000"/>
              </a:lnSpc>
              <a:spcBef>
                <a:spcPts val="0"/>
              </a:spcBef>
              <a:spcAft>
                <a:spcPts val="0"/>
              </a:spcAft>
              <a:buNone/>
            </a:pPr>
            <a:r>
              <a:rPr lang="en-US" sz="3230">
                <a:solidFill>
                  <a:srgbClr val="303870"/>
                </a:solidFill>
                <a:latin typeface="Nunito"/>
                <a:ea typeface="Nunito"/>
                <a:cs typeface="Nunito"/>
                <a:sym typeface="Nunito"/>
              </a:rPr>
              <a:t>Check NULL untuk semua kolom dalam dataset yang tersedia</a:t>
            </a:r>
            <a:endParaRPr/>
          </a:p>
        </p:txBody>
      </p:sp>
      <p:pic>
        <p:nvPicPr>
          <p:cNvPr id="186" name="Google Shape;186;p5"/>
          <p:cNvPicPr preferRelativeResize="0"/>
          <p:nvPr/>
        </p:nvPicPr>
        <p:blipFill>
          <a:blip r:embed="rId3">
            <a:alphaModFix/>
          </a:blip>
          <a:stretch>
            <a:fillRect/>
          </a:stretch>
        </p:blipFill>
        <p:spPr>
          <a:xfrm>
            <a:off x="1231050" y="3308475"/>
            <a:ext cx="5453700" cy="6403500"/>
          </a:xfrm>
          <a:prstGeom prst="roundRect">
            <a:avLst>
              <a:gd name="adj" fmla="val 7600"/>
            </a:avLst>
          </a:prstGeom>
          <a:noFill/>
          <a:ln w="38100" cap="flat" cmpd="sng">
            <a:solidFill>
              <a:schemeClr val="dk2"/>
            </a:solidFill>
            <a:prstDash val="dash"/>
            <a:round/>
            <a:headEnd type="none" w="sm" len="sm"/>
            <a:tailEnd type="none" w="sm" len="sm"/>
          </a:ln>
          <a:effectLst>
            <a:outerShdw blurRad="57150" dist="19050" dir="5400000" algn="bl" rotWithShape="0">
              <a:srgbClr val="000000">
                <a:alpha val="50000"/>
              </a:srgbClr>
            </a:outerShdw>
          </a:effectLst>
        </p:spPr>
      </p:pic>
      <p:pic>
        <p:nvPicPr>
          <p:cNvPr id="187" name="Google Shape;187;p5"/>
          <p:cNvPicPr preferRelativeResize="0"/>
          <p:nvPr/>
        </p:nvPicPr>
        <p:blipFill>
          <a:blip r:embed="rId4">
            <a:alphaModFix/>
          </a:blip>
          <a:stretch>
            <a:fillRect/>
          </a:stretch>
        </p:blipFill>
        <p:spPr>
          <a:xfrm>
            <a:off x="8683350" y="4911000"/>
            <a:ext cx="8210700" cy="1781100"/>
          </a:xfrm>
          <a:prstGeom prst="roundRect">
            <a:avLst>
              <a:gd name="adj" fmla="val 16667"/>
            </a:avLst>
          </a:prstGeom>
          <a:noFill/>
          <a:ln w="38100" cap="flat" cmpd="sng">
            <a:solidFill>
              <a:schemeClr val="dk2"/>
            </a:solidFill>
            <a:prstDash val="dash"/>
            <a:round/>
            <a:headEnd type="none" w="sm" len="sm"/>
            <a:tailEnd type="none" w="sm" len="sm"/>
          </a:ln>
          <a:effectLst>
            <a:outerShdw blurRad="57150" dist="19050" dir="5400000" algn="bl" rotWithShape="0">
              <a:srgbClr val="000000">
                <a:alpha val="50000"/>
              </a:srgbClr>
            </a:outerShdw>
          </a:effectLst>
        </p:spPr>
      </p:pic>
      <p:cxnSp>
        <p:nvCxnSpPr>
          <p:cNvPr id="188" name="Google Shape;188;p5"/>
          <p:cNvCxnSpPr>
            <a:stCxn id="186" idx="3"/>
            <a:endCxn id="187" idx="1"/>
          </p:cNvCxnSpPr>
          <p:nvPr/>
        </p:nvCxnSpPr>
        <p:spPr>
          <a:xfrm rot="10800000" flipH="1">
            <a:off x="6684750" y="5801625"/>
            <a:ext cx="1998600" cy="708600"/>
          </a:xfrm>
          <a:prstGeom prst="curvedConnector3">
            <a:avLst>
              <a:gd name="adj1" fmla="val 50000"/>
            </a:avLst>
          </a:prstGeom>
          <a:noFill/>
          <a:ln w="76200" cap="flat" cmpd="sng">
            <a:solidFill>
              <a:srgbClr val="FF00FF"/>
            </a:solidFill>
            <a:prstDash val="solid"/>
            <a:round/>
            <a:headEnd type="none" w="med" len="med"/>
            <a:tailEnd type="triangle" w="med" len="med"/>
          </a:ln>
        </p:spPr>
      </p:cxnSp>
      <p:sp>
        <p:nvSpPr>
          <p:cNvPr id="189" name="Google Shape;189;p5"/>
          <p:cNvSpPr/>
          <p:nvPr/>
        </p:nvSpPr>
        <p:spPr>
          <a:xfrm>
            <a:off x="8529725" y="4799925"/>
            <a:ext cx="8512500" cy="2025300"/>
          </a:xfrm>
          <a:prstGeom prst="roundRect">
            <a:avLst>
              <a:gd name="adj" fmla="val 16667"/>
            </a:avLst>
          </a:prstGeom>
          <a:noFill/>
          <a:ln w="762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193"/>
        <p:cNvGrpSpPr/>
        <p:nvPr/>
      </p:nvGrpSpPr>
      <p:grpSpPr>
        <a:xfrm>
          <a:off x="0" y="0"/>
          <a:ext cx="0" cy="0"/>
          <a:chOff x="0" y="0"/>
          <a:chExt cx="0" cy="0"/>
        </a:xfrm>
      </p:grpSpPr>
      <p:grpSp>
        <p:nvGrpSpPr>
          <p:cNvPr id="194" name="Google Shape;194;g3d03f543068_0_30"/>
          <p:cNvGrpSpPr/>
          <p:nvPr/>
        </p:nvGrpSpPr>
        <p:grpSpPr>
          <a:xfrm>
            <a:off x="17259300" y="-361655"/>
            <a:ext cx="3086120" cy="10649165"/>
            <a:chOff x="0" y="-95250"/>
            <a:chExt cx="812800" cy="2804700"/>
          </a:xfrm>
        </p:grpSpPr>
        <p:sp>
          <p:nvSpPr>
            <p:cNvPr id="195" name="Google Shape;195;g3d03f543068_0_30"/>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g3d03f543068_0_30"/>
            <p:cNvSpPr txBox="1"/>
            <p:nvPr/>
          </p:nvSpPr>
          <p:spPr>
            <a:xfrm>
              <a:off x="0" y="-95250"/>
              <a:ext cx="812700" cy="28047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7" name="Google Shape;197;g3d03f543068_0_30"/>
          <p:cNvSpPr txBox="1"/>
          <p:nvPr/>
        </p:nvSpPr>
        <p:spPr>
          <a:xfrm>
            <a:off x="171450" y="508736"/>
            <a:ext cx="8359500" cy="769500"/>
          </a:xfrm>
          <a:prstGeom prst="rect">
            <a:avLst/>
          </a:prstGeom>
          <a:noFill/>
          <a:ln>
            <a:noFill/>
          </a:ln>
        </p:spPr>
        <p:txBody>
          <a:bodyPr spcFirstLastPara="1" wrap="square" lIns="0" tIns="0" rIns="0" bIns="0" anchor="t" anchorCtr="0">
            <a:spAutoFit/>
          </a:bodyPr>
          <a:lstStyle/>
          <a:p>
            <a:pPr marL="0" marR="0" lvl="0" indent="0" algn="l" rtl="0">
              <a:lnSpc>
                <a:spcPct val="113999"/>
              </a:lnSpc>
              <a:spcBef>
                <a:spcPts val="0"/>
              </a:spcBef>
              <a:spcAft>
                <a:spcPts val="0"/>
              </a:spcAft>
              <a:buNone/>
            </a:pPr>
            <a:r>
              <a:rPr lang="en-US" sz="5000" b="1">
                <a:solidFill>
                  <a:srgbClr val="303870"/>
                </a:solidFill>
              </a:rPr>
              <a:t>DATA PREPARATION</a:t>
            </a:r>
            <a:endParaRPr sz="5000"/>
          </a:p>
        </p:txBody>
      </p:sp>
      <p:sp>
        <p:nvSpPr>
          <p:cNvPr id="198" name="Google Shape;198;g3d03f543068_0_30"/>
          <p:cNvSpPr txBox="1"/>
          <p:nvPr/>
        </p:nvSpPr>
        <p:spPr>
          <a:xfrm>
            <a:off x="114300" y="1657350"/>
            <a:ext cx="9067800" cy="1377900"/>
          </a:xfrm>
          <a:prstGeom prst="rect">
            <a:avLst/>
          </a:prstGeom>
          <a:noFill/>
          <a:ln>
            <a:noFill/>
          </a:ln>
        </p:spPr>
        <p:txBody>
          <a:bodyPr spcFirstLastPara="1" wrap="square" lIns="91425" tIns="91425" rIns="91425" bIns="91425" anchor="t" anchorCtr="0">
            <a:spAutoFit/>
          </a:bodyPr>
          <a:lstStyle/>
          <a:p>
            <a:pPr marL="0" lvl="0" indent="0" algn="l" rtl="0">
              <a:lnSpc>
                <a:spcPct val="140000"/>
              </a:lnSpc>
              <a:spcBef>
                <a:spcPts val="0"/>
              </a:spcBef>
              <a:spcAft>
                <a:spcPts val="0"/>
              </a:spcAft>
              <a:buNone/>
            </a:pPr>
            <a:r>
              <a:rPr lang="en-US" sz="3230">
                <a:solidFill>
                  <a:srgbClr val="303870"/>
                </a:solidFill>
                <a:latin typeface="Nunito"/>
                <a:ea typeface="Nunito"/>
                <a:cs typeface="Nunito"/>
                <a:sym typeface="Nunito"/>
              </a:rPr>
              <a:t>Check duplikasi data untuk semua kolom dalam dataset yang tersedia</a:t>
            </a:r>
            <a:endParaRPr/>
          </a:p>
        </p:txBody>
      </p:sp>
      <p:pic>
        <p:nvPicPr>
          <p:cNvPr id="199" name="Google Shape;199;g3d03f543068_0_30"/>
          <p:cNvPicPr preferRelativeResize="0"/>
          <p:nvPr/>
        </p:nvPicPr>
        <p:blipFill>
          <a:blip r:embed="rId3">
            <a:alphaModFix/>
          </a:blip>
          <a:stretch>
            <a:fillRect/>
          </a:stretch>
        </p:blipFill>
        <p:spPr>
          <a:xfrm>
            <a:off x="9029700" y="5319750"/>
            <a:ext cx="8210700" cy="1781100"/>
          </a:xfrm>
          <a:prstGeom prst="roundRect">
            <a:avLst>
              <a:gd name="adj" fmla="val 16667"/>
            </a:avLst>
          </a:prstGeom>
          <a:noFill/>
          <a:ln w="38100" cap="flat" cmpd="sng">
            <a:solidFill>
              <a:schemeClr val="dk2"/>
            </a:solidFill>
            <a:prstDash val="dash"/>
            <a:round/>
            <a:headEnd type="none" w="sm" len="sm"/>
            <a:tailEnd type="none" w="sm" len="sm"/>
          </a:ln>
          <a:effectLst>
            <a:outerShdw blurRad="57150" dist="19050" dir="5400000" algn="bl" rotWithShape="0">
              <a:srgbClr val="000000">
                <a:alpha val="50000"/>
              </a:srgbClr>
            </a:outerShdw>
          </a:effectLst>
        </p:spPr>
      </p:pic>
      <p:cxnSp>
        <p:nvCxnSpPr>
          <p:cNvPr id="200" name="Google Shape;200;g3d03f543068_0_30"/>
          <p:cNvCxnSpPr>
            <a:stCxn id="201" idx="3"/>
            <a:endCxn id="199" idx="1"/>
          </p:cNvCxnSpPr>
          <p:nvPr/>
        </p:nvCxnSpPr>
        <p:spPr>
          <a:xfrm>
            <a:off x="7275300" y="5439663"/>
            <a:ext cx="1754400" cy="770700"/>
          </a:xfrm>
          <a:prstGeom prst="curvedConnector3">
            <a:avLst>
              <a:gd name="adj1" fmla="val 50000"/>
            </a:avLst>
          </a:prstGeom>
          <a:noFill/>
          <a:ln w="76200" cap="flat" cmpd="sng">
            <a:solidFill>
              <a:srgbClr val="FF00FF"/>
            </a:solidFill>
            <a:prstDash val="solid"/>
            <a:round/>
            <a:headEnd type="none" w="med" len="med"/>
            <a:tailEnd type="triangle" w="med" len="med"/>
          </a:ln>
        </p:spPr>
      </p:cxnSp>
      <p:pic>
        <p:nvPicPr>
          <p:cNvPr id="201" name="Google Shape;201;g3d03f543068_0_30"/>
          <p:cNvPicPr preferRelativeResize="0"/>
          <p:nvPr/>
        </p:nvPicPr>
        <p:blipFill>
          <a:blip r:embed="rId4">
            <a:alphaModFix/>
          </a:blip>
          <a:stretch>
            <a:fillRect/>
          </a:stretch>
        </p:blipFill>
        <p:spPr>
          <a:xfrm>
            <a:off x="114300" y="4360713"/>
            <a:ext cx="7161000" cy="2157900"/>
          </a:xfrm>
          <a:prstGeom prst="roundRect">
            <a:avLst>
              <a:gd name="adj" fmla="val 16667"/>
            </a:avLst>
          </a:prstGeom>
          <a:noFill/>
          <a:ln w="38100" cap="flat" cmpd="sng">
            <a:solidFill>
              <a:schemeClr val="dk2"/>
            </a:solidFill>
            <a:prstDash val="dash"/>
            <a:round/>
            <a:headEnd type="none" w="sm" len="sm"/>
            <a:tailEnd type="none" w="sm" len="sm"/>
          </a:ln>
          <a:effectLst>
            <a:outerShdw blurRad="57150" dist="19050" dir="5400000" algn="bl" rotWithShape="0">
              <a:srgbClr val="000000">
                <a:alpha val="50000"/>
              </a:srgbClr>
            </a:outerShdw>
          </a:effectLst>
        </p:spPr>
      </p:pic>
      <p:sp>
        <p:nvSpPr>
          <p:cNvPr id="202" name="Google Shape;202;g3d03f543068_0_30"/>
          <p:cNvSpPr/>
          <p:nvPr/>
        </p:nvSpPr>
        <p:spPr>
          <a:xfrm>
            <a:off x="8920750" y="5197650"/>
            <a:ext cx="8512500" cy="2025300"/>
          </a:xfrm>
          <a:prstGeom prst="roundRect">
            <a:avLst>
              <a:gd name="adj" fmla="val 16667"/>
            </a:avLst>
          </a:prstGeom>
          <a:noFill/>
          <a:ln w="762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206"/>
        <p:cNvGrpSpPr/>
        <p:nvPr/>
      </p:nvGrpSpPr>
      <p:grpSpPr>
        <a:xfrm>
          <a:off x="0" y="0"/>
          <a:ext cx="0" cy="0"/>
          <a:chOff x="0" y="0"/>
          <a:chExt cx="0" cy="0"/>
        </a:xfrm>
      </p:grpSpPr>
      <p:grpSp>
        <p:nvGrpSpPr>
          <p:cNvPr id="207" name="Google Shape;207;g3d03f543068_0_43"/>
          <p:cNvGrpSpPr/>
          <p:nvPr/>
        </p:nvGrpSpPr>
        <p:grpSpPr>
          <a:xfrm>
            <a:off x="17259300" y="-391420"/>
            <a:ext cx="3086120" cy="10649165"/>
            <a:chOff x="0" y="-95250"/>
            <a:chExt cx="812800" cy="2804700"/>
          </a:xfrm>
        </p:grpSpPr>
        <p:sp>
          <p:nvSpPr>
            <p:cNvPr id="208" name="Google Shape;208;g3d03f543068_0_43"/>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g3d03f543068_0_43"/>
            <p:cNvSpPr txBox="1"/>
            <p:nvPr/>
          </p:nvSpPr>
          <p:spPr>
            <a:xfrm>
              <a:off x="0" y="-95250"/>
              <a:ext cx="812700" cy="28047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0" name="Google Shape;210;g3d03f543068_0_43"/>
          <p:cNvSpPr txBox="1"/>
          <p:nvPr/>
        </p:nvSpPr>
        <p:spPr>
          <a:xfrm>
            <a:off x="152400" y="11"/>
            <a:ext cx="8359500" cy="769500"/>
          </a:xfrm>
          <a:prstGeom prst="rect">
            <a:avLst/>
          </a:prstGeom>
          <a:noFill/>
          <a:ln>
            <a:noFill/>
          </a:ln>
        </p:spPr>
        <p:txBody>
          <a:bodyPr spcFirstLastPara="1" wrap="square" lIns="0" tIns="0" rIns="0" bIns="0" anchor="t" anchorCtr="0">
            <a:spAutoFit/>
          </a:bodyPr>
          <a:lstStyle/>
          <a:p>
            <a:pPr marL="0" marR="0" lvl="0" indent="0" algn="l" rtl="0">
              <a:lnSpc>
                <a:spcPct val="113999"/>
              </a:lnSpc>
              <a:spcBef>
                <a:spcPts val="0"/>
              </a:spcBef>
              <a:spcAft>
                <a:spcPts val="0"/>
              </a:spcAft>
              <a:buNone/>
            </a:pPr>
            <a:r>
              <a:rPr lang="en-US" sz="5000" b="1">
                <a:solidFill>
                  <a:srgbClr val="303870"/>
                </a:solidFill>
              </a:rPr>
              <a:t>DATA PREPARATION</a:t>
            </a:r>
            <a:endParaRPr sz="5000"/>
          </a:p>
        </p:txBody>
      </p:sp>
      <p:sp>
        <p:nvSpPr>
          <p:cNvPr id="211" name="Google Shape;211;g3d03f543068_0_43"/>
          <p:cNvSpPr txBox="1"/>
          <p:nvPr/>
        </p:nvSpPr>
        <p:spPr>
          <a:xfrm>
            <a:off x="38100" y="680450"/>
            <a:ext cx="9067800" cy="681900"/>
          </a:xfrm>
          <a:prstGeom prst="rect">
            <a:avLst/>
          </a:prstGeom>
          <a:noFill/>
          <a:ln>
            <a:noFill/>
          </a:ln>
        </p:spPr>
        <p:txBody>
          <a:bodyPr spcFirstLastPara="1" wrap="square" lIns="91425" tIns="91425" rIns="91425" bIns="91425" anchor="t" anchorCtr="0">
            <a:spAutoFit/>
          </a:bodyPr>
          <a:lstStyle/>
          <a:p>
            <a:pPr marL="0" lvl="0" indent="0" algn="l" rtl="0">
              <a:lnSpc>
                <a:spcPct val="140000"/>
              </a:lnSpc>
              <a:spcBef>
                <a:spcPts val="0"/>
              </a:spcBef>
              <a:spcAft>
                <a:spcPts val="0"/>
              </a:spcAft>
              <a:buNone/>
            </a:pPr>
            <a:r>
              <a:rPr lang="en-US" sz="3230">
                <a:solidFill>
                  <a:srgbClr val="303870"/>
                </a:solidFill>
                <a:latin typeface="Nunito"/>
                <a:ea typeface="Nunito"/>
                <a:cs typeface="Nunito"/>
                <a:sym typeface="Nunito"/>
              </a:rPr>
              <a:t>Import data ke dalam looker studio</a:t>
            </a:r>
            <a:endParaRPr/>
          </a:p>
        </p:txBody>
      </p:sp>
      <p:pic>
        <p:nvPicPr>
          <p:cNvPr id="212" name="Google Shape;212;g3d03f543068_0_43"/>
          <p:cNvPicPr preferRelativeResize="0"/>
          <p:nvPr/>
        </p:nvPicPr>
        <p:blipFill>
          <a:blip r:embed="rId3">
            <a:alphaModFix/>
          </a:blip>
          <a:stretch>
            <a:fillRect/>
          </a:stretch>
        </p:blipFill>
        <p:spPr>
          <a:xfrm>
            <a:off x="990600" y="2041459"/>
            <a:ext cx="3654900" cy="3029100"/>
          </a:xfrm>
          <a:prstGeom prst="roundRect">
            <a:avLst>
              <a:gd name="adj" fmla="val 16667"/>
            </a:avLst>
          </a:prstGeom>
          <a:noFill/>
          <a:ln>
            <a:noFill/>
          </a:ln>
          <a:effectLst>
            <a:outerShdw blurRad="57150" dist="19050" dir="5400000" algn="bl" rotWithShape="0">
              <a:srgbClr val="000000">
                <a:alpha val="50000"/>
              </a:srgbClr>
            </a:outerShdw>
          </a:effectLst>
        </p:spPr>
      </p:pic>
      <p:pic>
        <p:nvPicPr>
          <p:cNvPr id="213" name="Google Shape;213;g3d03f543068_0_43"/>
          <p:cNvPicPr preferRelativeResize="0"/>
          <p:nvPr/>
        </p:nvPicPr>
        <p:blipFill>
          <a:blip r:embed="rId4">
            <a:alphaModFix/>
          </a:blip>
          <a:stretch>
            <a:fillRect/>
          </a:stretch>
        </p:blipFill>
        <p:spPr>
          <a:xfrm>
            <a:off x="5286300" y="2046578"/>
            <a:ext cx="3561300" cy="3029100"/>
          </a:xfrm>
          <a:prstGeom prst="roundRect">
            <a:avLst>
              <a:gd name="adj" fmla="val 8785"/>
            </a:avLst>
          </a:prstGeom>
          <a:noFill/>
          <a:ln>
            <a:noFill/>
          </a:ln>
          <a:effectLst>
            <a:outerShdw blurRad="57150" dist="19050" dir="5400000" algn="bl" rotWithShape="0">
              <a:srgbClr val="000000">
                <a:alpha val="50000"/>
              </a:srgbClr>
            </a:outerShdw>
          </a:effectLst>
        </p:spPr>
      </p:pic>
      <p:pic>
        <p:nvPicPr>
          <p:cNvPr id="214" name="Google Shape;214;g3d03f543068_0_43"/>
          <p:cNvPicPr preferRelativeResize="0"/>
          <p:nvPr/>
        </p:nvPicPr>
        <p:blipFill>
          <a:blip r:embed="rId5">
            <a:alphaModFix/>
          </a:blip>
          <a:stretch>
            <a:fillRect/>
          </a:stretch>
        </p:blipFill>
        <p:spPr>
          <a:xfrm>
            <a:off x="9583950" y="1987797"/>
            <a:ext cx="3448800" cy="3133500"/>
          </a:xfrm>
          <a:prstGeom prst="roundRect">
            <a:avLst>
              <a:gd name="adj" fmla="val 16667"/>
            </a:avLst>
          </a:prstGeom>
          <a:noFill/>
          <a:ln>
            <a:noFill/>
          </a:ln>
          <a:effectLst>
            <a:outerShdw blurRad="57150" dist="19050" dir="5400000" algn="bl" rotWithShape="0">
              <a:srgbClr val="000000">
                <a:alpha val="50000"/>
              </a:srgbClr>
            </a:outerShdw>
          </a:effectLst>
        </p:spPr>
      </p:pic>
      <p:pic>
        <p:nvPicPr>
          <p:cNvPr id="215" name="Google Shape;215;g3d03f543068_0_43"/>
          <p:cNvPicPr preferRelativeResize="0"/>
          <p:nvPr/>
        </p:nvPicPr>
        <p:blipFill>
          <a:blip r:embed="rId6">
            <a:alphaModFix/>
          </a:blip>
          <a:stretch>
            <a:fillRect/>
          </a:stretch>
        </p:blipFill>
        <p:spPr>
          <a:xfrm>
            <a:off x="219600" y="6511154"/>
            <a:ext cx="4228500" cy="1894200"/>
          </a:xfrm>
          <a:prstGeom prst="roundRect">
            <a:avLst>
              <a:gd name="adj" fmla="val 16667"/>
            </a:avLst>
          </a:prstGeom>
          <a:noFill/>
          <a:ln>
            <a:noFill/>
          </a:ln>
          <a:effectLst>
            <a:outerShdw blurRad="57150" dist="19050" dir="5400000" algn="bl" rotWithShape="0">
              <a:srgbClr val="000000">
                <a:alpha val="50000"/>
              </a:srgbClr>
            </a:outerShdw>
          </a:effectLst>
        </p:spPr>
      </p:pic>
      <p:pic>
        <p:nvPicPr>
          <p:cNvPr id="216" name="Google Shape;216;g3d03f543068_0_43"/>
          <p:cNvPicPr preferRelativeResize="0"/>
          <p:nvPr/>
        </p:nvPicPr>
        <p:blipFill>
          <a:blip r:embed="rId7">
            <a:alphaModFix/>
          </a:blip>
          <a:stretch>
            <a:fillRect/>
          </a:stretch>
        </p:blipFill>
        <p:spPr>
          <a:xfrm>
            <a:off x="5071200" y="6351184"/>
            <a:ext cx="8894400" cy="2213100"/>
          </a:xfrm>
          <a:prstGeom prst="roundRect">
            <a:avLst>
              <a:gd name="adj" fmla="val 16667"/>
            </a:avLst>
          </a:prstGeom>
          <a:noFill/>
          <a:ln>
            <a:noFill/>
          </a:ln>
        </p:spPr>
      </p:pic>
      <p:pic>
        <p:nvPicPr>
          <p:cNvPr id="217" name="Google Shape;217;g3d03f543068_0_43"/>
          <p:cNvPicPr preferRelativeResize="0"/>
          <p:nvPr/>
        </p:nvPicPr>
        <p:blipFill>
          <a:blip r:embed="rId8">
            <a:alphaModFix/>
          </a:blip>
          <a:stretch>
            <a:fillRect/>
          </a:stretch>
        </p:blipFill>
        <p:spPr>
          <a:xfrm>
            <a:off x="15513900" y="707586"/>
            <a:ext cx="2774100" cy="7937100"/>
          </a:xfrm>
          <a:prstGeom prst="roundRect">
            <a:avLst>
              <a:gd name="adj" fmla="val 16667"/>
            </a:avLst>
          </a:prstGeom>
          <a:noFill/>
          <a:ln>
            <a:noFill/>
          </a:ln>
          <a:effectLst>
            <a:outerShdw blurRad="57150" dist="19050" dir="5400000" algn="bl" rotWithShape="0">
              <a:srgbClr val="000000">
                <a:alpha val="50000"/>
              </a:srgbClr>
            </a:outerShdw>
          </a:effectLst>
        </p:spPr>
      </p:pic>
      <p:cxnSp>
        <p:nvCxnSpPr>
          <p:cNvPr id="218" name="Google Shape;218;g3d03f543068_0_43"/>
          <p:cNvCxnSpPr>
            <a:stCxn id="212" idx="3"/>
            <a:endCxn id="213" idx="1"/>
          </p:cNvCxnSpPr>
          <p:nvPr/>
        </p:nvCxnSpPr>
        <p:spPr>
          <a:xfrm>
            <a:off x="4645500" y="3556009"/>
            <a:ext cx="640800" cy="5100"/>
          </a:xfrm>
          <a:prstGeom prst="straightConnector1">
            <a:avLst/>
          </a:prstGeom>
          <a:noFill/>
          <a:ln w="38100" cap="flat" cmpd="sng">
            <a:solidFill>
              <a:schemeClr val="dk2"/>
            </a:solidFill>
            <a:prstDash val="solid"/>
            <a:round/>
            <a:headEnd type="none" w="med" len="med"/>
            <a:tailEnd type="triangle" w="med" len="med"/>
          </a:ln>
        </p:spPr>
      </p:cxnSp>
      <p:cxnSp>
        <p:nvCxnSpPr>
          <p:cNvPr id="219" name="Google Shape;219;g3d03f543068_0_43"/>
          <p:cNvCxnSpPr>
            <a:stCxn id="213" idx="3"/>
            <a:endCxn id="214" idx="1"/>
          </p:cNvCxnSpPr>
          <p:nvPr/>
        </p:nvCxnSpPr>
        <p:spPr>
          <a:xfrm rot="10800000" flipH="1">
            <a:off x="8847600" y="3554528"/>
            <a:ext cx="736500" cy="6600"/>
          </a:xfrm>
          <a:prstGeom prst="straightConnector1">
            <a:avLst/>
          </a:prstGeom>
          <a:noFill/>
          <a:ln w="38100" cap="flat" cmpd="sng">
            <a:solidFill>
              <a:schemeClr val="dk2"/>
            </a:solidFill>
            <a:prstDash val="solid"/>
            <a:round/>
            <a:headEnd type="none" w="med" len="med"/>
            <a:tailEnd type="triangle" w="med" len="med"/>
          </a:ln>
        </p:spPr>
      </p:cxnSp>
      <p:cxnSp>
        <p:nvCxnSpPr>
          <p:cNvPr id="220" name="Google Shape;220;g3d03f543068_0_43"/>
          <p:cNvCxnSpPr>
            <a:stCxn id="214" idx="3"/>
            <a:endCxn id="215" idx="0"/>
          </p:cNvCxnSpPr>
          <p:nvPr/>
        </p:nvCxnSpPr>
        <p:spPr>
          <a:xfrm flipH="1">
            <a:off x="2333850" y="3554547"/>
            <a:ext cx="10698900" cy="2956500"/>
          </a:xfrm>
          <a:prstGeom prst="curvedConnector4">
            <a:avLst>
              <a:gd name="adj1" fmla="val -13050"/>
              <a:gd name="adj2" fmla="val 79085"/>
            </a:avLst>
          </a:prstGeom>
          <a:noFill/>
          <a:ln w="38100" cap="flat" cmpd="sng">
            <a:solidFill>
              <a:schemeClr val="dk2"/>
            </a:solidFill>
            <a:prstDash val="solid"/>
            <a:round/>
            <a:headEnd type="none" w="med" len="med"/>
            <a:tailEnd type="stealth" w="med" len="med"/>
          </a:ln>
        </p:spPr>
      </p:cxnSp>
      <p:cxnSp>
        <p:nvCxnSpPr>
          <p:cNvPr id="221" name="Google Shape;221;g3d03f543068_0_43"/>
          <p:cNvCxnSpPr>
            <a:stCxn id="215" idx="3"/>
            <a:endCxn id="216" idx="1"/>
          </p:cNvCxnSpPr>
          <p:nvPr/>
        </p:nvCxnSpPr>
        <p:spPr>
          <a:xfrm rot="10800000" flipH="1">
            <a:off x="4448100" y="7457654"/>
            <a:ext cx="623100" cy="600"/>
          </a:xfrm>
          <a:prstGeom prst="straightConnector1">
            <a:avLst/>
          </a:prstGeom>
          <a:noFill/>
          <a:ln w="38100" cap="flat" cmpd="sng">
            <a:solidFill>
              <a:schemeClr val="dk2"/>
            </a:solidFill>
            <a:prstDash val="solid"/>
            <a:round/>
            <a:headEnd type="none" w="med" len="med"/>
            <a:tailEnd type="triangle" w="med" len="med"/>
          </a:ln>
        </p:spPr>
      </p:cxnSp>
      <p:cxnSp>
        <p:nvCxnSpPr>
          <p:cNvPr id="222" name="Google Shape;222;g3d03f543068_0_43"/>
          <p:cNvCxnSpPr>
            <a:stCxn id="216" idx="3"/>
            <a:endCxn id="217" idx="1"/>
          </p:cNvCxnSpPr>
          <p:nvPr/>
        </p:nvCxnSpPr>
        <p:spPr>
          <a:xfrm rot="10800000" flipH="1">
            <a:off x="13965600" y="4676134"/>
            <a:ext cx="1548300" cy="2781600"/>
          </a:xfrm>
          <a:prstGeom prst="curvedConnector3">
            <a:avLst>
              <a:gd name="adj1" fmla="val 50000"/>
            </a:avLst>
          </a:prstGeom>
          <a:noFill/>
          <a:ln w="38100" cap="flat" cmpd="sng">
            <a:solidFill>
              <a:schemeClr val="dk2"/>
            </a:solidFill>
            <a:prstDash val="solid"/>
            <a:round/>
            <a:headEnd type="none" w="med" len="med"/>
            <a:tailEnd type="triangle" w="med" len="med"/>
          </a:ln>
        </p:spPr>
      </p:cxnSp>
      <p:sp>
        <p:nvSpPr>
          <p:cNvPr id="223" name="Google Shape;223;g3d03f543068_0_43"/>
          <p:cNvSpPr txBox="1"/>
          <p:nvPr/>
        </p:nvSpPr>
        <p:spPr>
          <a:xfrm>
            <a:off x="1448100" y="5121309"/>
            <a:ext cx="3000000" cy="492600"/>
          </a:xfrm>
          <a:prstGeom prst="rect">
            <a:avLst/>
          </a:prstGeom>
          <a:noFill/>
          <a:ln>
            <a:noFill/>
          </a:ln>
        </p:spPr>
        <p:txBody>
          <a:bodyPr spcFirstLastPara="1" wrap="square" lIns="91425" tIns="91425" rIns="91425" bIns="91425" anchor="t" anchorCtr="0">
            <a:spAutoFit/>
          </a:bodyPr>
          <a:lstStyle/>
          <a:p>
            <a:pPr marL="0" lvl="0" indent="0" algn="l" rtl="0">
              <a:lnSpc>
                <a:spcPct val="140000"/>
              </a:lnSpc>
              <a:spcBef>
                <a:spcPts val="0"/>
              </a:spcBef>
              <a:spcAft>
                <a:spcPts val="0"/>
              </a:spcAft>
              <a:buNone/>
            </a:pPr>
            <a:r>
              <a:rPr lang="en-US" sz="2000">
                <a:solidFill>
                  <a:srgbClr val="303870"/>
                </a:solidFill>
                <a:latin typeface="Nunito"/>
                <a:ea typeface="Nunito"/>
                <a:cs typeface="Nunito"/>
                <a:sym typeface="Nunito"/>
              </a:rPr>
              <a:t>klik buat &gt; laporan</a:t>
            </a:r>
            <a:endParaRPr sz="2000"/>
          </a:p>
        </p:txBody>
      </p:sp>
      <p:sp>
        <p:nvSpPr>
          <p:cNvPr id="224" name="Google Shape;224;g3d03f543068_0_43"/>
          <p:cNvSpPr txBox="1"/>
          <p:nvPr/>
        </p:nvSpPr>
        <p:spPr>
          <a:xfrm>
            <a:off x="5756185" y="4998571"/>
            <a:ext cx="2589900" cy="775800"/>
          </a:xfrm>
          <a:prstGeom prst="rect">
            <a:avLst/>
          </a:prstGeom>
          <a:noFill/>
          <a:ln>
            <a:noFill/>
          </a:ln>
        </p:spPr>
        <p:txBody>
          <a:bodyPr spcFirstLastPara="1" wrap="square" lIns="91425" tIns="91425" rIns="91425" bIns="91425" anchor="t" anchorCtr="0">
            <a:spAutoFit/>
          </a:bodyPr>
          <a:lstStyle/>
          <a:p>
            <a:pPr marL="0" lvl="0" indent="0" algn="ctr" rtl="0">
              <a:lnSpc>
                <a:spcPct val="140000"/>
              </a:lnSpc>
              <a:spcBef>
                <a:spcPts val="0"/>
              </a:spcBef>
              <a:spcAft>
                <a:spcPts val="0"/>
              </a:spcAft>
              <a:buNone/>
            </a:pPr>
            <a:r>
              <a:rPr lang="en-US" sz="1600">
                <a:solidFill>
                  <a:srgbClr val="303870"/>
                </a:solidFill>
                <a:latin typeface="Nunito"/>
                <a:ea typeface="Nunito"/>
                <a:cs typeface="Nunito"/>
                <a:sym typeface="Nunito"/>
              </a:rPr>
              <a:t>pilih opsi dalam penambahan data</a:t>
            </a:r>
            <a:endParaRPr sz="1600"/>
          </a:p>
        </p:txBody>
      </p:sp>
      <p:sp>
        <p:nvSpPr>
          <p:cNvPr id="225" name="Google Shape;225;g3d03f543068_0_43"/>
          <p:cNvSpPr txBox="1"/>
          <p:nvPr/>
        </p:nvSpPr>
        <p:spPr>
          <a:xfrm>
            <a:off x="9893225" y="1556709"/>
            <a:ext cx="3000000" cy="431100"/>
          </a:xfrm>
          <a:prstGeom prst="rect">
            <a:avLst/>
          </a:prstGeom>
          <a:noFill/>
          <a:ln>
            <a:noFill/>
          </a:ln>
        </p:spPr>
        <p:txBody>
          <a:bodyPr spcFirstLastPara="1" wrap="square" lIns="91425" tIns="91425" rIns="91425" bIns="91425" anchor="t" anchorCtr="0">
            <a:spAutoFit/>
          </a:bodyPr>
          <a:lstStyle/>
          <a:p>
            <a:pPr marL="0" lvl="0" indent="0" algn="l" rtl="0">
              <a:lnSpc>
                <a:spcPct val="140000"/>
              </a:lnSpc>
              <a:spcBef>
                <a:spcPts val="0"/>
              </a:spcBef>
              <a:spcAft>
                <a:spcPts val="0"/>
              </a:spcAft>
              <a:buNone/>
            </a:pPr>
            <a:r>
              <a:rPr lang="en-US" sz="1600">
                <a:solidFill>
                  <a:srgbClr val="303870"/>
                </a:solidFill>
                <a:latin typeface="Nunito"/>
                <a:ea typeface="Nunito"/>
                <a:cs typeface="Nunito"/>
                <a:sym typeface="Nunito"/>
              </a:rPr>
              <a:t>Pilih file yang akan di upload</a:t>
            </a:r>
            <a:endParaRPr sz="1600"/>
          </a:p>
        </p:txBody>
      </p:sp>
      <p:sp>
        <p:nvSpPr>
          <p:cNvPr id="226" name="Google Shape;226;g3d03f543068_0_43"/>
          <p:cNvSpPr txBox="1"/>
          <p:nvPr/>
        </p:nvSpPr>
        <p:spPr>
          <a:xfrm>
            <a:off x="833850" y="8464309"/>
            <a:ext cx="3000000" cy="492600"/>
          </a:xfrm>
          <a:prstGeom prst="rect">
            <a:avLst/>
          </a:prstGeom>
          <a:noFill/>
          <a:ln>
            <a:noFill/>
          </a:ln>
        </p:spPr>
        <p:txBody>
          <a:bodyPr spcFirstLastPara="1" wrap="square" lIns="91425" tIns="91425" rIns="91425" bIns="91425" anchor="t" anchorCtr="0">
            <a:spAutoFit/>
          </a:bodyPr>
          <a:lstStyle/>
          <a:p>
            <a:pPr marL="0" lvl="0" indent="0" algn="l" rtl="0">
              <a:lnSpc>
                <a:spcPct val="140000"/>
              </a:lnSpc>
              <a:spcBef>
                <a:spcPts val="0"/>
              </a:spcBef>
              <a:spcAft>
                <a:spcPts val="0"/>
              </a:spcAft>
              <a:buNone/>
            </a:pPr>
            <a:r>
              <a:rPr lang="en-US" sz="2000">
                <a:solidFill>
                  <a:srgbClr val="303870"/>
                </a:solidFill>
                <a:latin typeface="Nunito"/>
                <a:ea typeface="Nunito"/>
                <a:cs typeface="Nunito"/>
                <a:sym typeface="Nunito"/>
              </a:rPr>
              <a:t>buat nama dataset</a:t>
            </a:r>
            <a:endParaRPr sz="2000"/>
          </a:p>
        </p:txBody>
      </p:sp>
      <p:sp>
        <p:nvSpPr>
          <p:cNvPr id="227" name="Google Shape;227;g3d03f543068_0_43"/>
          <p:cNvSpPr txBox="1"/>
          <p:nvPr/>
        </p:nvSpPr>
        <p:spPr>
          <a:xfrm>
            <a:off x="7848150" y="8644684"/>
            <a:ext cx="3000000" cy="923400"/>
          </a:xfrm>
          <a:prstGeom prst="rect">
            <a:avLst/>
          </a:prstGeom>
          <a:noFill/>
          <a:ln>
            <a:noFill/>
          </a:ln>
        </p:spPr>
        <p:txBody>
          <a:bodyPr spcFirstLastPara="1" wrap="square" lIns="91425" tIns="91425" rIns="91425" bIns="91425" anchor="t" anchorCtr="0">
            <a:spAutoFit/>
          </a:bodyPr>
          <a:lstStyle/>
          <a:p>
            <a:pPr marL="0" lvl="0" indent="0" algn="ctr" rtl="0">
              <a:lnSpc>
                <a:spcPct val="140000"/>
              </a:lnSpc>
              <a:spcBef>
                <a:spcPts val="0"/>
              </a:spcBef>
              <a:spcAft>
                <a:spcPts val="0"/>
              </a:spcAft>
              <a:buNone/>
            </a:pPr>
            <a:r>
              <a:rPr lang="en-US" sz="2000">
                <a:solidFill>
                  <a:srgbClr val="303870"/>
                </a:solidFill>
                <a:latin typeface="Nunito"/>
                <a:ea typeface="Nunito"/>
                <a:cs typeface="Nunito"/>
                <a:sym typeface="Nunito"/>
              </a:rPr>
              <a:t>akan terdeteksi file dan skema dari dataset</a:t>
            </a:r>
            <a:endParaRPr sz="2000"/>
          </a:p>
        </p:txBody>
      </p:sp>
      <p:sp>
        <p:nvSpPr>
          <p:cNvPr id="228" name="Google Shape;228;g3d03f543068_0_43"/>
          <p:cNvSpPr txBox="1"/>
          <p:nvPr/>
        </p:nvSpPr>
        <p:spPr>
          <a:xfrm>
            <a:off x="14259300" y="8564284"/>
            <a:ext cx="3000000" cy="1354500"/>
          </a:xfrm>
          <a:prstGeom prst="rect">
            <a:avLst/>
          </a:prstGeom>
          <a:noFill/>
          <a:ln>
            <a:noFill/>
          </a:ln>
        </p:spPr>
        <p:txBody>
          <a:bodyPr spcFirstLastPara="1" wrap="square" lIns="91425" tIns="91425" rIns="91425" bIns="91425" anchor="t" anchorCtr="0">
            <a:spAutoFit/>
          </a:bodyPr>
          <a:lstStyle/>
          <a:p>
            <a:pPr marL="0" lvl="0" indent="0" algn="r" rtl="0">
              <a:lnSpc>
                <a:spcPct val="140000"/>
              </a:lnSpc>
              <a:spcBef>
                <a:spcPts val="0"/>
              </a:spcBef>
              <a:spcAft>
                <a:spcPts val="0"/>
              </a:spcAft>
              <a:buNone/>
            </a:pPr>
            <a:r>
              <a:rPr lang="en-US" sz="2000">
                <a:solidFill>
                  <a:srgbClr val="303870"/>
                </a:solidFill>
                <a:latin typeface="Nunito"/>
                <a:ea typeface="Nunito"/>
                <a:cs typeface="Nunito"/>
                <a:sym typeface="Nunito"/>
              </a:rPr>
              <a:t>Tampilan nama kolom</a:t>
            </a:r>
            <a:endParaRPr sz="2000">
              <a:solidFill>
                <a:srgbClr val="303870"/>
              </a:solidFill>
              <a:latin typeface="Nunito"/>
              <a:ea typeface="Nunito"/>
              <a:cs typeface="Nunito"/>
              <a:sym typeface="Nunito"/>
            </a:endParaRPr>
          </a:p>
          <a:p>
            <a:pPr marL="0" lvl="0" indent="0" algn="r" rtl="0">
              <a:lnSpc>
                <a:spcPct val="140000"/>
              </a:lnSpc>
              <a:spcBef>
                <a:spcPts val="0"/>
              </a:spcBef>
              <a:spcAft>
                <a:spcPts val="0"/>
              </a:spcAft>
              <a:buNone/>
            </a:pPr>
            <a:r>
              <a:rPr lang="en-US" sz="2000">
                <a:solidFill>
                  <a:srgbClr val="303870"/>
                </a:solidFill>
                <a:latin typeface="Nunito"/>
                <a:ea typeface="Nunito"/>
                <a:cs typeface="Nunito"/>
                <a:sym typeface="Nunito"/>
              </a:rPr>
              <a:t>dengan jenis data di dalamnya</a:t>
            </a:r>
            <a:endParaRPr sz="2000">
              <a:solidFill>
                <a:srgbClr val="303870"/>
              </a:solidFill>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232"/>
        <p:cNvGrpSpPr/>
        <p:nvPr/>
      </p:nvGrpSpPr>
      <p:grpSpPr>
        <a:xfrm>
          <a:off x="0" y="0"/>
          <a:ext cx="0" cy="0"/>
          <a:chOff x="0" y="0"/>
          <a:chExt cx="0" cy="0"/>
        </a:xfrm>
      </p:grpSpPr>
      <p:grpSp>
        <p:nvGrpSpPr>
          <p:cNvPr id="233" name="Google Shape;233;g3d03f543068_8_0"/>
          <p:cNvGrpSpPr/>
          <p:nvPr/>
        </p:nvGrpSpPr>
        <p:grpSpPr>
          <a:xfrm>
            <a:off x="17259300" y="-361655"/>
            <a:ext cx="3086120" cy="10649165"/>
            <a:chOff x="0" y="-95250"/>
            <a:chExt cx="812800" cy="2804700"/>
          </a:xfrm>
        </p:grpSpPr>
        <p:sp>
          <p:nvSpPr>
            <p:cNvPr id="234" name="Google Shape;234;g3d03f543068_8_0"/>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g3d03f543068_8_0"/>
            <p:cNvSpPr txBox="1"/>
            <p:nvPr/>
          </p:nvSpPr>
          <p:spPr>
            <a:xfrm>
              <a:off x="0" y="-95250"/>
              <a:ext cx="812700" cy="28047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6" name="Google Shape;236;g3d03f543068_8_0"/>
          <p:cNvSpPr txBox="1"/>
          <p:nvPr/>
        </p:nvSpPr>
        <p:spPr>
          <a:xfrm>
            <a:off x="171450" y="161200"/>
            <a:ext cx="5319600" cy="769500"/>
          </a:xfrm>
          <a:prstGeom prst="rect">
            <a:avLst/>
          </a:prstGeom>
          <a:noFill/>
          <a:ln>
            <a:noFill/>
          </a:ln>
        </p:spPr>
        <p:txBody>
          <a:bodyPr spcFirstLastPara="1" wrap="square" lIns="0" tIns="0" rIns="0" bIns="0" anchor="t" anchorCtr="0">
            <a:spAutoFit/>
          </a:bodyPr>
          <a:lstStyle/>
          <a:p>
            <a:pPr marL="0" marR="0" lvl="0" indent="0" algn="l" rtl="0">
              <a:lnSpc>
                <a:spcPct val="113999"/>
              </a:lnSpc>
              <a:spcBef>
                <a:spcPts val="0"/>
              </a:spcBef>
              <a:spcAft>
                <a:spcPts val="0"/>
              </a:spcAft>
              <a:buNone/>
            </a:pPr>
            <a:r>
              <a:rPr lang="en-US" sz="5000" b="1">
                <a:solidFill>
                  <a:srgbClr val="303870"/>
                </a:solidFill>
              </a:rPr>
              <a:t>QUESTION NO 1</a:t>
            </a:r>
            <a:endParaRPr sz="5000"/>
          </a:p>
        </p:txBody>
      </p:sp>
      <p:sp>
        <p:nvSpPr>
          <p:cNvPr id="237" name="Google Shape;237;g3d03f543068_8_0"/>
          <p:cNvSpPr txBox="1"/>
          <p:nvPr/>
        </p:nvSpPr>
        <p:spPr>
          <a:xfrm>
            <a:off x="171450" y="1104425"/>
            <a:ext cx="17145000" cy="528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2600">
                <a:solidFill>
                  <a:schemeClr val="dk1"/>
                </a:solidFill>
                <a:latin typeface="Oswald Medium"/>
                <a:ea typeface="Oswald Medium"/>
                <a:cs typeface="Oswald Medium"/>
                <a:sym typeface="Oswald Medium"/>
              </a:rPr>
              <a:t>Dear Data Analyst,</a:t>
            </a:r>
            <a:endParaRPr sz="2600">
              <a:solidFill>
                <a:schemeClr val="dk1"/>
              </a:solidFill>
              <a:latin typeface="Oswald Medium"/>
              <a:ea typeface="Oswald Medium"/>
              <a:cs typeface="Oswald Medium"/>
              <a:sym typeface="Oswald Medium"/>
            </a:endParaRPr>
          </a:p>
          <a:p>
            <a:pPr marL="0" lvl="0" indent="0" algn="l" rtl="0">
              <a:lnSpc>
                <a:spcPct val="115000"/>
              </a:lnSpc>
              <a:spcBef>
                <a:spcPts val="0"/>
              </a:spcBef>
              <a:spcAft>
                <a:spcPts val="0"/>
              </a:spcAft>
              <a:buClr>
                <a:schemeClr val="dk1"/>
              </a:buClr>
              <a:buSzPts val="1100"/>
              <a:buFont typeface="Arial"/>
              <a:buNone/>
            </a:pPr>
            <a:endParaRPr sz="2600">
              <a:solidFill>
                <a:schemeClr val="dk1"/>
              </a:solidFill>
              <a:latin typeface="Oswald Medium"/>
              <a:ea typeface="Oswald Medium"/>
              <a:cs typeface="Oswald Medium"/>
              <a:sym typeface="Oswald Medium"/>
            </a:endParaRPr>
          </a:p>
          <a:p>
            <a:pPr marL="0" lvl="0" indent="0" algn="just" rtl="0">
              <a:lnSpc>
                <a:spcPct val="115000"/>
              </a:lnSpc>
              <a:spcBef>
                <a:spcPts val="0"/>
              </a:spcBef>
              <a:spcAft>
                <a:spcPts val="0"/>
              </a:spcAft>
              <a:buClr>
                <a:schemeClr val="dk1"/>
              </a:buClr>
              <a:buSzPts val="1100"/>
              <a:buFont typeface="Arial"/>
              <a:buNone/>
            </a:pPr>
            <a:r>
              <a:rPr lang="en-US" sz="2600">
                <a:solidFill>
                  <a:schemeClr val="dk1"/>
                </a:solidFill>
                <a:latin typeface="Oswald Medium"/>
                <a:ea typeface="Oswald Medium"/>
                <a:cs typeface="Oswald Medium"/>
                <a:sym typeface="Oswald Medium"/>
              </a:rPr>
              <a:t>Menindaklanjuti meeting gabungan kemarin, kami akan membuat suatu dashboard untuk memantau dan mengevaluasi pencapaian penjualan tiap bulannya. Dalam dashboard tersebut akan terdiri dari 2 halaman dan dibuat dengan menggunakan </a:t>
            </a:r>
            <a:r>
              <a:rPr lang="en-US" sz="2600" u="sng">
                <a:solidFill>
                  <a:srgbClr val="1155CC"/>
                </a:solidFill>
                <a:latin typeface="Oswald Medium"/>
                <a:ea typeface="Oswald Medium"/>
                <a:cs typeface="Oswald Medium"/>
                <a:sym typeface="Oswald Medium"/>
                <a:hlinkClick r:id="rId3">
                  <a:extLst>
                    <a:ext uri="{A12FA001-AC4F-418D-AE19-62706E023703}">
                      <ahyp:hlinkClr xmlns:ahyp="http://schemas.microsoft.com/office/drawing/2018/hyperlinkcolor" val="tx"/>
                    </a:ext>
                  </a:extLst>
                </a:hlinkClick>
              </a:rPr>
              <a:t>lookerstudio.google.com</a:t>
            </a:r>
            <a:r>
              <a:rPr lang="en-US" sz="2600">
                <a:solidFill>
                  <a:srgbClr val="68615E"/>
                </a:solidFill>
                <a:highlight>
                  <a:srgbClr val="F1EFEE"/>
                </a:highlight>
                <a:latin typeface="Oswald Medium"/>
                <a:ea typeface="Oswald Medium"/>
                <a:cs typeface="Oswald Medium"/>
                <a:sym typeface="Oswald Medium"/>
              </a:rPr>
              <a:t>.</a:t>
            </a:r>
            <a:endParaRPr sz="2600">
              <a:solidFill>
                <a:srgbClr val="68615E"/>
              </a:solidFill>
              <a:highlight>
                <a:srgbClr val="F1EFEE"/>
              </a:highlight>
              <a:latin typeface="Oswald Medium"/>
              <a:ea typeface="Oswald Medium"/>
              <a:cs typeface="Oswald Medium"/>
              <a:sym typeface="Oswald Medium"/>
            </a:endParaRPr>
          </a:p>
          <a:p>
            <a:pPr marL="0" lvl="0" indent="0" algn="just" rtl="0">
              <a:lnSpc>
                <a:spcPct val="115000"/>
              </a:lnSpc>
              <a:spcBef>
                <a:spcPts val="0"/>
              </a:spcBef>
              <a:spcAft>
                <a:spcPts val="0"/>
              </a:spcAft>
              <a:buClr>
                <a:schemeClr val="dk1"/>
              </a:buClr>
              <a:buSzPts val="1100"/>
              <a:buFont typeface="Arial"/>
              <a:buNone/>
            </a:pPr>
            <a:endParaRPr sz="2600">
              <a:solidFill>
                <a:srgbClr val="68615E"/>
              </a:solidFill>
              <a:highlight>
                <a:srgbClr val="F1EFEE"/>
              </a:highlight>
              <a:latin typeface="Oswald Medium"/>
              <a:ea typeface="Oswald Medium"/>
              <a:cs typeface="Oswald Medium"/>
              <a:sym typeface="Oswald Medium"/>
            </a:endParaRPr>
          </a:p>
          <a:p>
            <a:pPr marL="0" lvl="0" indent="0" algn="l" rtl="0">
              <a:lnSpc>
                <a:spcPct val="115000"/>
              </a:lnSpc>
              <a:spcBef>
                <a:spcPts val="0"/>
              </a:spcBef>
              <a:spcAft>
                <a:spcPts val="0"/>
              </a:spcAft>
              <a:buClr>
                <a:schemeClr val="dk1"/>
              </a:buClr>
              <a:buSzPts val="1100"/>
              <a:buFont typeface="Arial"/>
              <a:buNone/>
            </a:pPr>
            <a:r>
              <a:rPr lang="en-US" sz="2600">
                <a:solidFill>
                  <a:schemeClr val="dk1"/>
                </a:solidFill>
                <a:latin typeface="Oswald Medium"/>
                <a:ea typeface="Oswald Medium"/>
                <a:cs typeface="Oswald Medium"/>
                <a:sym typeface="Oswald Medium"/>
              </a:rPr>
              <a:t>Halaman 1:</a:t>
            </a:r>
            <a:endParaRPr sz="2600">
              <a:solidFill>
                <a:schemeClr val="dk1"/>
              </a:solidFill>
              <a:latin typeface="Oswald Medium"/>
              <a:ea typeface="Oswald Medium"/>
              <a:cs typeface="Oswald Medium"/>
              <a:sym typeface="Oswald Medium"/>
            </a:endParaRPr>
          </a:p>
          <a:p>
            <a:pPr marL="914400" lvl="0" indent="-393700" algn="l" rtl="0">
              <a:lnSpc>
                <a:spcPct val="115000"/>
              </a:lnSpc>
              <a:spcBef>
                <a:spcPts val="0"/>
              </a:spcBef>
              <a:spcAft>
                <a:spcPts val="0"/>
              </a:spcAft>
              <a:buClr>
                <a:schemeClr val="dk1"/>
              </a:buClr>
              <a:buSzPts val="2600"/>
              <a:buFont typeface="Oswald Medium"/>
              <a:buAutoNum type="arabicPeriod"/>
            </a:pPr>
            <a:r>
              <a:rPr lang="en-US" sz="2600">
                <a:solidFill>
                  <a:schemeClr val="dk1"/>
                </a:solidFill>
                <a:latin typeface="Oswald Medium"/>
                <a:ea typeface="Oswald Medium"/>
                <a:cs typeface="Oswald Medium"/>
                <a:sym typeface="Oswald Medium"/>
              </a:rPr>
              <a:t>Tim marketing ingin melihat perkembangan campaign pada tahun 2022, trend nya seperti apa? Diberikan penjelasan dan bagaimana call to action-nya agar tim dapat mengambil sebuah keputusan ke depannya.</a:t>
            </a:r>
            <a:endParaRPr sz="2600">
              <a:solidFill>
                <a:schemeClr val="dk1"/>
              </a:solidFill>
              <a:latin typeface="Oswald Medium"/>
              <a:ea typeface="Oswald Medium"/>
              <a:cs typeface="Oswald Medium"/>
              <a:sym typeface="Oswald Medium"/>
            </a:endParaRPr>
          </a:p>
          <a:p>
            <a:pPr marL="457200" lvl="0" indent="0" algn="l" rtl="0">
              <a:lnSpc>
                <a:spcPct val="115000"/>
              </a:lnSpc>
              <a:spcBef>
                <a:spcPts val="0"/>
              </a:spcBef>
              <a:spcAft>
                <a:spcPts val="0"/>
              </a:spcAft>
              <a:buClr>
                <a:schemeClr val="dk1"/>
              </a:buClr>
              <a:buSzPts val="1100"/>
              <a:buFont typeface="Arial"/>
              <a:buNone/>
            </a:pPr>
            <a:r>
              <a:rPr lang="en-US" sz="2600">
                <a:solidFill>
                  <a:schemeClr val="dk1"/>
                </a:solidFill>
                <a:latin typeface="Oswald Medium"/>
                <a:ea typeface="Oswald Medium"/>
                <a:cs typeface="Oswald Medium"/>
                <a:sym typeface="Oswald Medium"/>
              </a:rPr>
              <a:t>Dashboard yang berupa:</a:t>
            </a:r>
            <a:endParaRPr sz="2600">
              <a:solidFill>
                <a:schemeClr val="dk1"/>
              </a:solidFill>
              <a:latin typeface="Oswald Medium"/>
              <a:ea typeface="Oswald Medium"/>
              <a:cs typeface="Oswald Medium"/>
              <a:sym typeface="Oswald Medium"/>
            </a:endParaRPr>
          </a:p>
          <a:p>
            <a:pPr marL="0" lvl="0" indent="0" algn="l" rtl="0">
              <a:lnSpc>
                <a:spcPct val="140000"/>
              </a:lnSpc>
              <a:spcBef>
                <a:spcPts val="0"/>
              </a:spcBef>
              <a:spcAft>
                <a:spcPts val="0"/>
              </a:spcAft>
              <a:buNone/>
            </a:pPr>
            <a:endParaRPr sz="3230">
              <a:solidFill>
                <a:srgbClr val="303870"/>
              </a:solidFill>
              <a:latin typeface="Nunito"/>
              <a:ea typeface="Nunito"/>
              <a:cs typeface="Nunito"/>
              <a:sym typeface="Nunito"/>
            </a:endParaRPr>
          </a:p>
        </p:txBody>
      </p:sp>
      <p:sp>
        <p:nvSpPr>
          <p:cNvPr id="238" name="Google Shape;238;g3d03f543068_8_0"/>
          <p:cNvSpPr txBox="1"/>
          <p:nvPr/>
        </p:nvSpPr>
        <p:spPr>
          <a:xfrm>
            <a:off x="8644950" y="5992975"/>
            <a:ext cx="8671500" cy="3903600"/>
          </a:xfrm>
          <a:prstGeom prst="rect">
            <a:avLst/>
          </a:prstGeom>
          <a:noFill/>
          <a:ln>
            <a:noFill/>
          </a:ln>
        </p:spPr>
        <p:txBody>
          <a:bodyPr spcFirstLastPara="1" wrap="square" lIns="91425" tIns="91425" rIns="91425" bIns="91425" anchor="t" anchorCtr="0">
            <a:spAutoFit/>
          </a:bodyPr>
          <a:lstStyle/>
          <a:p>
            <a:pPr marL="727199" lvl="0" indent="0" algn="l" rtl="0">
              <a:lnSpc>
                <a:spcPct val="115000"/>
              </a:lnSpc>
              <a:spcBef>
                <a:spcPts val="0"/>
              </a:spcBef>
              <a:spcAft>
                <a:spcPts val="0"/>
              </a:spcAft>
              <a:buNone/>
            </a:pPr>
            <a:r>
              <a:rPr lang="en-US" sz="2600">
                <a:solidFill>
                  <a:schemeClr val="dk1"/>
                </a:solidFill>
                <a:latin typeface="Oswald Medium"/>
                <a:ea typeface="Oswald Medium"/>
                <a:cs typeface="Oswald Medium"/>
                <a:sym typeface="Oswald Medium"/>
              </a:rPr>
              <a:t>b. Terdapat </a:t>
            </a:r>
            <a:r>
              <a:rPr lang="en-US" sz="2600" i="1">
                <a:solidFill>
                  <a:schemeClr val="dk1"/>
                </a:solidFill>
                <a:latin typeface="Oswald Medium"/>
                <a:ea typeface="Oswald Medium"/>
                <a:cs typeface="Oswald Medium"/>
                <a:sym typeface="Oswald Medium"/>
              </a:rPr>
              <a:t>slicer </a:t>
            </a:r>
            <a:r>
              <a:rPr lang="en-US" sz="2600">
                <a:solidFill>
                  <a:schemeClr val="dk1"/>
                </a:solidFill>
                <a:latin typeface="Oswald Medium"/>
                <a:ea typeface="Oswald Medium"/>
                <a:cs typeface="Oswald Medium"/>
                <a:sym typeface="Oswald Medium"/>
              </a:rPr>
              <a:t>Order Date, Category, Sales Value, Value Transaction, Pay ment.</a:t>
            </a:r>
            <a:endParaRPr sz="2600">
              <a:solidFill>
                <a:schemeClr val="dk1"/>
              </a:solidFill>
              <a:latin typeface="Oswald Medium"/>
              <a:ea typeface="Oswald Medium"/>
              <a:cs typeface="Oswald Medium"/>
              <a:sym typeface="Oswald Medium"/>
            </a:endParaRPr>
          </a:p>
          <a:p>
            <a:pPr marL="914400" lvl="0" indent="0" algn="l" rtl="0">
              <a:lnSpc>
                <a:spcPct val="115000"/>
              </a:lnSpc>
              <a:spcBef>
                <a:spcPts val="0"/>
              </a:spcBef>
              <a:spcAft>
                <a:spcPts val="0"/>
              </a:spcAft>
              <a:buNone/>
            </a:pPr>
            <a:r>
              <a:rPr lang="en-US" sz="2600" i="1">
                <a:solidFill>
                  <a:schemeClr val="dk1"/>
                </a:solidFill>
                <a:latin typeface="Oswald Medium"/>
                <a:ea typeface="Oswald Medium"/>
                <a:cs typeface="Oswald Medium"/>
                <a:sym typeface="Oswald Medium"/>
              </a:rPr>
              <a:t>Note:</a:t>
            </a:r>
            <a:endParaRPr sz="2600" i="1">
              <a:solidFill>
                <a:schemeClr val="dk1"/>
              </a:solidFill>
              <a:latin typeface="Oswald Medium"/>
              <a:ea typeface="Oswald Medium"/>
              <a:cs typeface="Oswald Medium"/>
              <a:sym typeface="Oswald Medium"/>
            </a:endParaRPr>
          </a:p>
          <a:p>
            <a:pPr marL="1267199" lvl="0" indent="-525099" algn="l" rtl="0">
              <a:lnSpc>
                <a:spcPct val="115000"/>
              </a:lnSpc>
              <a:spcBef>
                <a:spcPts val="0"/>
              </a:spcBef>
              <a:spcAft>
                <a:spcPts val="0"/>
              </a:spcAft>
              <a:buClr>
                <a:schemeClr val="dk1"/>
              </a:buClr>
              <a:buSzPts val="2600"/>
              <a:buFont typeface="Oswald Medium"/>
              <a:buChar char="●"/>
            </a:pPr>
            <a:r>
              <a:rPr lang="en-US" sz="2600">
                <a:solidFill>
                  <a:schemeClr val="dk1"/>
                </a:solidFill>
                <a:latin typeface="Oswald Medium"/>
                <a:ea typeface="Oswald Medium"/>
                <a:cs typeface="Oswald Medium"/>
                <a:sym typeface="Oswald Medium"/>
              </a:rPr>
              <a:t>Value Transaction:</a:t>
            </a:r>
            <a:endParaRPr sz="2600">
              <a:solidFill>
                <a:schemeClr val="dk1"/>
              </a:solidFill>
              <a:latin typeface="Oswald Medium"/>
              <a:ea typeface="Oswald Medium"/>
              <a:cs typeface="Oswald Medium"/>
              <a:sym typeface="Oswald Medium"/>
            </a:endParaRPr>
          </a:p>
          <a:p>
            <a:pPr marL="1828800" lvl="0" indent="-393700" algn="l" rtl="0">
              <a:lnSpc>
                <a:spcPct val="115000"/>
              </a:lnSpc>
              <a:spcBef>
                <a:spcPts val="0"/>
              </a:spcBef>
              <a:spcAft>
                <a:spcPts val="0"/>
              </a:spcAft>
              <a:buClr>
                <a:schemeClr val="dk1"/>
              </a:buClr>
              <a:buSzPts val="2600"/>
              <a:buFont typeface="Oswald Medium"/>
              <a:buChar char="-"/>
            </a:pPr>
            <a:r>
              <a:rPr lang="en-US" sz="2600">
                <a:solidFill>
                  <a:schemeClr val="dk1"/>
                </a:solidFill>
                <a:latin typeface="Oswald Medium"/>
                <a:ea typeface="Oswald Medium"/>
                <a:cs typeface="Oswald Medium"/>
                <a:sym typeface="Oswald Medium"/>
              </a:rPr>
              <a:t>Valid → is_valid = 1</a:t>
            </a:r>
            <a:endParaRPr sz="2600">
              <a:solidFill>
                <a:schemeClr val="dk1"/>
              </a:solidFill>
              <a:latin typeface="Oswald Medium"/>
              <a:ea typeface="Oswald Medium"/>
              <a:cs typeface="Oswald Medium"/>
              <a:sym typeface="Oswald Medium"/>
            </a:endParaRPr>
          </a:p>
          <a:p>
            <a:pPr marL="1828800" lvl="0" indent="-393700" algn="l" rtl="0">
              <a:lnSpc>
                <a:spcPct val="115000"/>
              </a:lnSpc>
              <a:spcBef>
                <a:spcPts val="0"/>
              </a:spcBef>
              <a:spcAft>
                <a:spcPts val="0"/>
              </a:spcAft>
              <a:buClr>
                <a:schemeClr val="dk1"/>
              </a:buClr>
              <a:buSzPts val="2600"/>
              <a:buFont typeface="Oswald Medium"/>
              <a:buChar char="-"/>
            </a:pPr>
            <a:r>
              <a:rPr lang="en-US" sz="2600">
                <a:solidFill>
                  <a:schemeClr val="dk1"/>
                </a:solidFill>
                <a:latin typeface="Oswald Medium"/>
                <a:ea typeface="Oswald Medium"/>
                <a:cs typeface="Oswald Medium"/>
                <a:sym typeface="Oswald Medium"/>
              </a:rPr>
              <a:t>Not Valid → is_valid = 0</a:t>
            </a:r>
            <a:endParaRPr sz="2600">
              <a:solidFill>
                <a:schemeClr val="dk1"/>
              </a:solidFill>
              <a:latin typeface="Oswald Medium"/>
              <a:ea typeface="Oswald Medium"/>
              <a:cs typeface="Oswald Medium"/>
              <a:sym typeface="Oswald Medium"/>
            </a:endParaRPr>
          </a:p>
          <a:p>
            <a:pPr marL="1267199" lvl="0" indent="-525099" algn="l" rtl="0">
              <a:lnSpc>
                <a:spcPct val="115000"/>
              </a:lnSpc>
              <a:spcBef>
                <a:spcPts val="0"/>
              </a:spcBef>
              <a:spcAft>
                <a:spcPts val="0"/>
              </a:spcAft>
              <a:buClr>
                <a:schemeClr val="dk1"/>
              </a:buClr>
              <a:buSzPts val="2600"/>
              <a:buFont typeface="Oswald Medium"/>
              <a:buChar char="●"/>
            </a:pPr>
            <a:r>
              <a:rPr lang="en-US" sz="2600">
                <a:solidFill>
                  <a:schemeClr val="dk1"/>
                </a:solidFill>
                <a:latin typeface="Oswald Medium"/>
                <a:ea typeface="Oswald Medium"/>
                <a:cs typeface="Oswald Medium"/>
                <a:sym typeface="Oswald Medium"/>
              </a:rPr>
              <a:t>Payment → payment_method</a:t>
            </a:r>
            <a:endParaRPr sz="2600">
              <a:solidFill>
                <a:schemeClr val="dk1"/>
              </a:solidFill>
              <a:latin typeface="Oswald Medium"/>
              <a:ea typeface="Oswald Medium"/>
              <a:cs typeface="Oswald Medium"/>
              <a:sym typeface="Oswald Medium"/>
            </a:endParaRPr>
          </a:p>
          <a:p>
            <a:pPr marL="0" lvl="0" indent="0" algn="l" rtl="0">
              <a:lnSpc>
                <a:spcPct val="140000"/>
              </a:lnSpc>
              <a:spcBef>
                <a:spcPts val="0"/>
              </a:spcBef>
              <a:spcAft>
                <a:spcPts val="0"/>
              </a:spcAft>
              <a:buNone/>
            </a:pPr>
            <a:endParaRPr sz="3230">
              <a:solidFill>
                <a:srgbClr val="303870"/>
              </a:solidFill>
              <a:latin typeface="Nunito"/>
              <a:ea typeface="Nunito"/>
              <a:cs typeface="Nunito"/>
              <a:sym typeface="Nunito"/>
            </a:endParaRPr>
          </a:p>
        </p:txBody>
      </p:sp>
      <p:sp>
        <p:nvSpPr>
          <p:cNvPr id="239" name="Google Shape;239;g3d03f543068_8_0"/>
          <p:cNvSpPr txBox="1"/>
          <p:nvPr/>
        </p:nvSpPr>
        <p:spPr>
          <a:xfrm>
            <a:off x="236250" y="5992975"/>
            <a:ext cx="8671500" cy="3443100"/>
          </a:xfrm>
          <a:prstGeom prst="rect">
            <a:avLst/>
          </a:prstGeom>
          <a:noFill/>
          <a:ln>
            <a:noFill/>
          </a:ln>
        </p:spPr>
        <p:txBody>
          <a:bodyPr spcFirstLastPara="1" wrap="square" lIns="91425" tIns="91425" rIns="91425" bIns="91425" anchor="t" anchorCtr="0">
            <a:spAutoFit/>
          </a:bodyPr>
          <a:lstStyle/>
          <a:p>
            <a:pPr marL="914400" lvl="0" indent="-393700" algn="l" rtl="0">
              <a:lnSpc>
                <a:spcPct val="115000"/>
              </a:lnSpc>
              <a:spcBef>
                <a:spcPts val="0"/>
              </a:spcBef>
              <a:spcAft>
                <a:spcPts val="0"/>
              </a:spcAft>
              <a:buClr>
                <a:schemeClr val="dk1"/>
              </a:buClr>
              <a:buSzPts val="2600"/>
              <a:buFont typeface="Oswald Medium"/>
              <a:buAutoNum type="alphaLcPeriod"/>
            </a:pPr>
            <a:r>
              <a:rPr lang="en-US" sz="2600">
                <a:solidFill>
                  <a:schemeClr val="dk1"/>
                </a:solidFill>
                <a:latin typeface="Oswald Medium"/>
                <a:ea typeface="Oswald Medium"/>
                <a:cs typeface="Oswald Medium"/>
                <a:sym typeface="Oswald Medium"/>
              </a:rPr>
              <a:t>Hubungan antara Value Sales (</a:t>
            </a:r>
            <a:r>
              <a:rPr lang="en-US" sz="2600" i="1">
                <a:solidFill>
                  <a:schemeClr val="dk1"/>
                </a:solidFill>
                <a:latin typeface="Oswald Medium"/>
                <a:ea typeface="Oswald Medium"/>
                <a:cs typeface="Oswald Medium"/>
                <a:sym typeface="Oswald Medium"/>
              </a:rPr>
              <a:t>before discount</a:t>
            </a:r>
            <a:r>
              <a:rPr lang="en-US" sz="2600">
                <a:solidFill>
                  <a:schemeClr val="dk1"/>
                </a:solidFill>
                <a:latin typeface="Oswald Medium"/>
                <a:ea typeface="Oswald Medium"/>
                <a:cs typeface="Oswald Medium"/>
                <a:sym typeface="Oswald Medium"/>
              </a:rPr>
              <a:t>), Net Profit, dan AOV (</a:t>
            </a:r>
            <a:r>
              <a:rPr lang="en-US" sz="2600" i="1">
                <a:solidFill>
                  <a:schemeClr val="dk1"/>
                </a:solidFill>
                <a:latin typeface="Oswald Medium"/>
                <a:ea typeface="Oswald Medium"/>
                <a:cs typeface="Oswald Medium"/>
                <a:sym typeface="Oswald Medium"/>
              </a:rPr>
              <a:t>average order value</a:t>
            </a:r>
            <a:r>
              <a:rPr lang="en-US" sz="2600">
                <a:solidFill>
                  <a:schemeClr val="dk1"/>
                </a:solidFill>
                <a:latin typeface="Oswald Medium"/>
                <a:ea typeface="Oswald Medium"/>
                <a:cs typeface="Oswald Medium"/>
                <a:sym typeface="Oswald Medium"/>
              </a:rPr>
              <a:t>).</a:t>
            </a:r>
            <a:endParaRPr sz="2600">
              <a:solidFill>
                <a:schemeClr val="dk1"/>
              </a:solidFill>
              <a:latin typeface="Oswald Medium"/>
              <a:ea typeface="Oswald Medium"/>
              <a:cs typeface="Oswald Medium"/>
              <a:sym typeface="Oswald Medium"/>
            </a:endParaRPr>
          </a:p>
          <a:p>
            <a:pPr marL="914400" lvl="0" indent="0" algn="l" rtl="0">
              <a:lnSpc>
                <a:spcPct val="115000"/>
              </a:lnSpc>
              <a:spcBef>
                <a:spcPts val="0"/>
              </a:spcBef>
              <a:spcAft>
                <a:spcPts val="0"/>
              </a:spcAft>
              <a:buNone/>
            </a:pPr>
            <a:r>
              <a:rPr lang="en-US" sz="2600" i="1">
                <a:solidFill>
                  <a:schemeClr val="dk1"/>
                </a:solidFill>
                <a:latin typeface="Oswald Medium"/>
                <a:ea typeface="Oswald Medium"/>
                <a:cs typeface="Oswald Medium"/>
                <a:sym typeface="Oswald Medium"/>
              </a:rPr>
              <a:t>Note:</a:t>
            </a:r>
            <a:endParaRPr sz="2600" i="1">
              <a:solidFill>
                <a:schemeClr val="dk1"/>
              </a:solidFill>
              <a:latin typeface="Oswald Medium"/>
              <a:ea typeface="Oswald Medium"/>
              <a:cs typeface="Oswald Medium"/>
              <a:sym typeface="Oswald Medium"/>
            </a:endParaRPr>
          </a:p>
          <a:p>
            <a:pPr marL="1267199" lvl="0" indent="-525099" algn="l" rtl="0">
              <a:lnSpc>
                <a:spcPct val="115000"/>
              </a:lnSpc>
              <a:spcBef>
                <a:spcPts val="0"/>
              </a:spcBef>
              <a:spcAft>
                <a:spcPts val="0"/>
              </a:spcAft>
              <a:buClr>
                <a:schemeClr val="dk1"/>
              </a:buClr>
              <a:buSzPts val="2600"/>
              <a:buFont typeface="Oswald Medium"/>
              <a:buChar char="●"/>
            </a:pPr>
            <a:r>
              <a:rPr lang="en-US" sz="2600">
                <a:solidFill>
                  <a:schemeClr val="dk1"/>
                </a:solidFill>
                <a:latin typeface="Oswald Medium"/>
                <a:ea typeface="Oswald Medium"/>
                <a:cs typeface="Oswald Medium"/>
                <a:sym typeface="Oswald Medium"/>
              </a:rPr>
              <a:t>Net profit 	= Value Sales (before discount) - (cogs * qty)</a:t>
            </a:r>
            <a:endParaRPr sz="2600">
              <a:solidFill>
                <a:schemeClr val="dk1"/>
              </a:solidFill>
              <a:latin typeface="Oswald Medium"/>
              <a:ea typeface="Oswald Medium"/>
              <a:cs typeface="Oswald Medium"/>
              <a:sym typeface="Oswald Medium"/>
            </a:endParaRPr>
          </a:p>
          <a:p>
            <a:pPr marL="1267199" lvl="0" indent="-525099" algn="l" rtl="0">
              <a:lnSpc>
                <a:spcPct val="115000"/>
              </a:lnSpc>
              <a:spcBef>
                <a:spcPts val="0"/>
              </a:spcBef>
              <a:spcAft>
                <a:spcPts val="0"/>
              </a:spcAft>
              <a:buClr>
                <a:schemeClr val="dk1"/>
              </a:buClr>
              <a:buSzPts val="2600"/>
              <a:buFont typeface="Oswald Medium"/>
              <a:buChar char="●"/>
            </a:pPr>
            <a:r>
              <a:rPr lang="en-US" sz="2600">
                <a:solidFill>
                  <a:schemeClr val="dk1"/>
                </a:solidFill>
                <a:latin typeface="Oswald Medium"/>
                <a:ea typeface="Oswald Medium"/>
                <a:cs typeface="Oswald Medium"/>
                <a:sym typeface="Oswald Medium"/>
              </a:rPr>
              <a:t>AOV 		= Value Sales (before discount) / Total Unique Order.  </a:t>
            </a:r>
            <a:endParaRPr sz="2600">
              <a:solidFill>
                <a:schemeClr val="dk1"/>
              </a:solidFill>
              <a:latin typeface="Oswald Medium"/>
              <a:ea typeface="Oswald Medium"/>
              <a:cs typeface="Oswald Medium"/>
              <a:sym typeface="Oswald Medium"/>
            </a:endParaRPr>
          </a:p>
          <a:p>
            <a:pPr marL="0" lvl="0" indent="0" algn="l" rtl="0">
              <a:lnSpc>
                <a:spcPct val="140000"/>
              </a:lnSpc>
              <a:spcBef>
                <a:spcPts val="0"/>
              </a:spcBef>
              <a:spcAft>
                <a:spcPts val="0"/>
              </a:spcAft>
              <a:buNone/>
            </a:pPr>
            <a:endParaRPr sz="3230">
              <a:solidFill>
                <a:srgbClr val="303870"/>
              </a:solidFill>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243"/>
        <p:cNvGrpSpPr/>
        <p:nvPr/>
      </p:nvGrpSpPr>
      <p:grpSpPr>
        <a:xfrm>
          <a:off x="0" y="0"/>
          <a:ext cx="0" cy="0"/>
          <a:chOff x="0" y="0"/>
          <a:chExt cx="0" cy="0"/>
        </a:xfrm>
      </p:grpSpPr>
      <p:grpSp>
        <p:nvGrpSpPr>
          <p:cNvPr id="244" name="Google Shape;244;g3d090459189_1_0"/>
          <p:cNvGrpSpPr/>
          <p:nvPr/>
        </p:nvGrpSpPr>
        <p:grpSpPr>
          <a:xfrm>
            <a:off x="17259300" y="-361655"/>
            <a:ext cx="3086120" cy="10649165"/>
            <a:chOff x="0" y="-95250"/>
            <a:chExt cx="812800" cy="2804700"/>
          </a:xfrm>
        </p:grpSpPr>
        <p:sp>
          <p:nvSpPr>
            <p:cNvPr id="245" name="Google Shape;245;g3d090459189_1_0"/>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g3d090459189_1_0"/>
            <p:cNvSpPr txBox="1"/>
            <p:nvPr/>
          </p:nvSpPr>
          <p:spPr>
            <a:xfrm>
              <a:off x="0" y="-95250"/>
              <a:ext cx="812700" cy="28047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47" name="Google Shape;247;g3d090459189_1_0"/>
          <p:cNvSpPr txBox="1"/>
          <p:nvPr/>
        </p:nvSpPr>
        <p:spPr>
          <a:xfrm>
            <a:off x="171450" y="375050"/>
            <a:ext cx="15462300" cy="1740900"/>
          </a:xfrm>
          <a:prstGeom prst="rect">
            <a:avLst/>
          </a:prstGeom>
          <a:noFill/>
          <a:ln>
            <a:noFill/>
          </a:ln>
        </p:spPr>
        <p:txBody>
          <a:bodyPr spcFirstLastPara="1" wrap="square" lIns="0" tIns="0" rIns="0" bIns="0" anchor="t" anchorCtr="0">
            <a:spAutoFit/>
          </a:bodyPr>
          <a:lstStyle/>
          <a:p>
            <a:pPr marL="457200" lvl="0" indent="-400050" algn="l" rtl="0">
              <a:lnSpc>
                <a:spcPct val="115000"/>
              </a:lnSpc>
              <a:spcBef>
                <a:spcPts val="0"/>
              </a:spcBef>
              <a:spcAft>
                <a:spcPts val="0"/>
              </a:spcAft>
              <a:buClr>
                <a:schemeClr val="dk2"/>
              </a:buClr>
              <a:buSzPts val="2700"/>
              <a:buFont typeface="Comfortaa"/>
              <a:buAutoNum type="alphaUcPeriod"/>
            </a:pPr>
            <a:r>
              <a:rPr lang="en-US" sz="2700" b="1">
                <a:solidFill>
                  <a:schemeClr val="dk2"/>
                </a:solidFill>
                <a:latin typeface="Comfortaa"/>
                <a:ea typeface="Comfortaa"/>
                <a:cs typeface="Comfortaa"/>
                <a:sym typeface="Comfortaa"/>
              </a:rPr>
              <a:t>Hubungan antara Value Sales (</a:t>
            </a:r>
            <a:r>
              <a:rPr lang="en-US" sz="2700" b="1" i="1">
                <a:solidFill>
                  <a:schemeClr val="dk2"/>
                </a:solidFill>
                <a:latin typeface="Comfortaa"/>
                <a:ea typeface="Comfortaa"/>
                <a:cs typeface="Comfortaa"/>
                <a:sym typeface="Comfortaa"/>
              </a:rPr>
              <a:t>before discount</a:t>
            </a:r>
            <a:r>
              <a:rPr lang="en-US" sz="2700" b="1">
                <a:solidFill>
                  <a:schemeClr val="dk2"/>
                </a:solidFill>
                <a:latin typeface="Comfortaa"/>
                <a:ea typeface="Comfortaa"/>
                <a:cs typeface="Comfortaa"/>
                <a:sym typeface="Comfortaa"/>
              </a:rPr>
              <a:t>), Net Profit, dan AOV (</a:t>
            </a:r>
            <a:r>
              <a:rPr lang="en-US" sz="2700" b="1" i="1">
                <a:solidFill>
                  <a:schemeClr val="dk2"/>
                </a:solidFill>
                <a:latin typeface="Comfortaa"/>
                <a:ea typeface="Comfortaa"/>
                <a:cs typeface="Comfortaa"/>
                <a:sym typeface="Comfortaa"/>
              </a:rPr>
              <a:t>average order value</a:t>
            </a:r>
            <a:r>
              <a:rPr lang="en-US" sz="2700" b="1">
                <a:solidFill>
                  <a:schemeClr val="dk2"/>
                </a:solidFill>
                <a:latin typeface="Comfortaa"/>
                <a:ea typeface="Comfortaa"/>
                <a:cs typeface="Comfortaa"/>
                <a:sym typeface="Comfortaa"/>
              </a:rPr>
              <a:t>).</a:t>
            </a:r>
            <a:endParaRPr sz="2700" b="1">
              <a:solidFill>
                <a:schemeClr val="dk2"/>
              </a:solidFill>
              <a:latin typeface="Comfortaa"/>
              <a:ea typeface="Comfortaa"/>
              <a:cs typeface="Comfortaa"/>
              <a:sym typeface="Comfortaa"/>
            </a:endParaRPr>
          </a:p>
          <a:p>
            <a:pPr marL="0" marR="0" lvl="0" indent="0" algn="l" rtl="0">
              <a:lnSpc>
                <a:spcPct val="113999"/>
              </a:lnSpc>
              <a:spcBef>
                <a:spcPts val="0"/>
              </a:spcBef>
              <a:spcAft>
                <a:spcPts val="0"/>
              </a:spcAft>
              <a:buNone/>
            </a:pPr>
            <a:endParaRPr sz="5100" b="1">
              <a:solidFill>
                <a:schemeClr val="dk2"/>
              </a:solidFill>
              <a:latin typeface="Comfortaa"/>
              <a:ea typeface="Comfortaa"/>
              <a:cs typeface="Comfortaa"/>
              <a:sym typeface="Comfortaa"/>
            </a:endParaRPr>
          </a:p>
        </p:txBody>
      </p:sp>
      <p:sp>
        <p:nvSpPr>
          <p:cNvPr id="248" name="Google Shape;248;g3d090459189_1_0"/>
          <p:cNvSpPr txBox="1"/>
          <p:nvPr/>
        </p:nvSpPr>
        <p:spPr>
          <a:xfrm>
            <a:off x="171450" y="1510775"/>
            <a:ext cx="15162900" cy="2025600"/>
          </a:xfrm>
          <a:prstGeom prst="rect">
            <a:avLst/>
          </a:prstGeom>
          <a:noFill/>
          <a:ln>
            <a:noFill/>
          </a:ln>
        </p:spPr>
        <p:txBody>
          <a:bodyPr spcFirstLastPara="1" wrap="square" lIns="91425" tIns="91425" rIns="91425" bIns="91425" anchor="t" anchorCtr="0">
            <a:spAutoFit/>
          </a:bodyPr>
          <a:lstStyle/>
          <a:p>
            <a:pPr marL="914400" lvl="0" indent="0" algn="just" rtl="0">
              <a:lnSpc>
                <a:spcPct val="140000"/>
              </a:lnSpc>
              <a:spcBef>
                <a:spcPts val="0"/>
              </a:spcBef>
              <a:spcAft>
                <a:spcPts val="0"/>
              </a:spcAft>
              <a:buNone/>
            </a:pPr>
            <a:r>
              <a:rPr lang="en-US" sz="2300" b="1">
                <a:solidFill>
                  <a:srgbClr val="303870"/>
                </a:solidFill>
              </a:rPr>
              <a:t>A.1.) </a:t>
            </a:r>
            <a:r>
              <a:rPr lang="en-US" sz="2300">
                <a:solidFill>
                  <a:srgbClr val="303870"/>
                </a:solidFill>
              </a:rPr>
              <a:t>Untuk melihat hubungan value sales, net profit dan AOV dapat divisualisasikan dengan </a:t>
            </a:r>
            <a:r>
              <a:rPr lang="en-US" sz="2300" b="1">
                <a:solidFill>
                  <a:srgbClr val="303870"/>
                </a:solidFill>
              </a:rPr>
              <a:t>combo chart </a:t>
            </a:r>
            <a:r>
              <a:rPr lang="en-US" sz="2300">
                <a:solidFill>
                  <a:srgbClr val="303870"/>
                </a:solidFill>
              </a:rPr>
              <a:t>dimana value sales, net profit, dan AOV sebagai tiga metrik utama berdasarkan dimensi waktu (order date dalam bentuk year month). Namun, karena pada dataset tidak ada data Net Profit dan AOV maka harus membuat kolom baru dengan </a:t>
            </a:r>
            <a:r>
              <a:rPr lang="en-US" sz="2300" b="1">
                <a:solidFill>
                  <a:srgbClr val="303870"/>
                </a:solidFill>
              </a:rPr>
              <a:t>menambahkan field.</a:t>
            </a:r>
            <a:endParaRPr sz="2300" b="1">
              <a:solidFill>
                <a:srgbClr val="303870"/>
              </a:solidFill>
            </a:endParaRPr>
          </a:p>
        </p:txBody>
      </p:sp>
      <p:pic>
        <p:nvPicPr>
          <p:cNvPr id="249" name="Google Shape;249;g3d090459189_1_0" title="Screenshot 2026-03-17 at 20.41.33.png"/>
          <p:cNvPicPr preferRelativeResize="0"/>
          <p:nvPr/>
        </p:nvPicPr>
        <p:blipFill>
          <a:blip r:embed="rId3">
            <a:alphaModFix/>
          </a:blip>
          <a:stretch>
            <a:fillRect/>
          </a:stretch>
        </p:blipFill>
        <p:spPr>
          <a:xfrm>
            <a:off x="2142125" y="3692863"/>
            <a:ext cx="6019800" cy="3371850"/>
          </a:xfrm>
          <a:prstGeom prst="rect">
            <a:avLst/>
          </a:prstGeom>
          <a:noFill/>
          <a:ln>
            <a:noFill/>
          </a:ln>
        </p:spPr>
      </p:pic>
      <p:pic>
        <p:nvPicPr>
          <p:cNvPr id="250" name="Google Shape;250;g3d090459189_1_0" title="Screenshot 2026-03-17 at 20.42.44.png"/>
          <p:cNvPicPr preferRelativeResize="0"/>
          <p:nvPr/>
        </p:nvPicPr>
        <p:blipFill>
          <a:blip r:embed="rId4">
            <a:alphaModFix/>
          </a:blip>
          <a:stretch>
            <a:fillRect/>
          </a:stretch>
        </p:blipFill>
        <p:spPr>
          <a:xfrm>
            <a:off x="9090538" y="3612575"/>
            <a:ext cx="6543211" cy="3371850"/>
          </a:xfrm>
          <a:prstGeom prst="rect">
            <a:avLst/>
          </a:prstGeom>
          <a:noFill/>
          <a:ln>
            <a:noFill/>
          </a:ln>
        </p:spPr>
      </p:pic>
      <p:sp>
        <p:nvSpPr>
          <p:cNvPr id="251" name="Google Shape;251;g3d090459189_1_0"/>
          <p:cNvSpPr txBox="1"/>
          <p:nvPr/>
        </p:nvSpPr>
        <p:spPr>
          <a:xfrm>
            <a:off x="1832000" y="7221225"/>
            <a:ext cx="6019800" cy="2216400"/>
          </a:xfrm>
          <a:prstGeom prst="rect">
            <a:avLst/>
          </a:prstGeom>
          <a:noFill/>
          <a:ln>
            <a:noFill/>
          </a:ln>
        </p:spPr>
        <p:txBody>
          <a:bodyPr spcFirstLastPara="1" wrap="square" lIns="91425" tIns="91425" rIns="91425" bIns="91425" anchor="t" anchorCtr="0">
            <a:spAutoFit/>
          </a:bodyPr>
          <a:lstStyle/>
          <a:p>
            <a:pPr marL="457200" lvl="0" indent="0" algn="just" rtl="0">
              <a:lnSpc>
                <a:spcPct val="140000"/>
              </a:lnSpc>
              <a:spcBef>
                <a:spcPts val="0"/>
              </a:spcBef>
              <a:spcAft>
                <a:spcPts val="0"/>
              </a:spcAft>
              <a:buNone/>
            </a:pPr>
            <a:r>
              <a:rPr lang="en-US" sz="2000">
                <a:solidFill>
                  <a:srgbClr val="303870"/>
                </a:solidFill>
              </a:rPr>
              <a:t>Net Profit menghitung keuntungan bersih dari transaksi </a:t>
            </a:r>
            <a:r>
              <a:rPr lang="en-US" sz="2000" b="1">
                <a:solidFill>
                  <a:srgbClr val="303870"/>
                </a:solidFill>
              </a:rPr>
              <a:t>before_discount </a:t>
            </a:r>
            <a:r>
              <a:rPr lang="en-US" sz="2000">
                <a:solidFill>
                  <a:srgbClr val="303870"/>
                </a:solidFill>
              </a:rPr>
              <a:t>(harga total sebelum diskon) dikurang </a:t>
            </a:r>
            <a:r>
              <a:rPr lang="en-US" sz="2000" b="1">
                <a:solidFill>
                  <a:srgbClr val="303870"/>
                </a:solidFill>
              </a:rPr>
              <a:t>cogs</a:t>
            </a:r>
            <a:r>
              <a:rPr lang="en-US" sz="2000">
                <a:solidFill>
                  <a:srgbClr val="303870"/>
                </a:solidFill>
              </a:rPr>
              <a:t> (cost of goods/biaya modal) dikali </a:t>
            </a:r>
            <a:r>
              <a:rPr lang="en-US" sz="2000" b="1">
                <a:solidFill>
                  <a:srgbClr val="303870"/>
                </a:solidFill>
              </a:rPr>
              <a:t>qty_ordered</a:t>
            </a:r>
            <a:r>
              <a:rPr lang="en-US" sz="2000">
                <a:solidFill>
                  <a:srgbClr val="303870"/>
                </a:solidFill>
              </a:rPr>
              <a:t> (jumlah unit terjual)</a:t>
            </a:r>
            <a:endParaRPr sz="2000" b="1">
              <a:solidFill>
                <a:srgbClr val="303870"/>
              </a:solidFill>
            </a:endParaRPr>
          </a:p>
        </p:txBody>
      </p:sp>
      <p:sp>
        <p:nvSpPr>
          <p:cNvPr id="252" name="Google Shape;252;g3d090459189_1_0"/>
          <p:cNvSpPr txBox="1"/>
          <p:nvPr/>
        </p:nvSpPr>
        <p:spPr>
          <a:xfrm>
            <a:off x="9090550" y="7221225"/>
            <a:ext cx="6543300" cy="1785600"/>
          </a:xfrm>
          <a:prstGeom prst="rect">
            <a:avLst/>
          </a:prstGeom>
          <a:noFill/>
          <a:ln>
            <a:noFill/>
          </a:ln>
        </p:spPr>
        <p:txBody>
          <a:bodyPr spcFirstLastPara="1" wrap="square" lIns="91425" tIns="91425" rIns="91425" bIns="91425" anchor="t" anchorCtr="0">
            <a:spAutoFit/>
          </a:bodyPr>
          <a:lstStyle/>
          <a:p>
            <a:pPr marL="457200" lvl="0" indent="0" algn="just" rtl="0">
              <a:lnSpc>
                <a:spcPct val="140000"/>
              </a:lnSpc>
              <a:spcBef>
                <a:spcPts val="0"/>
              </a:spcBef>
              <a:spcAft>
                <a:spcPts val="0"/>
              </a:spcAft>
              <a:buNone/>
            </a:pPr>
            <a:r>
              <a:rPr lang="en-US" sz="2000">
                <a:solidFill>
                  <a:srgbClr val="303870"/>
                </a:solidFill>
              </a:rPr>
              <a:t>AOV mengukur rata-rata nilai transaksi per order unik. S</a:t>
            </a:r>
            <a:r>
              <a:rPr lang="en-US" sz="2000" b="1">
                <a:solidFill>
                  <a:srgbClr val="303870"/>
                </a:solidFill>
              </a:rPr>
              <a:t>UM(before_discount)</a:t>
            </a:r>
            <a:r>
              <a:rPr lang="en-US" sz="2000">
                <a:solidFill>
                  <a:srgbClr val="303870"/>
                </a:solidFill>
              </a:rPr>
              <a:t> atau total penjualan transaksi dibagi </a:t>
            </a:r>
            <a:r>
              <a:rPr lang="en-US" sz="2000" b="1">
                <a:solidFill>
                  <a:srgbClr val="303870"/>
                </a:solidFill>
              </a:rPr>
              <a:t>COUNT_DISTINCT(id)</a:t>
            </a:r>
            <a:r>
              <a:rPr lang="en-US" sz="2000">
                <a:solidFill>
                  <a:srgbClr val="303870"/>
                </a:solidFill>
              </a:rPr>
              <a:t> atau jumlah id transaksi unik.</a:t>
            </a:r>
            <a:endParaRPr sz="2000" b="1">
              <a:solidFill>
                <a:srgbClr val="30387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256"/>
        <p:cNvGrpSpPr/>
        <p:nvPr/>
      </p:nvGrpSpPr>
      <p:grpSpPr>
        <a:xfrm>
          <a:off x="0" y="0"/>
          <a:ext cx="0" cy="0"/>
          <a:chOff x="0" y="0"/>
          <a:chExt cx="0" cy="0"/>
        </a:xfrm>
      </p:grpSpPr>
      <p:grpSp>
        <p:nvGrpSpPr>
          <p:cNvPr id="257" name="Google Shape;257;g3d090459189_1_14"/>
          <p:cNvGrpSpPr/>
          <p:nvPr/>
        </p:nvGrpSpPr>
        <p:grpSpPr>
          <a:xfrm>
            <a:off x="17259300" y="-361655"/>
            <a:ext cx="3086120" cy="10649165"/>
            <a:chOff x="0" y="-95250"/>
            <a:chExt cx="812800" cy="2804700"/>
          </a:xfrm>
        </p:grpSpPr>
        <p:sp>
          <p:nvSpPr>
            <p:cNvPr id="258" name="Google Shape;258;g3d090459189_1_14"/>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g3d090459189_1_14"/>
            <p:cNvSpPr txBox="1"/>
            <p:nvPr/>
          </p:nvSpPr>
          <p:spPr>
            <a:xfrm>
              <a:off x="0" y="-95250"/>
              <a:ext cx="812700" cy="28047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60" name="Google Shape;260;g3d090459189_1_14"/>
          <p:cNvSpPr txBox="1"/>
          <p:nvPr/>
        </p:nvSpPr>
        <p:spPr>
          <a:xfrm>
            <a:off x="171450" y="375050"/>
            <a:ext cx="15462300" cy="1740900"/>
          </a:xfrm>
          <a:prstGeom prst="rect">
            <a:avLst/>
          </a:prstGeom>
          <a:noFill/>
          <a:ln>
            <a:noFill/>
          </a:ln>
        </p:spPr>
        <p:txBody>
          <a:bodyPr spcFirstLastPara="1" wrap="square" lIns="0" tIns="0" rIns="0" bIns="0" anchor="t" anchorCtr="0">
            <a:spAutoFit/>
          </a:bodyPr>
          <a:lstStyle/>
          <a:p>
            <a:pPr marL="457200" lvl="0" indent="-400050" algn="l" rtl="0">
              <a:lnSpc>
                <a:spcPct val="115000"/>
              </a:lnSpc>
              <a:spcBef>
                <a:spcPts val="0"/>
              </a:spcBef>
              <a:spcAft>
                <a:spcPts val="0"/>
              </a:spcAft>
              <a:buClr>
                <a:schemeClr val="dk2"/>
              </a:buClr>
              <a:buSzPts val="2700"/>
              <a:buFont typeface="Comfortaa"/>
              <a:buAutoNum type="alphaUcPeriod"/>
            </a:pPr>
            <a:r>
              <a:rPr lang="en-US" sz="2700" b="1">
                <a:solidFill>
                  <a:schemeClr val="dk2"/>
                </a:solidFill>
                <a:latin typeface="Comfortaa"/>
                <a:ea typeface="Comfortaa"/>
                <a:cs typeface="Comfortaa"/>
                <a:sym typeface="Comfortaa"/>
              </a:rPr>
              <a:t>Hubungan antara Value Sales (</a:t>
            </a:r>
            <a:r>
              <a:rPr lang="en-US" sz="2700" b="1" i="1">
                <a:solidFill>
                  <a:schemeClr val="dk2"/>
                </a:solidFill>
                <a:latin typeface="Comfortaa"/>
                <a:ea typeface="Comfortaa"/>
                <a:cs typeface="Comfortaa"/>
                <a:sym typeface="Comfortaa"/>
              </a:rPr>
              <a:t>before discount</a:t>
            </a:r>
            <a:r>
              <a:rPr lang="en-US" sz="2700" b="1">
                <a:solidFill>
                  <a:schemeClr val="dk2"/>
                </a:solidFill>
                <a:latin typeface="Comfortaa"/>
                <a:ea typeface="Comfortaa"/>
                <a:cs typeface="Comfortaa"/>
                <a:sym typeface="Comfortaa"/>
              </a:rPr>
              <a:t>), Net Profit, dan AOV (</a:t>
            </a:r>
            <a:r>
              <a:rPr lang="en-US" sz="2700" b="1" i="1">
                <a:solidFill>
                  <a:schemeClr val="dk2"/>
                </a:solidFill>
                <a:latin typeface="Comfortaa"/>
                <a:ea typeface="Comfortaa"/>
                <a:cs typeface="Comfortaa"/>
                <a:sym typeface="Comfortaa"/>
              </a:rPr>
              <a:t>average order value</a:t>
            </a:r>
            <a:r>
              <a:rPr lang="en-US" sz="2700" b="1">
                <a:solidFill>
                  <a:schemeClr val="dk2"/>
                </a:solidFill>
                <a:latin typeface="Comfortaa"/>
                <a:ea typeface="Comfortaa"/>
                <a:cs typeface="Comfortaa"/>
                <a:sym typeface="Comfortaa"/>
              </a:rPr>
              <a:t>).</a:t>
            </a:r>
            <a:endParaRPr sz="2700" b="1">
              <a:solidFill>
                <a:schemeClr val="dk2"/>
              </a:solidFill>
              <a:latin typeface="Comfortaa"/>
              <a:ea typeface="Comfortaa"/>
              <a:cs typeface="Comfortaa"/>
              <a:sym typeface="Comfortaa"/>
            </a:endParaRPr>
          </a:p>
          <a:p>
            <a:pPr marL="0" marR="0" lvl="0" indent="0" algn="l" rtl="0">
              <a:lnSpc>
                <a:spcPct val="113999"/>
              </a:lnSpc>
              <a:spcBef>
                <a:spcPts val="0"/>
              </a:spcBef>
              <a:spcAft>
                <a:spcPts val="0"/>
              </a:spcAft>
              <a:buNone/>
            </a:pPr>
            <a:endParaRPr sz="5100" b="1">
              <a:solidFill>
                <a:schemeClr val="dk2"/>
              </a:solidFill>
              <a:latin typeface="Comfortaa"/>
              <a:ea typeface="Comfortaa"/>
              <a:cs typeface="Comfortaa"/>
              <a:sym typeface="Comfortaa"/>
            </a:endParaRPr>
          </a:p>
        </p:txBody>
      </p:sp>
      <p:sp>
        <p:nvSpPr>
          <p:cNvPr id="261" name="Google Shape;261;g3d090459189_1_14"/>
          <p:cNvSpPr txBox="1"/>
          <p:nvPr/>
        </p:nvSpPr>
        <p:spPr>
          <a:xfrm>
            <a:off x="171450" y="1510775"/>
            <a:ext cx="15162900" cy="538800"/>
          </a:xfrm>
          <a:prstGeom prst="rect">
            <a:avLst/>
          </a:prstGeom>
          <a:noFill/>
          <a:ln>
            <a:noFill/>
          </a:ln>
        </p:spPr>
        <p:txBody>
          <a:bodyPr spcFirstLastPara="1" wrap="square" lIns="91425" tIns="91425" rIns="91425" bIns="91425" anchor="t" anchorCtr="0">
            <a:spAutoFit/>
          </a:bodyPr>
          <a:lstStyle/>
          <a:p>
            <a:pPr marL="914400" lvl="0" indent="0" algn="just" rtl="0">
              <a:lnSpc>
                <a:spcPct val="140000"/>
              </a:lnSpc>
              <a:spcBef>
                <a:spcPts val="0"/>
              </a:spcBef>
              <a:spcAft>
                <a:spcPts val="0"/>
              </a:spcAft>
              <a:buNone/>
            </a:pPr>
            <a:r>
              <a:rPr lang="en-US" sz="2300" b="1">
                <a:solidFill>
                  <a:srgbClr val="303870"/>
                </a:solidFill>
              </a:rPr>
              <a:t>A.2.) Membuat combo chart</a:t>
            </a:r>
            <a:endParaRPr sz="2300" b="1">
              <a:solidFill>
                <a:srgbClr val="303870"/>
              </a:solidFill>
            </a:endParaRPr>
          </a:p>
        </p:txBody>
      </p:sp>
      <p:sp>
        <p:nvSpPr>
          <p:cNvPr id="262" name="Google Shape;262;g3d090459189_1_14"/>
          <p:cNvSpPr txBox="1"/>
          <p:nvPr/>
        </p:nvSpPr>
        <p:spPr>
          <a:xfrm>
            <a:off x="1832003" y="1983025"/>
            <a:ext cx="13053600" cy="1353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2300">
                <a:solidFill>
                  <a:schemeClr val="dk2"/>
                </a:solidFill>
              </a:rPr>
              <a:t>Pada </a:t>
            </a:r>
            <a:r>
              <a:rPr lang="en-US" sz="2300" b="1">
                <a:solidFill>
                  <a:schemeClr val="dk2"/>
                </a:solidFill>
              </a:rPr>
              <a:t>Combo Chart</a:t>
            </a:r>
            <a:r>
              <a:rPr lang="en-US" sz="2300">
                <a:solidFill>
                  <a:schemeClr val="dk2"/>
                </a:solidFill>
              </a:rPr>
              <a:t>, data ditampilkan dalam bentuk </a:t>
            </a:r>
            <a:r>
              <a:rPr lang="en-US" sz="2300" b="1">
                <a:solidFill>
                  <a:schemeClr val="dk2"/>
                </a:solidFill>
              </a:rPr>
              <a:t>bar dan line</a:t>
            </a:r>
            <a:r>
              <a:rPr lang="en-US" sz="2300">
                <a:solidFill>
                  <a:schemeClr val="dk2"/>
                </a:solidFill>
              </a:rPr>
              <a:t> untuk mempermudah perbandingan antara </a:t>
            </a:r>
            <a:r>
              <a:rPr lang="en-US" sz="2300" i="1">
                <a:solidFill>
                  <a:schemeClr val="dk2"/>
                </a:solidFill>
              </a:rPr>
              <a:t>Value Sales</a:t>
            </a:r>
            <a:r>
              <a:rPr lang="en-US" sz="2300">
                <a:solidFill>
                  <a:schemeClr val="dk2"/>
                </a:solidFill>
              </a:rPr>
              <a:t>, </a:t>
            </a:r>
            <a:r>
              <a:rPr lang="en-US" sz="2300" i="1">
                <a:solidFill>
                  <a:schemeClr val="dk2"/>
                </a:solidFill>
              </a:rPr>
              <a:t>Net Profit</a:t>
            </a:r>
            <a:r>
              <a:rPr lang="en-US" sz="2300">
                <a:solidFill>
                  <a:schemeClr val="dk2"/>
                </a:solidFill>
              </a:rPr>
              <a:t>, dan </a:t>
            </a:r>
            <a:r>
              <a:rPr lang="en-US" sz="2300" i="1">
                <a:solidFill>
                  <a:schemeClr val="dk2"/>
                </a:solidFill>
              </a:rPr>
              <a:t>AOV</a:t>
            </a:r>
            <a:r>
              <a:rPr lang="en-US" sz="2300">
                <a:solidFill>
                  <a:schemeClr val="dk2"/>
                </a:solidFill>
              </a:rPr>
              <a:t>.</a:t>
            </a:r>
            <a:endParaRPr sz="2300">
              <a:solidFill>
                <a:schemeClr val="dk2"/>
              </a:solidFill>
            </a:endParaRPr>
          </a:p>
          <a:p>
            <a:pPr marL="0" lvl="0" indent="0" algn="just" rtl="0">
              <a:lnSpc>
                <a:spcPct val="140000"/>
              </a:lnSpc>
              <a:spcBef>
                <a:spcPts val="0"/>
              </a:spcBef>
              <a:spcAft>
                <a:spcPts val="0"/>
              </a:spcAft>
              <a:buNone/>
            </a:pPr>
            <a:r>
              <a:rPr lang="en-US" sz="2300">
                <a:solidFill>
                  <a:schemeClr val="dk2"/>
                </a:solidFill>
              </a:rPr>
              <a:t>Berikut pembagian tipe visualisasi dan axis pada masing-masing metrik:</a:t>
            </a:r>
            <a:endParaRPr sz="2300">
              <a:solidFill>
                <a:schemeClr val="dk2"/>
              </a:solidFill>
            </a:endParaRPr>
          </a:p>
        </p:txBody>
      </p:sp>
      <p:graphicFrame>
        <p:nvGraphicFramePr>
          <p:cNvPr id="263" name="Google Shape;263;g3d090459189_1_14"/>
          <p:cNvGraphicFramePr/>
          <p:nvPr/>
        </p:nvGraphicFramePr>
        <p:xfrm>
          <a:off x="6576200" y="4487450"/>
          <a:ext cx="3000000" cy="3000000"/>
        </p:xfrm>
        <a:graphic>
          <a:graphicData uri="http://schemas.openxmlformats.org/drawingml/2006/table">
            <a:tbl>
              <a:tblPr>
                <a:noFill/>
                <a:tableStyleId>{6484A38D-38E9-4093-8DEF-69E4C63834CB}</a:tableStyleId>
              </a:tblPr>
              <a:tblGrid>
                <a:gridCol w="2769800">
                  <a:extLst>
                    <a:ext uri="{9D8B030D-6E8A-4147-A177-3AD203B41FA5}">
                      <a16:colId xmlns:a16="http://schemas.microsoft.com/office/drawing/2014/main" val="20000"/>
                    </a:ext>
                  </a:extLst>
                </a:gridCol>
                <a:gridCol w="2769800">
                  <a:extLst>
                    <a:ext uri="{9D8B030D-6E8A-4147-A177-3AD203B41FA5}">
                      <a16:colId xmlns:a16="http://schemas.microsoft.com/office/drawing/2014/main" val="20001"/>
                    </a:ext>
                  </a:extLst>
                </a:gridCol>
                <a:gridCol w="2769800">
                  <a:extLst>
                    <a:ext uri="{9D8B030D-6E8A-4147-A177-3AD203B41FA5}">
                      <a16:colId xmlns:a16="http://schemas.microsoft.com/office/drawing/2014/main" val="20002"/>
                    </a:ext>
                  </a:extLst>
                </a:gridCol>
              </a:tblGrid>
              <a:tr h="521125">
                <a:tc>
                  <a:txBody>
                    <a:bodyPr/>
                    <a:lstStyle/>
                    <a:p>
                      <a:pPr marL="0" lvl="0" indent="0" algn="l" rtl="0">
                        <a:spcBef>
                          <a:spcPts val="0"/>
                        </a:spcBef>
                        <a:spcAft>
                          <a:spcPts val="0"/>
                        </a:spcAft>
                        <a:buNone/>
                      </a:pPr>
                      <a:r>
                        <a:rPr lang="en-US" sz="2000">
                          <a:solidFill>
                            <a:schemeClr val="lt1"/>
                          </a:solidFill>
                        </a:rPr>
                        <a:t>Metric</a:t>
                      </a:r>
                      <a:endParaRPr sz="2000">
                        <a:solidFill>
                          <a:schemeClr val="lt1"/>
                        </a:solidFill>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US" sz="2000">
                          <a:solidFill>
                            <a:schemeClr val="lt1"/>
                          </a:solidFill>
                        </a:rPr>
                        <a:t>Type</a:t>
                      </a:r>
                      <a:endParaRPr sz="2000">
                        <a:solidFill>
                          <a:schemeClr val="lt1"/>
                        </a:solidFill>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US" sz="2000">
                          <a:solidFill>
                            <a:schemeClr val="lt1"/>
                          </a:solidFill>
                        </a:rPr>
                        <a:t>Axis</a:t>
                      </a:r>
                      <a:endParaRPr sz="2000">
                        <a:solidFill>
                          <a:schemeClr val="lt1"/>
                        </a:solidFill>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455975">
                <a:tc>
                  <a:txBody>
                    <a:bodyPr/>
                    <a:lstStyle/>
                    <a:p>
                      <a:pPr marL="0" lvl="0" indent="0" algn="l" rtl="0">
                        <a:spcBef>
                          <a:spcPts val="0"/>
                        </a:spcBef>
                        <a:spcAft>
                          <a:spcPts val="0"/>
                        </a:spcAft>
                        <a:buNone/>
                      </a:pPr>
                      <a:r>
                        <a:rPr lang="en-US" sz="1600">
                          <a:solidFill>
                            <a:schemeClr val="dk2"/>
                          </a:solidFill>
                        </a:rPr>
                        <a:t>Values Sales</a:t>
                      </a:r>
                      <a:endParaRPr sz="1600">
                        <a:solidFill>
                          <a:schemeClr val="dk2"/>
                        </a:solidFill>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en-US" sz="1600">
                          <a:solidFill>
                            <a:schemeClr val="dk2"/>
                          </a:solidFill>
                        </a:rPr>
                        <a:t>Bar</a:t>
                      </a:r>
                      <a:endParaRPr sz="1600">
                        <a:solidFill>
                          <a:schemeClr val="dk2"/>
                        </a:solidFill>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en-US" sz="1600">
                          <a:solidFill>
                            <a:schemeClr val="dk2"/>
                          </a:solidFill>
                        </a:rPr>
                        <a:t>Left</a:t>
                      </a:r>
                      <a:endParaRPr sz="1600">
                        <a:solidFill>
                          <a:schemeClr val="dk2"/>
                        </a:solidFill>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455975">
                <a:tc>
                  <a:txBody>
                    <a:bodyPr/>
                    <a:lstStyle/>
                    <a:p>
                      <a:pPr marL="0" lvl="0" indent="0" algn="l" rtl="0">
                        <a:spcBef>
                          <a:spcPts val="0"/>
                        </a:spcBef>
                        <a:spcAft>
                          <a:spcPts val="0"/>
                        </a:spcAft>
                        <a:buNone/>
                      </a:pPr>
                      <a:r>
                        <a:rPr lang="en-US" sz="1600">
                          <a:solidFill>
                            <a:schemeClr val="dk2"/>
                          </a:solidFill>
                        </a:rPr>
                        <a:t>Net Profit</a:t>
                      </a:r>
                      <a:endParaRPr sz="1600">
                        <a:solidFill>
                          <a:schemeClr val="dk2"/>
                        </a:solidFill>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en-US" sz="1600">
                          <a:solidFill>
                            <a:schemeClr val="dk2"/>
                          </a:solidFill>
                        </a:rPr>
                        <a:t>Bar</a:t>
                      </a:r>
                      <a:endParaRPr sz="1600">
                        <a:solidFill>
                          <a:schemeClr val="dk2"/>
                        </a:solidFill>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en-US" sz="1600">
                          <a:solidFill>
                            <a:schemeClr val="dk2"/>
                          </a:solidFill>
                        </a:rPr>
                        <a:t>Left</a:t>
                      </a:r>
                      <a:endParaRPr sz="1600">
                        <a:solidFill>
                          <a:schemeClr val="dk2"/>
                        </a:solidFill>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2"/>
                    </a:solidFill>
                  </a:tcPr>
                </a:tc>
                <a:extLst>
                  <a:ext uri="{0D108BD9-81ED-4DB2-BD59-A6C34878D82A}">
                    <a16:rowId xmlns:a16="http://schemas.microsoft.com/office/drawing/2014/main" val="10002"/>
                  </a:ext>
                </a:extLst>
              </a:tr>
              <a:tr h="455975">
                <a:tc>
                  <a:txBody>
                    <a:bodyPr/>
                    <a:lstStyle/>
                    <a:p>
                      <a:pPr marL="0" lvl="0" indent="0" algn="l" rtl="0">
                        <a:spcBef>
                          <a:spcPts val="0"/>
                        </a:spcBef>
                        <a:spcAft>
                          <a:spcPts val="0"/>
                        </a:spcAft>
                        <a:buNone/>
                      </a:pPr>
                      <a:r>
                        <a:rPr lang="en-US" sz="1600">
                          <a:solidFill>
                            <a:schemeClr val="dk2"/>
                          </a:solidFill>
                        </a:rPr>
                        <a:t>AOV</a:t>
                      </a:r>
                      <a:endParaRPr sz="1600">
                        <a:solidFill>
                          <a:schemeClr val="dk2"/>
                        </a:solidFill>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en-US" sz="1600">
                          <a:solidFill>
                            <a:schemeClr val="dk2"/>
                          </a:solidFill>
                        </a:rPr>
                        <a:t>Line</a:t>
                      </a:r>
                      <a:endParaRPr sz="1600">
                        <a:solidFill>
                          <a:schemeClr val="dk2"/>
                        </a:solidFill>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en-US" sz="1600">
                          <a:solidFill>
                            <a:schemeClr val="dk2"/>
                          </a:solidFill>
                        </a:rPr>
                        <a:t>Right</a:t>
                      </a:r>
                      <a:endParaRPr sz="1600">
                        <a:solidFill>
                          <a:schemeClr val="dk2"/>
                        </a:solidFill>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lt2"/>
                    </a:solidFill>
                  </a:tcPr>
                </a:tc>
                <a:extLst>
                  <a:ext uri="{0D108BD9-81ED-4DB2-BD59-A6C34878D82A}">
                    <a16:rowId xmlns:a16="http://schemas.microsoft.com/office/drawing/2014/main" val="10003"/>
                  </a:ext>
                </a:extLst>
              </a:tr>
            </a:tbl>
          </a:graphicData>
        </a:graphic>
      </p:graphicFrame>
      <p:pic>
        <p:nvPicPr>
          <p:cNvPr id="264" name="Google Shape;264;g3d090459189_1_14" title="Screenshot 2026-03-17 at 20.55.14.png"/>
          <p:cNvPicPr preferRelativeResize="0"/>
          <p:nvPr/>
        </p:nvPicPr>
        <p:blipFill>
          <a:blip r:embed="rId3">
            <a:alphaModFix/>
          </a:blip>
          <a:stretch>
            <a:fillRect/>
          </a:stretch>
        </p:blipFill>
        <p:spPr>
          <a:xfrm>
            <a:off x="1964900" y="3428991"/>
            <a:ext cx="3488300" cy="3872459"/>
          </a:xfrm>
          <a:prstGeom prst="rect">
            <a:avLst/>
          </a:prstGeom>
          <a:noFill/>
          <a:ln>
            <a:noFill/>
          </a:ln>
        </p:spPr>
      </p:pic>
      <p:pic>
        <p:nvPicPr>
          <p:cNvPr id="265" name="Google Shape;265;g3d090459189_1_14" title="Screenshot 2026-03-17 at 20.57.10.png"/>
          <p:cNvPicPr preferRelativeResize="0"/>
          <p:nvPr/>
        </p:nvPicPr>
        <p:blipFill>
          <a:blip r:embed="rId4">
            <a:alphaModFix/>
          </a:blip>
          <a:stretch>
            <a:fillRect/>
          </a:stretch>
        </p:blipFill>
        <p:spPr>
          <a:xfrm>
            <a:off x="10936150" y="7301450"/>
            <a:ext cx="3845900" cy="2432450"/>
          </a:xfrm>
          <a:prstGeom prst="rect">
            <a:avLst/>
          </a:prstGeom>
          <a:noFill/>
          <a:ln>
            <a:noFill/>
          </a:ln>
        </p:spPr>
      </p:pic>
      <p:sp>
        <p:nvSpPr>
          <p:cNvPr id="266" name="Google Shape;266;g3d090459189_1_14"/>
          <p:cNvSpPr txBox="1"/>
          <p:nvPr/>
        </p:nvSpPr>
        <p:spPr>
          <a:xfrm>
            <a:off x="1832001" y="7680325"/>
            <a:ext cx="7626600" cy="2025600"/>
          </a:xfrm>
          <a:prstGeom prst="rect">
            <a:avLst/>
          </a:prstGeom>
          <a:noFill/>
          <a:ln>
            <a:noFill/>
          </a:ln>
        </p:spPr>
        <p:txBody>
          <a:bodyPr spcFirstLastPara="1" wrap="square" lIns="91425" tIns="91425" rIns="91425" bIns="91425" anchor="t" anchorCtr="0">
            <a:spAutoFit/>
          </a:bodyPr>
          <a:lstStyle/>
          <a:p>
            <a:pPr marL="0" lvl="0" indent="0" algn="just" rtl="0">
              <a:lnSpc>
                <a:spcPct val="140000"/>
              </a:lnSpc>
              <a:spcBef>
                <a:spcPts val="0"/>
              </a:spcBef>
              <a:spcAft>
                <a:spcPts val="0"/>
              </a:spcAft>
              <a:buNone/>
            </a:pPr>
            <a:r>
              <a:rPr lang="en-US" sz="2300">
                <a:solidFill>
                  <a:schemeClr val="dk2"/>
                </a:solidFill>
              </a:rPr>
              <a:t>Selain itu, </a:t>
            </a:r>
            <a:r>
              <a:rPr lang="en-US" sz="2300" b="1">
                <a:solidFill>
                  <a:schemeClr val="dk2"/>
                </a:solidFill>
              </a:rPr>
              <a:t>Combo Chart diurutkan berdasarkan Order Date (Year_Month) secara ascending</a:t>
            </a:r>
            <a:r>
              <a:rPr lang="en-US" sz="2300">
                <a:solidFill>
                  <a:schemeClr val="dk2"/>
                </a:solidFill>
              </a:rPr>
              <a:t> untuk menampilkan urutan waktu dari bulan paling awal hingga bulan paling akhir tahun 2022</a:t>
            </a:r>
            <a:endParaRPr sz="23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270"/>
        <p:cNvGrpSpPr/>
        <p:nvPr/>
      </p:nvGrpSpPr>
      <p:grpSpPr>
        <a:xfrm>
          <a:off x="0" y="0"/>
          <a:ext cx="0" cy="0"/>
          <a:chOff x="0" y="0"/>
          <a:chExt cx="0" cy="0"/>
        </a:xfrm>
      </p:grpSpPr>
      <p:grpSp>
        <p:nvGrpSpPr>
          <p:cNvPr id="271" name="Google Shape;271;g3d090459189_1_36"/>
          <p:cNvGrpSpPr/>
          <p:nvPr/>
        </p:nvGrpSpPr>
        <p:grpSpPr>
          <a:xfrm>
            <a:off x="17259300" y="-361655"/>
            <a:ext cx="3086120" cy="10649165"/>
            <a:chOff x="0" y="-95250"/>
            <a:chExt cx="812800" cy="2804700"/>
          </a:xfrm>
        </p:grpSpPr>
        <p:sp>
          <p:nvSpPr>
            <p:cNvPr id="272" name="Google Shape;272;g3d090459189_1_36"/>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g3d090459189_1_36"/>
            <p:cNvSpPr txBox="1"/>
            <p:nvPr/>
          </p:nvSpPr>
          <p:spPr>
            <a:xfrm>
              <a:off x="0" y="-95250"/>
              <a:ext cx="812700" cy="28047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4" name="Google Shape;274;g3d090459189_1_36"/>
          <p:cNvSpPr txBox="1"/>
          <p:nvPr/>
        </p:nvSpPr>
        <p:spPr>
          <a:xfrm>
            <a:off x="171450" y="375050"/>
            <a:ext cx="15462300" cy="1740900"/>
          </a:xfrm>
          <a:prstGeom prst="rect">
            <a:avLst/>
          </a:prstGeom>
          <a:noFill/>
          <a:ln>
            <a:noFill/>
          </a:ln>
        </p:spPr>
        <p:txBody>
          <a:bodyPr spcFirstLastPara="1" wrap="square" lIns="0" tIns="0" rIns="0" bIns="0" anchor="t" anchorCtr="0">
            <a:spAutoFit/>
          </a:bodyPr>
          <a:lstStyle/>
          <a:p>
            <a:pPr marL="457200" lvl="0" indent="-400050" algn="l" rtl="0">
              <a:lnSpc>
                <a:spcPct val="115000"/>
              </a:lnSpc>
              <a:spcBef>
                <a:spcPts val="0"/>
              </a:spcBef>
              <a:spcAft>
                <a:spcPts val="0"/>
              </a:spcAft>
              <a:buClr>
                <a:schemeClr val="dk2"/>
              </a:buClr>
              <a:buSzPts val="2700"/>
              <a:buFont typeface="Comfortaa"/>
              <a:buAutoNum type="alphaUcPeriod"/>
            </a:pPr>
            <a:r>
              <a:rPr lang="en-US" sz="2700" b="1">
                <a:solidFill>
                  <a:schemeClr val="dk2"/>
                </a:solidFill>
                <a:latin typeface="Comfortaa"/>
                <a:ea typeface="Comfortaa"/>
                <a:cs typeface="Comfortaa"/>
                <a:sym typeface="Comfortaa"/>
              </a:rPr>
              <a:t>Hubungan antara Value Sales (</a:t>
            </a:r>
            <a:r>
              <a:rPr lang="en-US" sz="2700" b="1" i="1">
                <a:solidFill>
                  <a:schemeClr val="dk2"/>
                </a:solidFill>
                <a:latin typeface="Comfortaa"/>
                <a:ea typeface="Comfortaa"/>
                <a:cs typeface="Comfortaa"/>
                <a:sym typeface="Comfortaa"/>
              </a:rPr>
              <a:t>before discount</a:t>
            </a:r>
            <a:r>
              <a:rPr lang="en-US" sz="2700" b="1">
                <a:solidFill>
                  <a:schemeClr val="dk2"/>
                </a:solidFill>
                <a:latin typeface="Comfortaa"/>
                <a:ea typeface="Comfortaa"/>
                <a:cs typeface="Comfortaa"/>
                <a:sym typeface="Comfortaa"/>
              </a:rPr>
              <a:t>), Net Profit, dan AOV (</a:t>
            </a:r>
            <a:r>
              <a:rPr lang="en-US" sz="2700" b="1" i="1">
                <a:solidFill>
                  <a:schemeClr val="dk2"/>
                </a:solidFill>
                <a:latin typeface="Comfortaa"/>
                <a:ea typeface="Comfortaa"/>
                <a:cs typeface="Comfortaa"/>
                <a:sym typeface="Comfortaa"/>
              </a:rPr>
              <a:t>average order value</a:t>
            </a:r>
            <a:r>
              <a:rPr lang="en-US" sz="2700" b="1">
                <a:solidFill>
                  <a:schemeClr val="dk2"/>
                </a:solidFill>
                <a:latin typeface="Comfortaa"/>
                <a:ea typeface="Comfortaa"/>
                <a:cs typeface="Comfortaa"/>
                <a:sym typeface="Comfortaa"/>
              </a:rPr>
              <a:t>).</a:t>
            </a:r>
            <a:endParaRPr sz="2700" b="1">
              <a:solidFill>
                <a:schemeClr val="dk2"/>
              </a:solidFill>
              <a:latin typeface="Comfortaa"/>
              <a:ea typeface="Comfortaa"/>
              <a:cs typeface="Comfortaa"/>
              <a:sym typeface="Comfortaa"/>
            </a:endParaRPr>
          </a:p>
          <a:p>
            <a:pPr marL="0" marR="0" lvl="0" indent="0" algn="l" rtl="0">
              <a:lnSpc>
                <a:spcPct val="113999"/>
              </a:lnSpc>
              <a:spcBef>
                <a:spcPts val="0"/>
              </a:spcBef>
              <a:spcAft>
                <a:spcPts val="0"/>
              </a:spcAft>
              <a:buNone/>
            </a:pPr>
            <a:endParaRPr sz="5100" b="1">
              <a:solidFill>
                <a:schemeClr val="dk2"/>
              </a:solidFill>
              <a:latin typeface="Comfortaa"/>
              <a:ea typeface="Comfortaa"/>
              <a:cs typeface="Comfortaa"/>
              <a:sym typeface="Comfortaa"/>
            </a:endParaRPr>
          </a:p>
        </p:txBody>
      </p:sp>
      <p:sp>
        <p:nvSpPr>
          <p:cNvPr id="275" name="Google Shape;275;g3d090459189_1_36"/>
          <p:cNvSpPr txBox="1"/>
          <p:nvPr/>
        </p:nvSpPr>
        <p:spPr>
          <a:xfrm>
            <a:off x="171450" y="1510775"/>
            <a:ext cx="15162900" cy="538800"/>
          </a:xfrm>
          <a:prstGeom prst="rect">
            <a:avLst/>
          </a:prstGeom>
          <a:noFill/>
          <a:ln>
            <a:noFill/>
          </a:ln>
        </p:spPr>
        <p:txBody>
          <a:bodyPr spcFirstLastPara="1" wrap="square" lIns="91425" tIns="91425" rIns="91425" bIns="91425" anchor="t" anchorCtr="0">
            <a:spAutoFit/>
          </a:bodyPr>
          <a:lstStyle/>
          <a:p>
            <a:pPr marL="914400" lvl="0" indent="0" algn="just" rtl="0">
              <a:lnSpc>
                <a:spcPct val="140000"/>
              </a:lnSpc>
              <a:spcBef>
                <a:spcPts val="0"/>
              </a:spcBef>
              <a:spcAft>
                <a:spcPts val="0"/>
              </a:spcAft>
              <a:buNone/>
            </a:pPr>
            <a:r>
              <a:rPr lang="en-US" sz="2300" b="1">
                <a:solidFill>
                  <a:srgbClr val="303870"/>
                </a:solidFill>
              </a:rPr>
              <a:t>A.2.) Membuat combo chart</a:t>
            </a:r>
            <a:endParaRPr sz="2300" b="1">
              <a:solidFill>
                <a:srgbClr val="303870"/>
              </a:solidFill>
            </a:endParaRPr>
          </a:p>
        </p:txBody>
      </p:sp>
      <p:pic>
        <p:nvPicPr>
          <p:cNvPr id="276" name="Google Shape;276;g3d090459189_1_36" title="Screenshot 2026-03-17 at 20.55.39.png"/>
          <p:cNvPicPr preferRelativeResize="0"/>
          <p:nvPr/>
        </p:nvPicPr>
        <p:blipFill>
          <a:blip r:embed="rId3">
            <a:alphaModFix/>
          </a:blip>
          <a:stretch>
            <a:fillRect/>
          </a:stretch>
        </p:blipFill>
        <p:spPr>
          <a:xfrm>
            <a:off x="898750" y="2910750"/>
            <a:ext cx="15506700" cy="6515100"/>
          </a:xfrm>
          <a:prstGeom prst="rect">
            <a:avLst/>
          </a:prstGeom>
          <a:noFill/>
          <a:ln>
            <a:noFill/>
          </a:ln>
        </p:spPr>
      </p:pic>
      <p:sp>
        <p:nvSpPr>
          <p:cNvPr id="277" name="Google Shape;277;g3d090459189_1_36"/>
          <p:cNvSpPr txBox="1"/>
          <p:nvPr/>
        </p:nvSpPr>
        <p:spPr>
          <a:xfrm>
            <a:off x="1832000" y="1983025"/>
            <a:ext cx="14316300" cy="538800"/>
          </a:xfrm>
          <a:prstGeom prst="rect">
            <a:avLst/>
          </a:prstGeom>
          <a:noFill/>
          <a:ln>
            <a:noFill/>
          </a:ln>
        </p:spPr>
        <p:txBody>
          <a:bodyPr spcFirstLastPara="1" wrap="square" lIns="91425" tIns="91425" rIns="91425" bIns="91425" anchor="t" anchorCtr="0">
            <a:spAutoFit/>
          </a:bodyPr>
          <a:lstStyle/>
          <a:p>
            <a:pPr marL="0" lvl="0" indent="0" algn="just" rtl="0">
              <a:lnSpc>
                <a:spcPct val="140000"/>
              </a:lnSpc>
              <a:spcBef>
                <a:spcPts val="0"/>
              </a:spcBef>
              <a:spcAft>
                <a:spcPts val="0"/>
              </a:spcAft>
              <a:buNone/>
            </a:pPr>
            <a:r>
              <a:rPr lang="en-US" sz="2300">
                <a:solidFill>
                  <a:schemeClr val="dk2"/>
                </a:solidFill>
              </a:rPr>
              <a:t>Ditampilkan combo chart yang diberi judul “Trend Analysis of Values Sales, Net Profit, and AOV (2022)”</a:t>
            </a:r>
            <a:endParaRPr sz="23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281"/>
        <p:cNvGrpSpPr/>
        <p:nvPr/>
      </p:nvGrpSpPr>
      <p:grpSpPr>
        <a:xfrm>
          <a:off x="0" y="0"/>
          <a:ext cx="0" cy="0"/>
          <a:chOff x="0" y="0"/>
          <a:chExt cx="0" cy="0"/>
        </a:xfrm>
      </p:grpSpPr>
      <p:grpSp>
        <p:nvGrpSpPr>
          <p:cNvPr id="282" name="Google Shape;282;g3d090459189_1_51"/>
          <p:cNvGrpSpPr/>
          <p:nvPr/>
        </p:nvGrpSpPr>
        <p:grpSpPr>
          <a:xfrm>
            <a:off x="17259300" y="-361655"/>
            <a:ext cx="3086120" cy="10649165"/>
            <a:chOff x="0" y="-95250"/>
            <a:chExt cx="812800" cy="2804700"/>
          </a:xfrm>
        </p:grpSpPr>
        <p:sp>
          <p:nvSpPr>
            <p:cNvPr id="283" name="Google Shape;283;g3d090459189_1_51"/>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g3d090459189_1_51"/>
            <p:cNvSpPr txBox="1"/>
            <p:nvPr/>
          </p:nvSpPr>
          <p:spPr>
            <a:xfrm>
              <a:off x="0" y="-95250"/>
              <a:ext cx="812700" cy="28047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85" name="Google Shape;285;g3d090459189_1_51"/>
          <p:cNvSpPr txBox="1"/>
          <p:nvPr/>
        </p:nvSpPr>
        <p:spPr>
          <a:xfrm>
            <a:off x="171450" y="375050"/>
            <a:ext cx="15462300" cy="889500"/>
          </a:xfrm>
          <a:prstGeom prst="rect">
            <a:avLst/>
          </a:prstGeom>
          <a:noFill/>
          <a:ln>
            <a:noFill/>
          </a:ln>
        </p:spPr>
        <p:txBody>
          <a:bodyPr spcFirstLastPara="1" wrap="square" lIns="0" tIns="0" rIns="0" bIns="0" anchor="t" anchorCtr="0">
            <a:spAutoFit/>
          </a:bodyPr>
          <a:lstStyle/>
          <a:p>
            <a:pPr marL="971550" marR="0" lvl="0" indent="-971550" algn="l" rtl="0">
              <a:lnSpc>
                <a:spcPct val="113999"/>
              </a:lnSpc>
              <a:spcBef>
                <a:spcPts val="0"/>
              </a:spcBef>
              <a:spcAft>
                <a:spcPts val="0"/>
              </a:spcAft>
              <a:buClr>
                <a:srgbClr val="000000"/>
              </a:buClr>
              <a:buFont typeface="Arial"/>
              <a:buNone/>
            </a:pPr>
            <a:r>
              <a:rPr lang="en-US" sz="2700" b="1">
                <a:solidFill>
                  <a:schemeClr val="dk2"/>
                </a:solidFill>
                <a:latin typeface="Comfortaa"/>
                <a:ea typeface="Comfortaa"/>
                <a:cs typeface="Comfortaa"/>
                <a:sym typeface="Comfortaa"/>
              </a:rPr>
              <a:t>B.      Add Slicer Order Date, Category, Sales Value (before discount), Value                          Transaction, dan Payment.</a:t>
            </a:r>
            <a:endParaRPr sz="5100" b="1">
              <a:solidFill>
                <a:schemeClr val="dk2"/>
              </a:solidFill>
              <a:latin typeface="Comfortaa"/>
              <a:ea typeface="Comfortaa"/>
              <a:cs typeface="Comfortaa"/>
              <a:sym typeface="Comfortaa"/>
            </a:endParaRPr>
          </a:p>
        </p:txBody>
      </p:sp>
      <p:sp>
        <p:nvSpPr>
          <p:cNvPr id="286" name="Google Shape;286;g3d090459189_1_51"/>
          <p:cNvSpPr txBox="1"/>
          <p:nvPr/>
        </p:nvSpPr>
        <p:spPr>
          <a:xfrm>
            <a:off x="171450" y="1510775"/>
            <a:ext cx="15162900" cy="2025600"/>
          </a:xfrm>
          <a:prstGeom prst="rect">
            <a:avLst/>
          </a:prstGeom>
          <a:noFill/>
          <a:ln>
            <a:noFill/>
          </a:ln>
        </p:spPr>
        <p:txBody>
          <a:bodyPr spcFirstLastPara="1" wrap="square" lIns="91425" tIns="91425" rIns="91425" bIns="91425" anchor="t" anchorCtr="0">
            <a:spAutoFit/>
          </a:bodyPr>
          <a:lstStyle/>
          <a:p>
            <a:pPr marL="914400" lvl="0" indent="0" algn="just" rtl="0">
              <a:lnSpc>
                <a:spcPct val="140000"/>
              </a:lnSpc>
              <a:spcBef>
                <a:spcPts val="0"/>
              </a:spcBef>
              <a:spcAft>
                <a:spcPts val="0"/>
              </a:spcAft>
              <a:buNone/>
            </a:pPr>
            <a:r>
              <a:rPr lang="en-US" sz="2300" b="1">
                <a:solidFill>
                  <a:schemeClr val="dk2"/>
                </a:solidFill>
              </a:rPr>
              <a:t>B.1.) Slicer</a:t>
            </a:r>
            <a:r>
              <a:rPr lang="en-US" sz="2300">
                <a:solidFill>
                  <a:schemeClr val="dk2"/>
                </a:solidFill>
              </a:rPr>
              <a:t> berfungsi sebagai alat filter pada dashboard yang memungkinkan pengguna memilih kategori atau nilai tertentu sehingga visualisasi data akan menampilkan informasi sesuai dengan pilihan tersebut Namun, karena pada dataset tidak ada </a:t>
            </a:r>
            <a:r>
              <a:rPr lang="en-US" sz="2300" b="1">
                <a:solidFill>
                  <a:schemeClr val="dk2"/>
                </a:solidFill>
              </a:rPr>
              <a:t>Value Transaction</a:t>
            </a:r>
            <a:r>
              <a:rPr lang="en-US" sz="2300">
                <a:solidFill>
                  <a:schemeClr val="dk2"/>
                </a:solidFill>
              </a:rPr>
              <a:t> maka harus membuat kolom baru dengan </a:t>
            </a:r>
            <a:r>
              <a:rPr lang="en-US" sz="2300" b="1">
                <a:solidFill>
                  <a:schemeClr val="dk2"/>
                </a:solidFill>
              </a:rPr>
              <a:t>menambahkan field. </a:t>
            </a:r>
            <a:endParaRPr sz="2300">
              <a:solidFill>
                <a:schemeClr val="dk2"/>
              </a:solidFill>
            </a:endParaRPr>
          </a:p>
        </p:txBody>
      </p:sp>
      <p:pic>
        <p:nvPicPr>
          <p:cNvPr id="287" name="Google Shape;287;g3d090459189_1_51" title="Screenshot 2026-03-17 at 20.43.59.png"/>
          <p:cNvPicPr preferRelativeResize="0"/>
          <p:nvPr/>
        </p:nvPicPr>
        <p:blipFill>
          <a:blip r:embed="rId3">
            <a:alphaModFix/>
          </a:blip>
          <a:stretch>
            <a:fillRect/>
          </a:stretch>
        </p:blipFill>
        <p:spPr>
          <a:xfrm>
            <a:off x="1162050" y="3910275"/>
            <a:ext cx="6819900" cy="4419600"/>
          </a:xfrm>
          <a:prstGeom prst="rect">
            <a:avLst/>
          </a:prstGeom>
          <a:noFill/>
          <a:ln>
            <a:noFill/>
          </a:ln>
        </p:spPr>
      </p:pic>
      <p:sp>
        <p:nvSpPr>
          <p:cNvPr id="288" name="Google Shape;288;g3d090459189_1_51"/>
          <p:cNvSpPr txBox="1"/>
          <p:nvPr/>
        </p:nvSpPr>
        <p:spPr>
          <a:xfrm>
            <a:off x="8514450" y="4788675"/>
            <a:ext cx="6819900" cy="3016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US" sz="2300">
                <a:solidFill>
                  <a:schemeClr val="dk2"/>
                </a:solidFill>
              </a:rPr>
              <a:t>Field </a:t>
            </a:r>
            <a:r>
              <a:rPr lang="en-US" sz="2300" b="1">
                <a:solidFill>
                  <a:schemeClr val="dk2"/>
                </a:solidFill>
              </a:rPr>
              <a:t>Value Transaction</a:t>
            </a:r>
            <a:r>
              <a:rPr lang="en-US" sz="2300">
                <a:solidFill>
                  <a:schemeClr val="dk2"/>
                </a:solidFill>
              </a:rPr>
              <a:t> dibuat sebagai calculated field untuk mengklasifikasikan transaksi berdasarkan status validitasnya. </a:t>
            </a:r>
            <a:endParaRPr sz="2300">
              <a:solidFill>
                <a:schemeClr val="dk2"/>
              </a:solidFill>
            </a:endParaRPr>
          </a:p>
          <a:p>
            <a:pPr marL="0" lvl="0" indent="0" algn="just" rtl="0">
              <a:spcBef>
                <a:spcPts val="0"/>
              </a:spcBef>
              <a:spcAft>
                <a:spcPts val="0"/>
              </a:spcAft>
              <a:buNone/>
            </a:pPr>
            <a:endParaRPr sz="2300">
              <a:solidFill>
                <a:schemeClr val="dk2"/>
              </a:solidFill>
            </a:endParaRPr>
          </a:p>
          <a:p>
            <a:pPr marL="0" lvl="0" indent="0" algn="just" rtl="0">
              <a:spcBef>
                <a:spcPts val="0"/>
              </a:spcBef>
              <a:spcAft>
                <a:spcPts val="0"/>
              </a:spcAft>
              <a:buNone/>
            </a:pPr>
            <a:r>
              <a:rPr lang="en-US" sz="2300">
                <a:solidFill>
                  <a:schemeClr val="dk2"/>
                </a:solidFill>
              </a:rPr>
              <a:t>Nilai </a:t>
            </a:r>
            <a:r>
              <a:rPr lang="en-US" sz="2300" b="1">
                <a:solidFill>
                  <a:schemeClr val="dk2"/>
                </a:solidFill>
              </a:rPr>
              <a:t>Valid</a:t>
            </a:r>
            <a:r>
              <a:rPr lang="en-US" sz="2300">
                <a:solidFill>
                  <a:schemeClr val="dk2"/>
                </a:solidFill>
              </a:rPr>
              <a:t> menunjukkan transaksi yang berhasil dilakukan pengguna, sedangkan </a:t>
            </a:r>
            <a:r>
              <a:rPr lang="en-US" sz="2300" b="1">
                <a:solidFill>
                  <a:schemeClr val="dk2"/>
                </a:solidFill>
              </a:rPr>
              <a:t>Not Valid</a:t>
            </a:r>
            <a:r>
              <a:rPr lang="en-US" sz="2300">
                <a:solidFill>
                  <a:schemeClr val="dk2"/>
                </a:solidFill>
              </a:rPr>
              <a:t> menunjukkan transaksi yang tidak valid atau tidak berhasil diproses.</a:t>
            </a:r>
            <a:endParaRPr sz="23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292"/>
        <p:cNvGrpSpPr/>
        <p:nvPr/>
      </p:nvGrpSpPr>
      <p:grpSpPr>
        <a:xfrm>
          <a:off x="0" y="0"/>
          <a:ext cx="0" cy="0"/>
          <a:chOff x="0" y="0"/>
          <a:chExt cx="0" cy="0"/>
        </a:xfrm>
      </p:grpSpPr>
      <p:grpSp>
        <p:nvGrpSpPr>
          <p:cNvPr id="293" name="Google Shape;293;g3d090459189_1_70"/>
          <p:cNvGrpSpPr/>
          <p:nvPr/>
        </p:nvGrpSpPr>
        <p:grpSpPr>
          <a:xfrm>
            <a:off x="17259300" y="-361655"/>
            <a:ext cx="3086120" cy="10649165"/>
            <a:chOff x="0" y="-95250"/>
            <a:chExt cx="812800" cy="2804700"/>
          </a:xfrm>
        </p:grpSpPr>
        <p:sp>
          <p:nvSpPr>
            <p:cNvPr id="294" name="Google Shape;294;g3d090459189_1_70"/>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g3d090459189_1_70"/>
            <p:cNvSpPr txBox="1"/>
            <p:nvPr/>
          </p:nvSpPr>
          <p:spPr>
            <a:xfrm>
              <a:off x="0" y="-95250"/>
              <a:ext cx="812700" cy="28047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96" name="Google Shape;296;g3d090459189_1_70"/>
          <p:cNvSpPr txBox="1"/>
          <p:nvPr/>
        </p:nvSpPr>
        <p:spPr>
          <a:xfrm>
            <a:off x="171450" y="375050"/>
            <a:ext cx="15462300" cy="889500"/>
          </a:xfrm>
          <a:prstGeom prst="rect">
            <a:avLst/>
          </a:prstGeom>
          <a:noFill/>
          <a:ln>
            <a:noFill/>
          </a:ln>
        </p:spPr>
        <p:txBody>
          <a:bodyPr spcFirstLastPara="1" wrap="square" lIns="0" tIns="0" rIns="0" bIns="0" anchor="t" anchorCtr="0">
            <a:spAutoFit/>
          </a:bodyPr>
          <a:lstStyle/>
          <a:p>
            <a:pPr marL="971550" marR="0" lvl="0" indent="-971550" algn="l" rtl="0">
              <a:lnSpc>
                <a:spcPct val="113999"/>
              </a:lnSpc>
              <a:spcBef>
                <a:spcPts val="0"/>
              </a:spcBef>
              <a:spcAft>
                <a:spcPts val="0"/>
              </a:spcAft>
              <a:buNone/>
            </a:pPr>
            <a:r>
              <a:rPr lang="en-US" sz="2700" b="1">
                <a:solidFill>
                  <a:schemeClr val="dk2"/>
                </a:solidFill>
                <a:latin typeface="Comfortaa"/>
                <a:ea typeface="Comfortaa"/>
                <a:cs typeface="Comfortaa"/>
                <a:sym typeface="Comfortaa"/>
              </a:rPr>
              <a:t>B.      Add Slicer Order Date, Category, Sales Value (before discount), Value                          Transaction, dan Payment.</a:t>
            </a:r>
            <a:endParaRPr sz="5100" b="1">
              <a:solidFill>
                <a:schemeClr val="dk2"/>
              </a:solidFill>
              <a:latin typeface="Comfortaa"/>
              <a:ea typeface="Comfortaa"/>
              <a:cs typeface="Comfortaa"/>
              <a:sym typeface="Comfortaa"/>
            </a:endParaRPr>
          </a:p>
        </p:txBody>
      </p:sp>
      <p:sp>
        <p:nvSpPr>
          <p:cNvPr id="297" name="Google Shape;297;g3d090459189_1_70"/>
          <p:cNvSpPr txBox="1"/>
          <p:nvPr/>
        </p:nvSpPr>
        <p:spPr>
          <a:xfrm>
            <a:off x="171450" y="1510775"/>
            <a:ext cx="15162900" cy="1530000"/>
          </a:xfrm>
          <a:prstGeom prst="rect">
            <a:avLst/>
          </a:prstGeom>
          <a:noFill/>
          <a:ln>
            <a:noFill/>
          </a:ln>
        </p:spPr>
        <p:txBody>
          <a:bodyPr spcFirstLastPara="1" wrap="square" lIns="91425" tIns="91425" rIns="91425" bIns="91425" anchor="t" anchorCtr="0">
            <a:spAutoFit/>
          </a:bodyPr>
          <a:lstStyle/>
          <a:p>
            <a:pPr marL="914400" lvl="0" indent="0" algn="just" rtl="0">
              <a:lnSpc>
                <a:spcPct val="140000"/>
              </a:lnSpc>
              <a:spcBef>
                <a:spcPts val="0"/>
              </a:spcBef>
              <a:spcAft>
                <a:spcPts val="0"/>
              </a:spcAft>
              <a:buNone/>
            </a:pPr>
            <a:r>
              <a:rPr lang="en-US" sz="2300" b="1">
                <a:solidFill>
                  <a:schemeClr val="dk2"/>
                </a:solidFill>
              </a:rPr>
              <a:t>B.2.) </a:t>
            </a:r>
            <a:r>
              <a:rPr lang="en-US" sz="2300">
                <a:solidFill>
                  <a:schemeClr val="dk2"/>
                </a:solidFill>
              </a:rPr>
              <a:t>Berikut ditampilkan slicer order date dengan menggunakan </a:t>
            </a:r>
            <a:r>
              <a:rPr lang="en-US" sz="2300" b="1">
                <a:solidFill>
                  <a:schemeClr val="dk2"/>
                </a:solidFill>
              </a:rPr>
              <a:t>Date Range Control</a:t>
            </a:r>
            <a:r>
              <a:rPr lang="en-US" sz="2300">
                <a:solidFill>
                  <a:schemeClr val="dk2"/>
                </a:solidFill>
              </a:rPr>
              <a:t>; slicer category, payment, dan value translation dengan  menggunakan </a:t>
            </a:r>
            <a:r>
              <a:rPr lang="en-US" sz="2300" b="1">
                <a:solidFill>
                  <a:schemeClr val="dk2"/>
                </a:solidFill>
              </a:rPr>
              <a:t>Control Drop Down List</a:t>
            </a:r>
            <a:r>
              <a:rPr lang="en-US" sz="2300">
                <a:solidFill>
                  <a:schemeClr val="dk2"/>
                </a:solidFill>
              </a:rPr>
              <a:t>; serta value sales dengan menggunakan </a:t>
            </a:r>
            <a:r>
              <a:rPr lang="en-US" sz="2300" b="1">
                <a:solidFill>
                  <a:schemeClr val="dk2"/>
                </a:solidFill>
              </a:rPr>
              <a:t>Control Slider</a:t>
            </a:r>
            <a:endParaRPr sz="2300" b="1">
              <a:solidFill>
                <a:schemeClr val="dk2"/>
              </a:solidFill>
            </a:endParaRPr>
          </a:p>
        </p:txBody>
      </p:sp>
      <p:pic>
        <p:nvPicPr>
          <p:cNvPr id="298" name="Google Shape;298;g3d090459189_1_70" title="Screenshot 2026-03-17 at 21.37.49.png"/>
          <p:cNvPicPr preferRelativeResize="0"/>
          <p:nvPr/>
        </p:nvPicPr>
        <p:blipFill rotWithShape="1">
          <a:blip r:embed="rId3">
            <a:alphaModFix/>
          </a:blip>
          <a:srcRect r="74749"/>
          <a:stretch/>
        </p:blipFill>
        <p:spPr>
          <a:xfrm>
            <a:off x="1209675" y="3021550"/>
            <a:ext cx="3995851" cy="1405775"/>
          </a:xfrm>
          <a:prstGeom prst="rect">
            <a:avLst/>
          </a:prstGeom>
          <a:noFill/>
          <a:ln>
            <a:noFill/>
          </a:ln>
        </p:spPr>
      </p:pic>
      <p:pic>
        <p:nvPicPr>
          <p:cNvPr id="299" name="Google Shape;299;g3d090459189_1_70" title="Screenshot 2026-03-17 at 21.37.55.png"/>
          <p:cNvPicPr preferRelativeResize="0"/>
          <p:nvPr/>
        </p:nvPicPr>
        <p:blipFill>
          <a:blip r:embed="rId4">
            <a:alphaModFix/>
          </a:blip>
          <a:stretch>
            <a:fillRect/>
          </a:stretch>
        </p:blipFill>
        <p:spPr>
          <a:xfrm>
            <a:off x="1308848" y="8842692"/>
            <a:ext cx="3810000" cy="990600"/>
          </a:xfrm>
          <a:prstGeom prst="rect">
            <a:avLst/>
          </a:prstGeom>
          <a:noFill/>
          <a:ln>
            <a:noFill/>
          </a:ln>
        </p:spPr>
      </p:pic>
      <p:sp>
        <p:nvSpPr>
          <p:cNvPr id="300" name="Google Shape;300;g3d090459189_1_70"/>
          <p:cNvSpPr txBox="1"/>
          <p:nvPr/>
        </p:nvSpPr>
        <p:spPr>
          <a:xfrm>
            <a:off x="6385075" y="6333331"/>
            <a:ext cx="10478100" cy="492600"/>
          </a:xfrm>
          <a:prstGeom prst="rect">
            <a:avLst/>
          </a:prstGeom>
          <a:solidFill>
            <a:schemeClr val="lt2"/>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1000"/>
              </a:spcAft>
              <a:buNone/>
            </a:pPr>
            <a:r>
              <a:rPr lang="en-US" sz="2000" b="1">
                <a:solidFill>
                  <a:schemeClr val="dk2"/>
                </a:solidFill>
              </a:rPr>
              <a:t>Slicer Value Transaction → </a:t>
            </a:r>
            <a:r>
              <a:rPr lang="en-US" sz="2000">
                <a:solidFill>
                  <a:schemeClr val="dk2"/>
                </a:solidFill>
              </a:rPr>
              <a:t>melihat transaksi yang terjadi dan tidak berhasil terjadi</a:t>
            </a:r>
            <a:endParaRPr sz="2000">
              <a:solidFill>
                <a:schemeClr val="dk2"/>
              </a:solidFill>
            </a:endParaRPr>
          </a:p>
        </p:txBody>
      </p:sp>
      <p:pic>
        <p:nvPicPr>
          <p:cNvPr id="301" name="Google Shape;301;g3d090459189_1_70" title="Screenshot 2026-03-17 at 21.37.49.png"/>
          <p:cNvPicPr preferRelativeResize="0"/>
          <p:nvPr/>
        </p:nvPicPr>
        <p:blipFill rotWithShape="1">
          <a:blip r:embed="rId3">
            <a:alphaModFix/>
          </a:blip>
          <a:srcRect l="49887" r="26036"/>
          <a:stretch/>
        </p:blipFill>
        <p:spPr>
          <a:xfrm>
            <a:off x="1264546" y="5876753"/>
            <a:ext cx="3810000" cy="1405775"/>
          </a:xfrm>
          <a:prstGeom prst="rect">
            <a:avLst/>
          </a:prstGeom>
          <a:noFill/>
          <a:ln>
            <a:noFill/>
          </a:ln>
        </p:spPr>
      </p:pic>
      <p:pic>
        <p:nvPicPr>
          <p:cNvPr id="302" name="Google Shape;302;g3d090459189_1_70" title="Screenshot 2026-03-17 at 21.37.49.png"/>
          <p:cNvPicPr preferRelativeResize="0"/>
          <p:nvPr/>
        </p:nvPicPr>
        <p:blipFill rotWithShape="1">
          <a:blip r:embed="rId3">
            <a:alphaModFix/>
          </a:blip>
          <a:srcRect l="25266" r="50657"/>
          <a:stretch/>
        </p:blipFill>
        <p:spPr>
          <a:xfrm>
            <a:off x="1353148" y="4446538"/>
            <a:ext cx="3810000" cy="1405775"/>
          </a:xfrm>
          <a:prstGeom prst="rect">
            <a:avLst/>
          </a:prstGeom>
          <a:noFill/>
          <a:ln>
            <a:noFill/>
          </a:ln>
        </p:spPr>
      </p:pic>
      <p:pic>
        <p:nvPicPr>
          <p:cNvPr id="303" name="Google Shape;303;g3d090459189_1_70" title="Screenshot 2026-03-17 at 21.37.49.png"/>
          <p:cNvPicPr preferRelativeResize="0"/>
          <p:nvPr/>
        </p:nvPicPr>
        <p:blipFill rotWithShape="1">
          <a:blip r:embed="rId3">
            <a:alphaModFix/>
          </a:blip>
          <a:srcRect l="74749"/>
          <a:stretch/>
        </p:blipFill>
        <p:spPr>
          <a:xfrm>
            <a:off x="1242395" y="7329133"/>
            <a:ext cx="3995851" cy="1405775"/>
          </a:xfrm>
          <a:prstGeom prst="rect">
            <a:avLst/>
          </a:prstGeom>
          <a:noFill/>
          <a:ln>
            <a:noFill/>
          </a:ln>
        </p:spPr>
      </p:pic>
      <p:sp>
        <p:nvSpPr>
          <p:cNvPr id="304" name="Google Shape;304;g3d090459189_1_70"/>
          <p:cNvSpPr txBox="1"/>
          <p:nvPr/>
        </p:nvSpPr>
        <p:spPr>
          <a:xfrm>
            <a:off x="6385075" y="3478138"/>
            <a:ext cx="10478100" cy="492600"/>
          </a:xfrm>
          <a:prstGeom prst="rect">
            <a:avLst/>
          </a:prstGeom>
          <a:solidFill>
            <a:schemeClr val="lt2"/>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1000"/>
              </a:spcAft>
              <a:buNone/>
            </a:pPr>
            <a:r>
              <a:rPr lang="en-US" sz="2000" b="1">
                <a:solidFill>
                  <a:schemeClr val="dk2"/>
                </a:solidFill>
              </a:rPr>
              <a:t>Slicer Category</a:t>
            </a:r>
            <a:r>
              <a:rPr lang="en-US" sz="2000">
                <a:solidFill>
                  <a:schemeClr val="dk2"/>
                </a:solidFill>
              </a:rPr>
              <a:t> → melihat penjualan per kategori produk</a:t>
            </a:r>
            <a:endParaRPr sz="2000">
              <a:solidFill>
                <a:schemeClr val="dk2"/>
              </a:solidFill>
            </a:endParaRPr>
          </a:p>
        </p:txBody>
      </p:sp>
      <p:sp>
        <p:nvSpPr>
          <p:cNvPr id="305" name="Google Shape;305;g3d090459189_1_70"/>
          <p:cNvSpPr txBox="1"/>
          <p:nvPr/>
        </p:nvSpPr>
        <p:spPr>
          <a:xfrm>
            <a:off x="6385075" y="4897188"/>
            <a:ext cx="10478100" cy="492600"/>
          </a:xfrm>
          <a:prstGeom prst="rect">
            <a:avLst/>
          </a:prstGeom>
          <a:solidFill>
            <a:schemeClr val="lt2"/>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1000"/>
              </a:spcAft>
              <a:buNone/>
            </a:pPr>
            <a:r>
              <a:rPr lang="en-US" sz="2000" b="1">
                <a:solidFill>
                  <a:schemeClr val="dk2"/>
                </a:solidFill>
              </a:rPr>
              <a:t>Slicer Payment</a:t>
            </a:r>
            <a:r>
              <a:rPr lang="en-US" sz="2000">
                <a:solidFill>
                  <a:schemeClr val="dk2"/>
                </a:solidFill>
              </a:rPr>
              <a:t> → melihat transaksi berdasarkan metode pembayaran</a:t>
            </a:r>
            <a:endParaRPr sz="2000">
              <a:solidFill>
                <a:schemeClr val="dk2"/>
              </a:solidFill>
            </a:endParaRPr>
          </a:p>
        </p:txBody>
      </p:sp>
      <p:sp>
        <p:nvSpPr>
          <p:cNvPr id="306" name="Google Shape;306;g3d090459189_1_70"/>
          <p:cNvSpPr txBox="1"/>
          <p:nvPr/>
        </p:nvSpPr>
        <p:spPr>
          <a:xfrm>
            <a:off x="6407226" y="7697126"/>
            <a:ext cx="10478100" cy="492600"/>
          </a:xfrm>
          <a:prstGeom prst="rect">
            <a:avLst/>
          </a:prstGeom>
          <a:solidFill>
            <a:schemeClr val="lt2"/>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1000"/>
              </a:spcAft>
              <a:buNone/>
            </a:pPr>
            <a:r>
              <a:rPr lang="en-US" sz="2000" b="1">
                <a:solidFill>
                  <a:schemeClr val="dk2"/>
                </a:solidFill>
              </a:rPr>
              <a:t>Slicer Value Sales</a:t>
            </a:r>
            <a:r>
              <a:rPr lang="en-US" sz="2000">
                <a:solidFill>
                  <a:schemeClr val="dk2"/>
                </a:solidFill>
              </a:rPr>
              <a:t> → melihat total transaksi sebelum diskon</a:t>
            </a:r>
            <a:endParaRPr sz="2000">
              <a:solidFill>
                <a:schemeClr val="dk2"/>
              </a:solidFill>
            </a:endParaRPr>
          </a:p>
        </p:txBody>
      </p:sp>
      <p:sp>
        <p:nvSpPr>
          <p:cNvPr id="307" name="Google Shape;307;g3d090459189_1_70"/>
          <p:cNvSpPr txBox="1"/>
          <p:nvPr/>
        </p:nvSpPr>
        <p:spPr>
          <a:xfrm>
            <a:off x="6385075" y="9003095"/>
            <a:ext cx="10478100" cy="492600"/>
          </a:xfrm>
          <a:prstGeom prst="rect">
            <a:avLst/>
          </a:prstGeom>
          <a:solidFill>
            <a:schemeClr val="lt2"/>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1000"/>
              </a:spcAft>
              <a:buNone/>
            </a:pPr>
            <a:r>
              <a:rPr lang="en-US" sz="2000" b="1">
                <a:solidFill>
                  <a:schemeClr val="dk2"/>
                </a:solidFill>
              </a:rPr>
              <a:t>Slicer Date</a:t>
            </a:r>
            <a:r>
              <a:rPr lang="en-US" sz="2000">
                <a:solidFill>
                  <a:schemeClr val="dk2"/>
                </a:solidFill>
              </a:rPr>
              <a:t> → melihat data berdasarkan periode waktu tertentu</a:t>
            </a:r>
            <a:endParaRPr sz="20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311"/>
        <p:cNvGrpSpPr/>
        <p:nvPr/>
      </p:nvGrpSpPr>
      <p:grpSpPr>
        <a:xfrm>
          <a:off x="0" y="0"/>
          <a:ext cx="0" cy="0"/>
          <a:chOff x="0" y="0"/>
          <a:chExt cx="0" cy="0"/>
        </a:xfrm>
      </p:grpSpPr>
      <p:grpSp>
        <p:nvGrpSpPr>
          <p:cNvPr id="312" name="Google Shape;312;g3d090459189_1_92"/>
          <p:cNvGrpSpPr/>
          <p:nvPr/>
        </p:nvGrpSpPr>
        <p:grpSpPr>
          <a:xfrm>
            <a:off x="17259300" y="-361655"/>
            <a:ext cx="3086120" cy="10649165"/>
            <a:chOff x="0" y="-95250"/>
            <a:chExt cx="812800" cy="2804700"/>
          </a:xfrm>
        </p:grpSpPr>
        <p:sp>
          <p:nvSpPr>
            <p:cNvPr id="313" name="Google Shape;313;g3d090459189_1_92"/>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g3d090459189_1_92"/>
            <p:cNvSpPr txBox="1"/>
            <p:nvPr/>
          </p:nvSpPr>
          <p:spPr>
            <a:xfrm>
              <a:off x="0" y="-95250"/>
              <a:ext cx="812700" cy="28047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15" name="Google Shape;315;g3d090459189_1_92"/>
          <p:cNvSpPr txBox="1"/>
          <p:nvPr/>
        </p:nvSpPr>
        <p:spPr>
          <a:xfrm>
            <a:off x="171450" y="375050"/>
            <a:ext cx="15462300" cy="415500"/>
          </a:xfrm>
          <a:prstGeom prst="rect">
            <a:avLst/>
          </a:prstGeom>
          <a:noFill/>
          <a:ln>
            <a:noFill/>
          </a:ln>
        </p:spPr>
        <p:txBody>
          <a:bodyPr spcFirstLastPara="1" wrap="square" lIns="0" tIns="0" rIns="0" bIns="0" anchor="t" anchorCtr="0">
            <a:spAutoFit/>
          </a:bodyPr>
          <a:lstStyle/>
          <a:p>
            <a:pPr marL="971550" marR="0" lvl="0" indent="-971550" algn="l" rtl="0">
              <a:lnSpc>
                <a:spcPct val="113999"/>
              </a:lnSpc>
              <a:spcBef>
                <a:spcPts val="0"/>
              </a:spcBef>
              <a:spcAft>
                <a:spcPts val="0"/>
              </a:spcAft>
              <a:buNone/>
            </a:pPr>
            <a:r>
              <a:rPr lang="en-US" sz="2700" b="1">
                <a:solidFill>
                  <a:schemeClr val="dk2"/>
                </a:solidFill>
                <a:latin typeface="Comfortaa"/>
                <a:ea typeface="Comfortaa"/>
                <a:cs typeface="Comfortaa"/>
                <a:sym typeface="Comfortaa"/>
              </a:rPr>
              <a:t>Add Scorecard</a:t>
            </a:r>
            <a:endParaRPr sz="5100" b="1">
              <a:solidFill>
                <a:schemeClr val="dk2"/>
              </a:solidFill>
              <a:latin typeface="Comfortaa"/>
              <a:ea typeface="Comfortaa"/>
              <a:cs typeface="Comfortaa"/>
              <a:sym typeface="Comfortaa"/>
            </a:endParaRPr>
          </a:p>
        </p:txBody>
      </p:sp>
      <p:sp>
        <p:nvSpPr>
          <p:cNvPr id="316" name="Google Shape;316;g3d090459189_1_92"/>
          <p:cNvSpPr txBox="1"/>
          <p:nvPr/>
        </p:nvSpPr>
        <p:spPr>
          <a:xfrm>
            <a:off x="171450" y="1021700"/>
            <a:ext cx="15162900" cy="1530000"/>
          </a:xfrm>
          <a:prstGeom prst="rect">
            <a:avLst/>
          </a:prstGeom>
          <a:noFill/>
          <a:ln>
            <a:noFill/>
          </a:ln>
        </p:spPr>
        <p:txBody>
          <a:bodyPr spcFirstLastPara="1" wrap="square" lIns="91425" tIns="91425" rIns="91425" bIns="91425" anchor="t" anchorCtr="0">
            <a:spAutoFit/>
          </a:bodyPr>
          <a:lstStyle/>
          <a:p>
            <a:pPr marL="914400" lvl="0" indent="0" algn="just" rtl="0">
              <a:lnSpc>
                <a:spcPct val="140000"/>
              </a:lnSpc>
              <a:spcBef>
                <a:spcPts val="0"/>
              </a:spcBef>
              <a:spcAft>
                <a:spcPts val="0"/>
              </a:spcAft>
              <a:buNone/>
            </a:pPr>
            <a:r>
              <a:rPr lang="en-US" sz="2300">
                <a:solidFill>
                  <a:schemeClr val="dk2"/>
                </a:solidFill>
              </a:rPr>
              <a:t>Pada dashboard, kami juga menambahkan </a:t>
            </a:r>
            <a:r>
              <a:rPr lang="en-US" sz="2300" b="1">
                <a:solidFill>
                  <a:schemeClr val="dk2"/>
                </a:solidFill>
              </a:rPr>
              <a:t>Scorecard</a:t>
            </a:r>
            <a:r>
              <a:rPr lang="en-US" sz="2300">
                <a:solidFill>
                  <a:schemeClr val="dk2"/>
                </a:solidFill>
              </a:rPr>
              <a:t> yang berfungsi untuk menampilkan ringkasan metrik utama (Key Performance Indicator/KPI) secara singkat sehingga pengguna dapat dengan cepat memahami performa data yang ditampilkan. </a:t>
            </a:r>
            <a:endParaRPr sz="2300">
              <a:solidFill>
                <a:schemeClr val="dk2"/>
              </a:solidFill>
            </a:endParaRPr>
          </a:p>
        </p:txBody>
      </p:sp>
      <p:pic>
        <p:nvPicPr>
          <p:cNvPr id="317" name="Google Shape;317;g3d090459189_1_92" title="Screenshot 2026-03-17 at 21.56.48.png"/>
          <p:cNvPicPr preferRelativeResize="0"/>
          <p:nvPr/>
        </p:nvPicPr>
        <p:blipFill>
          <a:blip r:embed="rId3">
            <a:alphaModFix/>
          </a:blip>
          <a:stretch>
            <a:fillRect/>
          </a:stretch>
        </p:blipFill>
        <p:spPr>
          <a:xfrm>
            <a:off x="750475" y="3075825"/>
            <a:ext cx="15887700" cy="2419350"/>
          </a:xfrm>
          <a:prstGeom prst="rect">
            <a:avLst/>
          </a:prstGeom>
          <a:noFill/>
          <a:ln>
            <a:noFill/>
          </a:ln>
        </p:spPr>
      </p:pic>
      <p:sp>
        <p:nvSpPr>
          <p:cNvPr id="318" name="Google Shape;318;g3d090459189_1_92"/>
          <p:cNvSpPr txBox="1"/>
          <p:nvPr/>
        </p:nvSpPr>
        <p:spPr>
          <a:xfrm>
            <a:off x="171450" y="5715075"/>
            <a:ext cx="15162900" cy="2521200"/>
          </a:xfrm>
          <a:prstGeom prst="rect">
            <a:avLst/>
          </a:prstGeom>
          <a:noFill/>
          <a:ln>
            <a:noFill/>
          </a:ln>
        </p:spPr>
        <p:txBody>
          <a:bodyPr spcFirstLastPara="1" wrap="square" lIns="91425" tIns="91425" rIns="91425" bIns="91425" anchor="t" anchorCtr="0">
            <a:spAutoFit/>
          </a:bodyPr>
          <a:lstStyle/>
          <a:p>
            <a:pPr marL="914400" lvl="0" indent="0" algn="just" rtl="0">
              <a:lnSpc>
                <a:spcPct val="140000"/>
              </a:lnSpc>
              <a:spcBef>
                <a:spcPts val="0"/>
              </a:spcBef>
              <a:spcAft>
                <a:spcPts val="0"/>
              </a:spcAft>
              <a:buNone/>
            </a:pPr>
            <a:r>
              <a:rPr lang="en-US" sz="2300" b="1">
                <a:solidFill>
                  <a:schemeClr val="dk2"/>
                </a:solidFill>
              </a:rPr>
              <a:t>Scorecard </a:t>
            </a:r>
            <a:r>
              <a:rPr lang="en-US" sz="2300">
                <a:solidFill>
                  <a:schemeClr val="dk2"/>
                </a:solidFill>
              </a:rPr>
              <a:t>yang digunakan merupakan </a:t>
            </a:r>
            <a:r>
              <a:rPr lang="en-US" sz="2300" b="1">
                <a:solidFill>
                  <a:schemeClr val="dk2"/>
                </a:solidFill>
              </a:rPr>
              <a:t>scorecard tipe pertama (standard)</a:t>
            </a:r>
            <a:r>
              <a:rPr lang="en-US" sz="2300">
                <a:solidFill>
                  <a:schemeClr val="dk2"/>
                </a:solidFill>
              </a:rPr>
              <a:t> yang menampilkan nilai metrik secara lengkap dalam bentuk angka. Berbeda dengan </a:t>
            </a:r>
            <a:r>
              <a:rPr lang="en-US" sz="2300" b="1">
                <a:solidFill>
                  <a:schemeClr val="dk2"/>
                </a:solidFill>
              </a:rPr>
              <a:t>scorecard compact</a:t>
            </a:r>
            <a:r>
              <a:rPr lang="en-US" sz="2300">
                <a:solidFill>
                  <a:schemeClr val="dk2"/>
                </a:solidFill>
              </a:rPr>
              <a:t> yang menyingkat tampilan angka, tipe ini dipilih agar informasi nilai metrik dapat terlihat lebih jelas dan mudah dipahami oleh pengguna.</a:t>
            </a:r>
            <a:endParaRPr sz="2300">
              <a:solidFill>
                <a:schemeClr val="dk2"/>
              </a:solidFill>
            </a:endParaRPr>
          </a:p>
          <a:p>
            <a:pPr marL="914400" lvl="0" indent="0" algn="just" rtl="0">
              <a:lnSpc>
                <a:spcPct val="140000"/>
              </a:lnSpc>
              <a:spcBef>
                <a:spcPts val="0"/>
              </a:spcBef>
              <a:spcAft>
                <a:spcPts val="0"/>
              </a:spcAft>
              <a:buNone/>
            </a:pPr>
            <a:endParaRPr sz="23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322"/>
        <p:cNvGrpSpPr/>
        <p:nvPr/>
      </p:nvGrpSpPr>
      <p:grpSpPr>
        <a:xfrm>
          <a:off x="0" y="0"/>
          <a:ext cx="0" cy="0"/>
          <a:chOff x="0" y="0"/>
          <a:chExt cx="0" cy="0"/>
        </a:xfrm>
      </p:grpSpPr>
      <p:grpSp>
        <p:nvGrpSpPr>
          <p:cNvPr id="323" name="Google Shape;323;g3d774fd106a_3_0"/>
          <p:cNvGrpSpPr/>
          <p:nvPr/>
        </p:nvGrpSpPr>
        <p:grpSpPr>
          <a:xfrm>
            <a:off x="17259300" y="-361655"/>
            <a:ext cx="3086120" cy="10649165"/>
            <a:chOff x="0" y="-95250"/>
            <a:chExt cx="812800" cy="2804700"/>
          </a:xfrm>
        </p:grpSpPr>
        <p:sp>
          <p:nvSpPr>
            <p:cNvPr id="324" name="Google Shape;324;g3d774fd106a_3_0"/>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g3d774fd106a_3_0"/>
            <p:cNvSpPr txBox="1"/>
            <p:nvPr/>
          </p:nvSpPr>
          <p:spPr>
            <a:xfrm>
              <a:off x="0" y="-95250"/>
              <a:ext cx="812700" cy="28047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26" name="Google Shape;326;g3d774fd106a_3_0"/>
          <p:cNvSpPr txBox="1"/>
          <p:nvPr/>
        </p:nvSpPr>
        <p:spPr>
          <a:xfrm>
            <a:off x="0" y="196850"/>
            <a:ext cx="8904900" cy="461700"/>
          </a:xfrm>
          <a:prstGeom prst="rect">
            <a:avLst/>
          </a:prstGeom>
          <a:noFill/>
          <a:ln>
            <a:noFill/>
          </a:ln>
        </p:spPr>
        <p:txBody>
          <a:bodyPr spcFirstLastPara="1" wrap="square" lIns="0" tIns="0" rIns="0" bIns="0" anchor="t" anchorCtr="0">
            <a:spAutoFit/>
          </a:bodyPr>
          <a:lstStyle/>
          <a:p>
            <a:pPr marL="0" marR="0" lvl="0" indent="0" algn="l" rtl="0">
              <a:lnSpc>
                <a:spcPct val="113999"/>
              </a:lnSpc>
              <a:spcBef>
                <a:spcPts val="0"/>
              </a:spcBef>
              <a:spcAft>
                <a:spcPts val="0"/>
              </a:spcAft>
              <a:buNone/>
            </a:pPr>
            <a:r>
              <a:rPr lang="en-US" sz="3000" b="1">
                <a:solidFill>
                  <a:srgbClr val="303870"/>
                </a:solidFill>
              </a:rPr>
              <a:t>OVERVIEW DASHBOARD PAGE 1</a:t>
            </a:r>
            <a:endParaRPr sz="3000"/>
          </a:p>
        </p:txBody>
      </p:sp>
      <p:pic>
        <p:nvPicPr>
          <p:cNvPr id="327" name="Google Shape;327;g3d774fd106a_3_0" title="FINPRO_DATA_VIS_D7-2_page-0001.jpg"/>
          <p:cNvPicPr preferRelativeResize="0"/>
          <p:nvPr/>
        </p:nvPicPr>
        <p:blipFill>
          <a:blip r:embed="rId3">
            <a:alphaModFix/>
          </a:blip>
          <a:stretch>
            <a:fillRect/>
          </a:stretch>
        </p:blipFill>
        <p:spPr>
          <a:xfrm>
            <a:off x="2711375" y="964084"/>
            <a:ext cx="11883384" cy="89172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331"/>
        <p:cNvGrpSpPr/>
        <p:nvPr/>
      </p:nvGrpSpPr>
      <p:grpSpPr>
        <a:xfrm>
          <a:off x="0" y="0"/>
          <a:ext cx="0" cy="0"/>
          <a:chOff x="0" y="0"/>
          <a:chExt cx="0" cy="0"/>
        </a:xfrm>
      </p:grpSpPr>
      <p:grpSp>
        <p:nvGrpSpPr>
          <p:cNvPr id="332" name="Google Shape;332;g3d774fd106a_14_1"/>
          <p:cNvGrpSpPr/>
          <p:nvPr/>
        </p:nvGrpSpPr>
        <p:grpSpPr>
          <a:xfrm>
            <a:off x="17259300" y="-361655"/>
            <a:ext cx="3086120" cy="10649165"/>
            <a:chOff x="0" y="-95250"/>
            <a:chExt cx="812800" cy="2804700"/>
          </a:xfrm>
        </p:grpSpPr>
        <p:sp>
          <p:nvSpPr>
            <p:cNvPr id="333" name="Google Shape;333;g3d774fd106a_14_1"/>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g3d774fd106a_14_1"/>
            <p:cNvSpPr txBox="1"/>
            <p:nvPr/>
          </p:nvSpPr>
          <p:spPr>
            <a:xfrm>
              <a:off x="0" y="-95250"/>
              <a:ext cx="812700" cy="28047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35" name="Google Shape;335;g3d774fd106a_14_1"/>
          <p:cNvSpPr txBox="1"/>
          <p:nvPr/>
        </p:nvSpPr>
        <p:spPr>
          <a:xfrm>
            <a:off x="171450" y="161200"/>
            <a:ext cx="5319600" cy="769500"/>
          </a:xfrm>
          <a:prstGeom prst="rect">
            <a:avLst/>
          </a:prstGeom>
          <a:noFill/>
          <a:ln>
            <a:noFill/>
          </a:ln>
        </p:spPr>
        <p:txBody>
          <a:bodyPr spcFirstLastPara="1" wrap="square" lIns="0" tIns="0" rIns="0" bIns="0" anchor="t" anchorCtr="0">
            <a:spAutoFit/>
          </a:bodyPr>
          <a:lstStyle/>
          <a:p>
            <a:pPr marL="0" marR="0" lvl="0" indent="0" algn="l" rtl="0">
              <a:lnSpc>
                <a:spcPct val="113999"/>
              </a:lnSpc>
              <a:spcBef>
                <a:spcPts val="0"/>
              </a:spcBef>
              <a:spcAft>
                <a:spcPts val="0"/>
              </a:spcAft>
              <a:buNone/>
            </a:pPr>
            <a:r>
              <a:rPr lang="en-US" sz="5000" b="1">
                <a:solidFill>
                  <a:srgbClr val="303870"/>
                </a:solidFill>
              </a:rPr>
              <a:t>Insight</a:t>
            </a:r>
            <a:endParaRPr sz="5000"/>
          </a:p>
        </p:txBody>
      </p:sp>
      <p:sp>
        <p:nvSpPr>
          <p:cNvPr id="336" name="Google Shape;336;g3d774fd106a_14_1"/>
          <p:cNvSpPr txBox="1"/>
          <p:nvPr/>
        </p:nvSpPr>
        <p:spPr>
          <a:xfrm>
            <a:off x="171450" y="1051525"/>
            <a:ext cx="17145000" cy="963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2200">
                <a:solidFill>
                  <a:schemeClr val="dk1"/>
                </a:solidFill>
              </a:rPr>
              <a:t>Ringkasan Angka Utama (Scorecards)</a:t>
            </a:r>
            <a:endParaRPr sz="2200">
              <a:solidFill>
                <a:schemeClr val="dk1"/>
              </a:solidFill>
            </a:endParaRPr>
          </a:p>
          <a:p>
            <a:pPr marL="0" lvl="0" indent="0" algn="l" rtl="0">
              <a:lnSpc>
                <a:spcPct val="115000"/>
              </a:lnSpc>
              <a:spcBef>
                <a:spcPts val="400"/>
              </a:spcBef>
              <a:spcAft>
                <a:spcPts val="1200"/>
              </a:spcAft>
              <a:buNone/>
            </a:pPr>
            <a:r>
              <a:rPr lang="en-US" sz="2200">
                <a:solidFill>
                  <a:schemeClr val="dk1"/>
                </a:solidFill>
              </a:rPr>
              <a:t>Ini adalah </a:t>
            </a:r>
            <a:r>
              <a:rPr lang="en-US" sz="2200" i="1">
                <a:solidFill>
                  <a:schemeClr val="dk1"/>
                </a:solidFill>
              </a:rPr>
              <a:t>Key Performance Indicators</a:t>
            </a:r>
            <a:r>
              <a:rPr lang="en-US" sz="2200">
                <a:solidFill>
                  <a:schemeClr val="dk1"/>
                </a:solidFill>
              </a:rPr>
              <a:t> (KPI) total selama setahun:</a:t>
            </a:r>
            <a:endParaRPr sz="2200">
              <a:solidFill>
                <a:srgbClr val="303870"/>
              </a:solidFill>
            </a:endParaRPr>
          </a:p>
        </p:txBody>
      </p:sp>
      <p:sp>
        <p:nvSpPr>
          <p:cNvPr id="337" name="Google Shape;337;g3d774fd106a_14_1"/>
          <p:cNvSpPr/>
          <p:nvPr/>
        </p:nvSpPr>
        <p:spPr>
          <a:xfrm>
            <a:off x="952825" y="2859650"/>
            <a:ext cx="4458000" cy="3348600"/>
          </a:xfrm>
          <a:prstGeom prst="rect">
            <a:avLst/>
          </a:prstGeom>
          <a:solidFill>
            <a:schemeClr val="lt2"/>
          </a:solidFill>
          <a:ln w="10900" cap="flat" cmpd="sng">
            <a:solidFill>
              <a:schemeClr val="dk2"/>
            </a:solidFill>
            <a:prstDash val="solid"/>
            <a:round/>
            <a:headEnd type="none" w="sm" len="sm"/>
            <a:tailEnd type="none" w="sm" len="sm"/>
          </a:ln>
        </p:spPr>
        <p:txBody>
          <a:bodyPr spcFirstLastPara="1" wrap="square" lIns="104550" tIns="104550" rIns="104550" bIns="104550" anchor="ctr" anchorCtr="0">
            <a:noAutofit/>
          </a:bodyPr>
          <a:lstStyle/>
          <a:p>
            <a:pPr marL="0" lvl="0" indent="0" algn="l" rtl="0">
              <a:lnSpc>
                <a:spcPct val="115000"/>
              </a:lnSpc>
              <a:spcBef>
                <a:spcPts val="0"/>
              </a:spcBef>
              <a:spcAft>
                <a:spcPts val="0"/>
              </a:spcAft>
              <a:buNone/>
            </a:pPr>
            <a:endParaRPr sz="2516">
              <a:solidFill>
                <a:schemeClr val="dk1"/>
              </a:solidFill>
            </a:endParaRPr>
          </a:p>
          <a:p>
            <a:pPr marL="0" lvl="0" indent="0" algn="l" rtl="0">
              <a:lnSpc>
                <a:spcPct val="115000"/>
              </a:lnSpc>
              <a:spcBef>
                <a:spcPts val="1372"/>
              </a:spcBef>
              <a:spcAft>
                <a:spcPts val="0"/>
              </a:spcAft>
              <a:buNone/>
            </a:pPr>
            <a:endParaRPr sz="2516">
              <a:solidFill>
                <a:schemeClr val="dk1"/>
              </a:solidFill>
            </a:endParaRPr>
          </a:p>
          <a:p>
            <a:pPr marL="0" lvl="0" indent="0" algn="l" rtl="0">
              <a:lnSpc>
                <a:spcPct val="115000"/>
              </a:lnSpc>
              <a:spcBef>
                <a:spcPts val="1372"/>
              </a:spcBef>
              <a:spcAft>
                <a:spcPts val="1372"/>
              </a:spcAft>
              <a:buNone/>
            </a:pPr>
            <a:r>
              <a:rPr lang="en-US" sz="2516">
                <a:solidFill>
                  <a:schemeClr val="dk1"/>
                </a:solidFill>
              </a:rPr>
              <a:t>Value Sales (5,14): Total omzet kotor sebelum dikurangi biaya.</a:t>
            </a:r>
            <a:endParaRPr sz="1601">
              <a:latin typeface="Calibri"/>
              <a:ea typeface="Calibri"/>
              <a:cs typeface="Calibri"/>
              <a:sym typeface="Calibri"/>
            </a:endParaRPr>
          </a:p>
        </p:txBody>
      </p:sp>
      <p:pic>
        <p:nvPicPr>
          <p:cNvPr id="338" name="Google Shape;338;g3d774fd106a_14_1"/>
          <p:cNvPicPr preferRelativeResize="0"/>
          <p:nvPr/>
        </p:nvPicPr>
        <p:blipFill>
          <a:blip r:embed="rId3">
            <a:alphaModFix/>
          </a:blip>
          <a:stretch>
            <a:fillRect/>
          </a:stretch>
        </p:blipFill>
        <p:spPr>
          <a:xfrm>
            <a:off x="1504346" y="3002291"/>
            <a:ext cx="3355102" cy="1198251"/>
          </a:xfrm>
          <a:prstGeom prst="rect">
            <a:avLst/>
          </a:prstGeom>
          <a:noFill/>
          <a:ln>
            <a:noFill/>
          </a:ln>
        </p:spPr>
      </p:pic>
      <p:sp>
        <p:nvSpPr>
          <p:cNvPr id="339" name="Google Shape;339;g3d774fd106a_14_1"/>
          <p:cNvSpPr/>
          <p:nvPr/>
        </p:nvSpPr>
        <p:spPr>
          <a:xfrm>
            <a:off x="6333603" y="2859650"/>
            <a:ext cx="4458000" cy="3348600"/>
          </a:xfrm>
          <a:prstGeom prst="rect">
            <a:avLst/>
          </a:prstGeom>
          <a:solidFill>
            <a:schemeClr val="lt2"/>
          </a:solidFill>
          <a:ln w="10900" cap="flat" cmpd="sng">
            <a:solidFill>
              <a:schemeClr val="dk2"/>
            </a:solidFill>
            <a:prstDash val="solid"/>
            <a:round/>
            <a:headEnd type="none" w="sm" len="sm"/>
            <a:tailEnd type="none" w="sm" len="sm"/>
          </a:ln>
        </p:spPr>
        <p:txBody>
          <a:bodyPr spcFirstLastPara="1" wrap="square" lIns="104550" tIns="104550" rIns="104550" bIns="104550" anchor="ctr" anchorCtr="0">
            <a:noAutofit/>
          </a:bodyPr>
          <a:lstStyle/>
          <a:p>
            <a:pPr marL="0" lvl="0" indent="0" algn="l" rtl="0">
              <a:lnSpc>
                <a:spcPct val="115000"/>
              </a:lnSpc>
              <a:spcBef>
                <a:spcPts val="0"/>
              </a:spcBef>
              <a:spcAft>
                <a:spcPts val="0"/>
              </a:spcAft>
              <a:buNone/>
            </a:pPr>
            <a:endParaRPr sz="2516">
              <a:solidFill>
                <a:schemeClr val="dk1"/>
              </a:solidFill>
            </a:endParaRPr>
          </a:p>
          <a:p>
            <a:pPr marL="0" lvl="0" indent="0" algn="l" rtl="0">
              <a:lnSpc>
                <a:spcPct val="115000"/>
              </a:lnSpc>
              <a:spcBef>
                <a:spcPts val="1372"/>
              </a:spcBef>
              <a:spcAft>
                <a:spcPts val="0"/>
              </a:spcAft>
              <a:buNone/>
            </a:pPr>
            <a:endParaRPr sz="2516">
              <a:solidFill>
                <a:schemeClr val="dk1"/>
              </a:solidFill>
            </a:endParaRPr>
          </a:p>
          <a:p>
            <a:pPr marL="0" lvl="0" indent="0" algn="l" rtl="0">
              <a:lnSpc>
                <a:spcPct val="115000"/>
              </a:lnSpc>
              <a:spcBef>
                <a:spcPts val="1372"/>
              </a:spcBef>
              <a:spcAft>
                <a:spcPts val="0"/>
              </a:spcAft>
              <a:buNone/>
            </a:pPr>
            <a:endParaRPr sz="2516">
              <a:solidFill>
                <a:schemeClr val="dk1"/>
              </a:solidFill>
            </a:endParaRPr>
          </a:p>
          <a:p>
            <a:pPr marL="0" lvl="0" indent="0" algn="l" rtl="0">
              <a:lnSpc>
                <a:spcPct val="115000"/>
              </a:lnSpc>
              <a:spcBef>
                <a:spcPts val="1372"/>
              </a:spcBef>
              <a:spcAft>
                <a:spcPts val="0"/>
              </a:spcAft>
              <a:buNone/>
            </a:pPr>
            <a:endParaRPr sz="2516">
              <a:solidFill>
                <a:schemeClr val="dk1"/>
              </a:solidFill>
            </a:endParaRPr>
          </a:p>
          <a:p>
            <a:pPr marL="0" lvl="0" indent="0" algn="l" rtl="0">
              <a:lnSpc>
                <a:spcPct val="115000"/>
              </a:lnSpc>
              <a:spcBef>
                <a:spcPts val="1372"/>
              </a:spcBef>
              <a:spcAft>
                <a:spcPts val="0"/>
              </a:spcAft>
              <a:buNone/>
            </a:pPr>
            <a:r>
              <a:rPr lang="en-US" sz="2516">
                <a:solidFill>
                  <a:schemeClr val="dk1"/>
                </a:solidFill>
              </a:rPr>
              <a:t>Net Profit (1,07): Keuntungan bersih setelah dikurangi harga pokok penjualan (COGS).</a:t>
            </a:r>
            <a:endParaRPr sz="2516">
              <a:solidFill>
                <a:schemeClr val="dk1"/>
              </a:solidFill>
            </a:endParaRPr>
          </a:p>
          <a:p>
            <a:pPr marL="0" lvl="0" indent="0" algn="l" rtl="0">
              <a:lnSpc>
                <a:spcPct val="115000"/>
              </a:lnSpc>
              <a:spcBef>
                <a:spcPts val="1372"/>
              </a:spcBef>
              <a:spcAft>
                <a:spcPts val="1372"/>
              </a:spcAft>
              <a:buNone/>
            </a:pPr>
            <a:endParaRPr sz="2516">
              <a:solidFill>
                <a:schemeClr val="dk1"/>
              </a:solidFill>
            </a:endParaRPr>
          </a:p>
        </p:txBody>
      </p:sp>
      <p:pic>
        <p:nvPicPr>
          <p:cNvPr id="340" name="Google Shape;340;g3d774fd106a_14_1"/>
          <p:cNvPicPr preferRelativeResize="0"/>
          <p:nvPr/>
        </p:nvPicPr>
        <p:blipFill>
          <a:blip r:embed="rId4">
            <a:alphaModFix/>
          </a:blip>
          <a:stretch>
            <a:fillRect/>
          </a:stretch>
        </p:blipFill>
        <p:spPr>
          <a:xfrm>
            <a:off x="6460290" y="3018359"/>
            <a:ext cx="4204770" cy="1427008"/>
          </a:xfrm>
          <a:prstGeom prst="rect">
            <a:avLst/>
          </a:prstGeom>
          <a:noFill/>
          <a:ln>
            <a:noFill/>
          </a:ln>
        </p:spPr>
      </p:pic>
      <p:sp>
        <p:nvSpPr>
          <p:cNvPr id="341" name="Google Shape;341;g3d774fd106a_14_1"/>
          <p:cNvSpPr/>
          <p:nvPr/>
        </p:nvSpPr>
        <p:spPr>
          <a:xfrm>
            <a:off x="11714380" y="2859650"/>
            <a:ext cx="4458000" cy="3348600"/>
          </a:xfrm>
          <a:prstGeom prst="rect">
            <a:avLst/>
          </a:prstGeom>
          <a:solidFill>
            <a:schemeClr val="lt2"/>
          </a:solidFill>
          <a:ln w="10900" cap="flat" cmpd="sng">
            <a:solidFill>
              <a:schemeClr val="dk2"/>
            </a:solidFill>
            <a:prstDash val="solid"/>
            <a:round/>
            <a:headEnd type="none" w="sm" len="sm"/>
            <a:tailEnd type="none" w="sm" len="sm"/>
          </a:ln>
        </p:spPr>
        <p:txBody>
          <a:bodyPr spcFirstLastPara="1" wrap="square" lIns="104550" tIns="104550" rIns="104550" bIns="104550" anchor="ctr" anchorCtr="0">
            <a:noAutofit/>
          </a:bodyPr>
          <a:lstStyle/>
          <a:p>
            <a:pPr marL="0" lvl="0" indent="0" algn="l" rtl="0">
              <a:lnSpc>
                <a:spcPct val="115000"/>
              </a:lnSpc>
              <a:spcBef>
                <a:spcPts val="0"/>
              </a:spcBef>
              <a:spcAft>
                <a:spcPts val="0"/>
              </a:spcAft>
              <a:buNone/>
            </a:pPr>
            <a:endParaRPr sz="2516">
              <a:solidFill>
                <a:schemeClr val="dk1"/>
              </a:solidFill>
            </a:endParaRPr>
          </a:p>
          <a:p>
            <a:pPr marL="0" lvl="0" indent="0" algn="l" rtl="0">
              <a:lnSpc>
                <a:spcPct val="115000"/>
              </a:lnSpc>
              <a:spcBef>
                <a:spcPts val="1372"/>
              </a:spcBef>
              <a:spcAft>
                <a:spcPts val="0"/>
              </a:spcAft>
              <a:buNone/>
            </a:pPr>
            <a:endParaRPr sz="2516">
              <a:solidFill>
                <a:schemeClr val="dk1"/>
              </a:solidFill>
            </a:endParaRPr>
          </a:p>
          <a:p>
            <a:pPr marL="0" lvl="0" indent="0" algn="l" rtl="0">
              <a:lnSpc>
                <a:spcPct val="115000"/>
              </a:lnSpc>
              <a:spcBef>
                <a:spcPts val="1372"/>
              </a:spcBef>
              <a:spcAft>
                <a:spcPts val="0"/>
              </a:spcAft>
              <a:buNone/>
            </a:pPr>
            <a:endParaRPr sz="2516">
              <a:solidFill>
                <a:schemeClr val="dk1"/>
              </a:solidFill>
            </a:endParaRPr>
          </a:p>
          <a:p>
            <a:pPr marL="0" lvl="0" indent="0" algn="l" rtl="0">
              <a:lnSpc>
                <a:spcPct val="115000"/>
              </a:lnSpc>
              <a:spcBef>
                <a:spcPts val="1372"/>
              </a:spcBef>
              <a:spcAft>
                <a:spcPts val="0"/>
              </a:spcAft>
              <a:buNone/>
            </a:pPr>
            <a:r>
              <a:rPr lang="en-US" sz="2516">
                <a:solidFill>
                  <a:schemeClr val="dk1"/>
                </a:solidFill>
              </a:rPr>
              <a:t>AOV (1,6): Rata-rata nilai belanja pelanggan dalam satu kali transaksi.</a:t>
            </a:r>
            <a:endParaRPr sz="2516">
              <a:solidFill>
                <a:schemeClr val="dk1"/>
              </a:solidFill>
            </a:endParaRPr>
          </a:p>
          <a:p>
            <a:pPr marL="0" lvl="0" indent="0" algn="l" rtl="0">
              <a:lnSpc>
                <a:spcPct val="115000"/>
              </a:lnSpc>
              <a:spcBef>
                <a:spcPts val="1372"/>
              </a:spcBef>
              <a:spcAft>
                <a:spcPts val="1372"/>
              </a:spcAft>
              <a:buNone/>
            </a:pPr>
            <a:endParaRPr sz="2516">
              <a:solidFill>
                <a:schemeClr val="dk1"/>
              </a:solidFill>
            </a:endParaRPr>
          </a:p>
        </p:txBody>
      </p:sp>
      <p:pic>
        <p:nvPicPr>
          <p:cNvPr id="342" name="Google Shape;342;g3d774fd106a_14_1"/>
          <p:cNvPicPr preferRelativeResize="0"/>
          <p:nvPr/>
        </p:nvPicPr>
        <p:blipFill>
          <a:blip r:embed="rId5">
            <a:alphaModFix/>
          </a:blip>
          <a:stretch>
            <a:fillRect/>
          </a:stretch>
        </p:blipFill>
        <p:spPr>
          <a:xfrm>
            <a:off x="12178742" y="3055703"/>
            <a:ext cx="3529422" cy="109142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346"/>
        <p:cNvGrpSpPr/>
        <p:nvPr/>
      </p:nvGrpSpPr>
      <p:grpSpPr>
        <a:xfrm>
          <a:off x="0" y="0"/>
          <a:ext cx="0" cy="0"/>
          <a:chOff x="0" y="0"/>
          <a:chExt cx="0" cy="0"/>
        </a:xfrm>
      </p:grpSpPr>
      <p:grpSp>
        <p:nvGrpSpPr>
          <p:cNvPr id="347" name="Google Shape;347;g3d774fd106a_12_3"/>
          <p:cNvGrpSpPr/>
          <p:nvPr/>
        </p:nvGrpSpPr>
        <p:grpSpPr>
          <a:xfrm>
            <a:off x="17259300" y="-361655"/>
            <a:ext cx="3086120" cy="10649165"/>
            <a:chOff x="0" y="-95250"/>
            <a:chExt cx="812800" cy="2804700"/>
          </a:xfrm>
        </p:grpSpPr>
        <p:sp>
          <p:nvSpPr>
            <p:cNvPr id="348" name="Google Shape;348;g3d774fd106a_12_3"/>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g3d774fd106a_12_3"/>
            <p:cNvSpPr txBox="1"/>
            <p:nvPr/>
          </p:nvSpPr>
          <p:spPr>
            <a:xfrm>
              <a:off x="0" y="-95250"/>
              <a:ext cx="812700" cy="28047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50" name="Google Shape;350;g3d774fd106a_12_3"/>
          <p:cNvSpPr txBox="1"/>
          <p:nvPr/>
        </p:nvSpPr>
        <p:spPr>
          <a:xfrm>
            <a:off x="171450" y="161200"/>
            <a:ext cx="5319600" cy="769500"/>
          </a:xfrm>
          <a:prstGeom prst="rect">
            <a:avLst/>
          </a:prstGeom>
          <a:noFill/>
          <a:ln>
            <a:noFill/>
          </a:ln>
        </p:spPr>
        <p:txBody>
          <a:bodyPr spcFirstLastPara="1" wrap="square" lIns="0" tIns="0" rIns="0" bIns="0" anchor="t" anchorCtr="0">
            <a:spAutoFit/>
          </a:bodyPr>
          <a:lstStyle/>
          <a:p>
            <a:pPr marL="0" marR="0" lvl="0" indent="0" algn="l" rtl="0">
              <a:lnSpc>
                <a:spcPct val="113999"/>
              </a:lnSpc>
              <a:spcBef>
                <a:spcPts val="0"/>
              </a:spcBef>
              <a:spcAft>
                <a:spcPts val="0"/>
              </a:spcAft>
              <a:buNone/>
            </a:pPr>
            <a:r>
              <a:rPr lang="en-US" sz="5000" b="1">
                <a:solidFill>
                  <a:srgbClr val="303870"/>
                </a:solidFill>
              </a:rPr>
              <a:t>Insight</a:t>
            </a:r>
            <a:endParaRPr sz="5000"/>
          </a:p>
        </p:txBody>
      </p:sp>
      <p:sp>
        <p:nvSpPr>
          <p:cNvPr id="351" name="Google Shape;351;g3d774fd106a_12_3"/>
          <p:cNvSpPr txBox="1"/>
          <p:nvPr/>
        </p:nvSpPr>
        <p:spPr>
          <a:xfrm>
            <a:off x="171450" y="1104425"/>
            <a:ext cx="17145000" cy="7152900"/>
          </a:xfrm>
          <a:prstGeom prst="rect">
            <a:avLst/>
          </a:prstGeom>
          <a:noFill/>
          <a:ln>
            <a:noFill/>
          </a:ln>
        </p:spPr>
        <p:txBody>
          <a:bodyPr spcFirstLastPara="1" wrap="square" lIns="91425" tIns="91425" rIns="91425" bIns="91425" anchor="t" anchorCtr="0">
            <a:spAutoFit/>
          </a:bodyPr>
          <a:lstStyle/>
          <a:p>
            <a:pPr marL="0" lvl="0" indent="0" algn="l" rtl="0">
              <a:lnSpc>
                <a:spcPct val="140000"/>
              </a:lnSpc>
              <a:spcBef>
                <a:spcPts val="0"/>
              </a:spcBef>
              <a:spcAft>
                <a:spcPts val="0"/>
              </a:spcAft>
              <a:buNone/>
            </a:pPr>
            <a:r>
              <a:rPr lang="en-US" sz="2800" b="1">
                <a:solidFill>
                  <a:srgbClr val="303870"/>
                </a:solidFill>
                <a:latin typeface="Nunito"/>
                <a:ea typeface="Nunito"/>
                <a:cs typeface="Nunito"/>
                <a:sym typeface="Nunito"/>
              </a:rPr>
              <a:t>Analisis Trend yang Terjadi Pada Tahun 2022</a:t>
            </a:r>
            <a:endParaRPr sz="2800" b="1">
              <a:solidFill>
                <a:srgbClr val="303870"/>
              </a:solidFill>
              <a:latin typeface="Nunito"/>
              <a:ea typeface="Nunito"/>
              <a:cs typeface="Nunito"/>
              <a:sym typeface="Nunito"/>
            </a:endParaRPr>
          </a:p>
          <a:p>
            <a:pPr marL="457200" lvl="0" indent="-368300" algn="l" rtl="0">
              <a:lnSpc>
                <a:spcPct val="140000"/>
              </a:lnSpc>
              <a:spcBef>
                <a:spcPts val="0"/>
              </a:spcBef>
              <a:spcAft>
                <a:spcPts val="0"/>
              </a:spcAft>
              <a:buSzPts val="2200"/>
              <a:buAutoNum type="arabicPeriod"/>
            </a:pPr>
            <a:r>
              <a:rPr lang="en-US" sz="2200"/>
              <a:t>Puncak penjualan terjadi pada bulan April dan Agustus. Terdapat 2 lonjakan besar, pada bulan April terdapat kemungkinan didorong oleh musim hari raya (Ramadan/Lebaran), sementara Agustus menunjukkan performa kampanye yang sangat kuat secara volume.</a:t>
            </a:r>
            <a:endParaRPr sz="2200"/>
          </a:p>
          <a:p>
            <a:pPr marL="457200" lvl="0" indent="-368300" algn="l" rtl="0">
              <a:lnSpc>
                <a:spcPct val="140000"/>
              </a:lnSpc>
              <a:spcBef>
                <a:spcPts val="0"/>
              </a:spcBef>
              <a:spcAft>
                <a:spcPts val="0"/>
              </a:spcAft>
              <a:buClr>
                <a:srgbClr val="303870"/>
              </a:buClr>
              <a:buSzPts val="2200"/>
              <a:buFont typeface="Nunito"/>
              <a:buAutoNum type="arabicPeriod"/>
            </a:pPr>
            <a:r>
              <a:rPr lang="en-US" sz="2200">
                <a:solidFill>
                  <a:schemeClr val="dk1"/>
                </a:solidFill>
              </a:rPr>
              <a:t>Lonjakan AOV (Agustus - September): Garis merah menunjukkan bahwa rata-rata belanja per orang meningkat tajam di periode ini. Artinya, strategi bundling atau promosi barang premium berhasil, meskipun profitabilitasnya perlu dikalibrasi ulang.</a:t>
            </a:r>
            <a:endParaRPr sz="2200">
              <a:solidFill>
                <a:schemeClr val="dk1"/>
              </a:solidFill>
            </a:endParaRPr>
          </a:p>
          <a:p>
            <a:pPr marL="457200" lvl="0" indent="-368300" algn="l" rtl="0">
              <a:lnSpc>
                <a:spcPct val="140000"/>
              </a:lnSpc>
              <a:spcBef>
                <a:spcPts val="0"/>
              </a:spcBef>
              <a:spcAft>
                <a:spcPts val="0"/>
              </a:spcAft>
              <a:buClr>
                <a:schemeClr val="dk1"/>
              </a:buClr>
              <a:buSzPts val="2200"/>
              <a:buAutoNum type="arabicPeriod"/>
            </a:pPr>
            <a:r>
              <a:rPr lang="en-US" sz="2200">
                <a:solidFill>
                  <a:schemeClr val="dk1"/>
                </a:solidFill>
              </a:rPr>
              <a:t>Penurunan Akhir Tahun (Oktober - Desember): Terjadi tren penurunan yang konsisten di kuartal terakhir. Kampanye akhir tahun (10.10, 11.11, 12.12) tampaknya tidak memberikan dampak sebesar kampanye di tengah tahun.</a:t>
            </a:r>
            <a:endParaRPr sz="2200">
              <a:solidFill>
                <a:schemeClr val="dk1"/>
              </a:solidFill>
            </a:endParaRPr>
          </a:p>
          <a:p>
            <a:pPr marL="0" lvl="0" indent="0" algn="l" rtl="0">
              <a:lnSpc>
                <a:spcPct val="140000"/>
              </a:lnSpc>
              <a:spcBef>
                <a:spcPts val="0"/>
              </a:spcBef>
              <a:spcAft>
                <a:spcPts val="0"/>
              </a:spcAft>
              <a:buNone/>
            </a:pPr>
            <a:endParaRPr sz="2200">
              <a:solidFill>
                <a:schemeClr val="dk1"/>
              </a:solidFill>
            </a:endParaRPr>
          </a:p>
          <a:p>
            <a:pPr marL="0" lvl="0" indent="0" algn="l" rtl="0">
              <a:lnSpc>
                <a:spcPct val="140000"/>
              </a:lnSpc>
              <a:spcBef>
                <a:spcPts val="0"/>
              </a:spcBef>
              <a:spcAft>
                <a:spcPts val="0"/>
              </a:spcAft>
              <a:buNone/>
            </a:pPr>
            <a:r>
              <a:rPr lang="en-US" sz="2800" b="1">
                <a:solidFill>
                  <a:srgbClr val="303870"/>
                </a:solidFill>
                <a:latin typeface="Nunito"/>
                <a:ea typeface="Nunito"/>
                <a:cs typeface="Nunito"/>
                <a:sym typeface="Nunito"/>
              </a:rPr>
              <a:t>Call to Action</a:t>
            </a:r>
            <a:endParaRPr sz="2800" b="1">
              <a:solidFill>
                <a:srgbClr val="303870"/>
              </a:solidFill>
              <a:latin typeface="Nunito"/>
              <a:ea typeface="Nunito"/>
              <a:cs typeface="Nunito"/>
              <a:sym typeface="Nunito"/>
            </a:endParaRPr>
          </a:p>
          <a:p>
            <a:pPr marL="0" lvl="0" indent="0" algn="l" rtl="0">
              <a:lnSpc>
                <a:spcPct val="140000"/>
              </a:lnSpc>
              <a:spcBef>
                <a:spcPts val="0"/>
              </a:spcBef>
              <a:spcAft>
                <a:spcPts val="0"/>
              </a:spcAft>
              <a:buNone/>
            </a:pPr>
            <a:r>
              <a:rPr lang="en-US" sz="2200"/>
              <a:t>Evaluasi Struktur Diskon (Khusus Kampanye Besar)</a:t>
            </a:r>
            <a:endParaRPr sz="2200"/>
          </a:p>
          <a:p>
            <a:pPr marL="0" lvl="0" indent="0" algn="l" rtl="0">
              <a:lnSpc>
                <a:spcPct val="115000"/>
              </a:lnSpc>
              <a:spcBef>
                <a:spcPts val="1200"/>
              </a:spcBef>
              <a:spcAft>
                <a:spcPts val="0"/>
              </a:spcAft>
              <a:buNone/>
            </a:pPr>
            <a:r>
              <a:rPr lang="en-US" sz="2200">
                <a:solidFill>
                  <a:schemeClr val="dk1"/>
                </a:solidFill>
              </a:rPr>
              <a:t>Keputusan: Audit ulang skema promo untuk kampanye bulan September.</a:t>
            </a:r>
            <a:endParaRPr sz="2200">
              <a:solidFill>
                <a:schemeClr val="dk1"/>
              </a:solidFill>
            </a:endParaRPr>
          </a:p>
          <a:p>
            <a:pPr marL="0" lvl="0" indent="0" algn="l" rtl="0">
              <a:lnSpc>
                <a:spcPct val="115000"/>
              </a:lnSpc>
              <a:spcBef>
                <a:spcPts val="1200"/>
              </a:spcBef>
              <a:spcAft>
                <a:spcPts val="0"/>
              </a:spcAft>
              <a:buNone/>
            </a:pPr>
            <a:r>
              <a:rPr lang="en-US" sz="2200">
                <a:solidFill>
                  <a:schemeClr val="dk1"/>
                </a:solidFill>
              </a:rPr>
              <a:t>Action: Batasi penggunaan "Diskon Langsung" (Direct Discount) dan mulai beralih ke cashback atau loyalty points untuk menjaga margin keuntungan tetap di atas 20% meskipun volume penjualan tinggi.</a:t>
            </a:r>
            <a:endParaRPr sz="2200">
              <a:solidFill>
                <a:schemeClr val="dk1"/>
              </a:solidFill>
            </a:endParaRPr>
          </a:p>
          <a:p>
            <a:pPr marL="457200" lvl="0" indent="0" algn="l" rtl="0">
              <a:lnSpc>
                <a:spcPct val="140000"/>
              </a:lnSpc>
              <a:spcBef>
                <a:spcPts val="1200"/>
              </a:spcBef>
              <a:spcAft>
                <a:spcPts val="0"/>
              </a:spcAft>
              <a:buNone/>
            </a:pPr>
            <a:endParaRPr sz="22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355"/>
        <p:cNvGrpSpPr/>
        <p:nvPr/>
      </p:nvGrpSpPr>
      <p:grpSpPr>
        <a:xfrm>
          <a:off x="0" y="0"/>
          <a:ext cx="0" cy="0"/>
          <a:chOff x="0" y="0"/>
          <a:chExt cx="0" cy="0"/>
        </a:xfrm>
      </p:grpSpPr>
      <p:grpSp>
        <p:nvGrpSpPr>
          <p:cNvPr id="356" name="Google Shape;356;g3d03f543068_9_12"/>
          <p:cNvGrpSpPr/>
          <p:nvPr/>
        </p:nvGrpSpPr>
        <p:grpSpPr>
          <a:xfrm>
            <a:off x="17259300" y="-361655"/>
            <a:ext cx="3086120" cy="10649165"/>
            <a:chOff x="0" y="-95250"/>
            <a:chExt cx="812800" cy="2804700"/>
          </a:xfrm>
        </p:grpSpPr>
        <p:sp>
          <p:nvSpPr>
            <p:cNvPr id="357" name="Google Shape;357;g3d03f543068_9_12"/>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g3d03f543068_9_12"/>
            <p:cNvSpPr txBox="1"/>
            <p:nvPr/>
          </p:nvSpPr>
          <p:spPr>
            <a:xfrm>
              <a:off x="0" y="-95250"/>
              <a:ext cx="812700" cy="28047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59" name="Google Shape;359;g3d03f543068_9_12"/>
          <p:cNvSpPr txBox="1"/>
          <p:nvPr/>
        </p:nvSpPr>
        <p:spPr>
          <a:xfrm>
            <a:off x="171450" y="1104425"/>
            <a:ext cx="17145000" cy="2982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2600">
                <a:solidFill>
                  <a:schemeClr val="dk1"/>
                </a:solidFill>
                <a:latin typeface="Oswald SemiBold"/>
                <a:ea typeface="Oswald SemiBold"/>
                <a:cs typeface="Oswald SemiBold"/>
                <a:sym typeface="Oswald SemiBold"/>
              </a:rPr>
              <a:t>Dear Data Analyst,</a:t>
            </a:r>
            <a:endParaRPr sz="2600">
              <a:solidFill>
                <a:schemeClr val="dk1"/>
              </a:solidFill>
              <a:latin typeface="Oswald SemiBold"/>
              <a:ea typeface="Oswald SemiBold"/>
              <a:cs typeface="Oswald SemiBold"/>
              <a:sym typeface="Oswald SemiBold"/>
            </a:endParaRPr>
          </a:p>
          <a:p>
            <a:pPr marL="0" lvl="0" indent="0" algn="l" rtl="0">
              <a:lnSpc>
                <a:spcPct val="115000"/>
              </a:lnSpc>
              <a:spcBef>
                <a:spcPts val="0"/>
              </a:spcBef>
              <a:spcAft>
                <a:spcPts val="0"/>
              </a:spcAft>
              <a:buClr>
                <a:schemeClr val="dk1"/>
              </a:buClr>
              <a:buSzPts val="1100"/>
              <a:buFont typeface="Arial"/>
              <a:buNone/>
            </a:pPr>
            <a:endParaRPr sz="2600">
              <a:solidFill>
                <a:schemeClr val="dk1"/>
              </a:solidFill>
              <a:latin typeface="Oswald SemiBold"/>
              <a:ea typeface="Oswald SemiBold"/>
              <a:cs typeface="Oswald SemiBold"/>
              <a:sym typeface="Oswald SemiBold"/>
            </a:endParaRPr>
          </a:p>
          <a:p>
            <a:pPr marL="0" lvl="0" indent="0" algn="just" rtl="0">
              <a:lnSpc>
                <a:spcPct val="115000"/>
              </a:lnSpc>
              <a:spcBef>
                <a:spcPts val="0"/>
              </a:spcBef>
              <a:spcAft>
                <a:spcPts val="0"/>
              </a:spcAft>
              <a:buClr>
                <a:schemeClr val="dk1"/>
              </a:buClr>
              <a:buSzPts val="1100"/>
              <a:buFont typeface="Arial"/>
              <a:buNone/>
            </a:pPr>
            <a:r>
              <a:rPr lang="en-US" sz="2600">
                <a:solidFill>
                  <a:schemeClr val="dk1"/>
                </a:solidFill>
                <a:latin typeface="Oswald SemiBold"/>
                <a:ea typeface="Oswald SemiBold"/>
                <a:cs typeface="Oswald SemiBold"/>
                <a:sym typeface="Oswald SemiBold"/>
              </a:rPr>
              <a:t>Menindaklanjuti meeting gabungan kemarin, kami akan membuat suatu dashboard untuk memantau dan mengevaluasi pencapaian penjualan tiap bulannya. Dalam dashboard tersebut akan terdiri dari 2 halaman dan dibuat dengan menggunakan </a:t>
            </a:r>
            <a:r>
              <a:rPr lang="en-US" sz="2600" u="sng">
                <a:solidFill>
                  <a:srgbClr val="1155CC"/>
                </a:solidFill>
                <a:latin typeface="Oswald SemiBold"/>
                <a:ea typeface="Oswald SemiBold"/>
                <a:cs typeface="Oswald SemiBold"/>
                <a:sym typeface="Oswald SemiBold"/>
                <a:hlinkClick r:id="rId3">
                  <a:extLst>
                    <a:ext uri="{A12FA001-AC4F-418D-AE19-62706E023703}">
                      <ahyp:hlinkClr xmlns:ahyp="http://schemas.microsoft.com/office/drawing/2018/hyperlinkcolor" val="tx"/>
                    </a:ext>
                  </a:extLst>
                </a:hlinkClick>
              </a:rPr>
              <a:t>lookerstudio.google.com</a:t>
            </a:r>
            <a:r>
              <a:rPr lang="en-US" sz="2600">
                <a:solidFill>
                  <a:srgbClr val="68615E"/>
                </a:solidFill>
                <a:highlight>
                  <a:srgbClr val="F1EFEE"/>
                </a:highlight>
                <a:latin typeface="Oswald SemiBold"/>
                <a:ea typeface="Oswald SemiBold"/>
                <a:cs typeface="Oswald SemiBold"/>
                <a:sym typeface="Oswald SemiBold"/>
              </a:rPr>
              <a:t>.</a:t>
            </a:r>
            <a:endParaRPr sz="2600">
              <a:solidFill>
                <a:schemeClr val="dk1"/>
              </a:solidFill>
              <a:latin typeface="Oswald SemiBold"/>
              <a:ea typeface="Oswald SemiBold"/>
              <a:cs typeface="Oswald SemiBold"/>
              <a:sym typeface="Oswald SemiBold"/>
            </a:endParaRPr>
          </a:p>
          <a:p>
            <a:pPr marL="0" lvl="0" indent="0" algn="l" rtl="0">
              <a:lnSpc>
                <a:spcPct val="140000"/>
              </a:lnSpc>
              <a:spcBef>
                <a:spcPts val="0"/>
              </a:spcBef>
              <a:spcAft>
                <a:spcPts val="0"/>
              </a:spcAft>
              <a:buNone/>
            </a:pPr>
            <a:endParaRPr sz="3230">
              <a:solidFill>
                <a:schemeClr val="dk1"/>
              </a:solidFill>
              <a:latin typeface="Oswald SemiBold"/>
              <a:ea typeface="Oswald SemiBold"/>
              <a:cs typeface="Oswald SemiBold"/>
              <a:sym typeface="Oswald SemiBold"/>
            </a:endParaRPr>
          </a:p>
        </p:txBody>
      </p:sp>
      <p:sp>
        <p:nvSpPr>
          <p:cNvPr id="360" name="Google Shape;360;g3d03f543068_9_12"/>
          <p:cNvSpPr txBox="1"/>
          <p:nvPr/>
        </p:nvSpPr>
        <p:spPr>
          <a:xfrm>
            <a:off x="8776850" y="5071575"/>
            <a:ext cx="8671500" cy="4824000"/>
          </a:xfrm>
          <a:prstGeom prst="rect">
            <a:avLst/>
          </a:prstGeom>
          <a:noFill/>
          <a:ln>
            <a:noFill/>
          </a:ln>
        </p:spPr>
        <p:txBody>
          <a:bodyPr spcFirstLastPara="1" wrap="square" lIns="91425" tIns="91425" rIns="91425" bIns="91425" anchor="t" anchorCtr="0">
            <a:spAutoFit/>
          </a:bodyPr>
          <a:lstStyle/>
          <a:p>
            <a:pPr marL="179999" lvl="0" indent="0" algn="l" rtl="0">
              <a:lnSpc>
                <a:spcPct val="115000"/>
              </a:lnSpc>
              <a:spcBef>
                <a:spcPts val="0"/>
              </a:spcBef>
              <a:spcAft>
                <a:spcPts val="0"/>
              </a:spcAft>
              <a:buNone/>
            </a:pPr>
            <a:r>
              <a:rPr lang="en-US" sz="2600">
                <a:solidFill>
                  <a:schemeClr val="dk1"/>
                </a:solidFill>
                <a:latin typeface="Oswald SemiBold"/>
                <a:ea typeface="Oswald SemiBold"/>
                <a:cs typeface="Oswald SemiBold"/>
                <a:sym typeface="Oswald SemiBold"/>
              </a:rPr>
              <a:t>b. Terdapat slicer: Order Date, Category, Value Transaction, Payment</a:t>
            </a:r>
            <a:endParaRPr sz="2600">
              <a:solidFill>
                <a:schemeClr val="dk1"/>
              </a:solidFill>
              <a:latin typeface="Oswald SemiBold"/>
              <a:ea typeface="Oswald SemiBold"/>
              <a:cs typeface="Oswald SemiBold"/>
              <a:sym typeface="Oswald SemiBold"/>
            </a:endParaRPr>
          </a:p>
          <a:p>
            <a:pPr marL="179999" lvl="0" indent="0" algn="l" rtl="0">
              <a:lnSpc>
                <a:spcPct val="115000"/>
              </a:lnSpc>
              <a:spcBef>
                <a:spcPts val="0"/>
              </a:spcBef>
              <a:spcAft>
                <a:spcPts val="0"/>
              </a:spcAft>
              <a:buNone/>
            </a:pPr>
            <a:r>
              <a:rPr lang="en-US" sz="2600">
                <a:solidFill>
                  <a:schemeClr val="dk1"/>
                </a:solidFill>
                <a:latin typeface="Oswald SemiBold"/>
                <a:ea typeface="Oswald SemiBold"/>
                <a:cs typeface="Oswald SemiBold"/>
                <a:sym typeface="Oswald SemiBold"/>
              </a:rPr>
              <a:t>c. Scorecard:</a:t>
            </a:r>
            <a:endParaRPr sz="2600">
              <a:solidFill>
                <a:schemeClr val="dk1"/>
              </a:solidFill>
              <a:latin typeface="Oswald SemiBold"/>
              <a:ea typeface="Oswald SemiBold"/>
              <a:cs typeface="Oswald SemiBold"/>
              <a:sym typeface="Oswald SemiBold"/>
            </a:endParaRPr>
          </a:p>
          <a:p>
            <a:pPr marL="914400" lvl="0" indent="-393700" algn="l" rtl="0">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Before Discount</a:t>
            </a:r>
            <a:endParaRPr sz="2600">
              <a:solidFill>
                <a:schemeClr val="dk1"/>
              </a:solidFill>
              <a:latin typeface="Oswald SemiBold"/>
              <a:ea typeface="Oswald SemiBold"/>
              <a:cs typeface="Oswald SemiBold"/>
              <a:sym typeface="Oswald SemiBold"/>
            </a:endParaRPr>
          </a:p>
          <a:p>
            <a:pPr marL="914400" lvl="0" indent="-393700" algn="l" rtl="0">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After Discount</a:t>
            </a:r>
            <a:endParaRPr sz="2600">
              <a:solidFill>
                <a:schemeClr val="dk1"/>
              </a:solidFill>
              <a:latin typeface="Oswald SemiBold"/>
              <a:ea typeface="Oswald SemiBold"/>
              <a:cs typeface="Oswald SemiBold"/>
              <a:sym typeface="Oswald SemiBold"/>
            </a:endParaRPr>
          </a:p>
          <a:p>
            <a:pPr marL="914400" lvl="0" indent="-393700" algn="l" rtl="0">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Net Profit</a:t>
            </a:r>
            <a:endParaRPr sz="2600">
              <a:solidFill>
                <a:schemeClr val="dk1"/>
              </a:solidFill>
              <a:latin typeface="Oswald SemiBold"/>
              <a:ea typeface="Oswald SemiBold"/>
              <a:cs typeface="Oswald SemiBold"/>
              <a:sym typeface="Oswald SemiBold"/>
            </a:endParaRPr>
          </a:p>
          <a:p>
            <a:pPr marL="914400" lvl="0" indent="-393700" algn="l" rtl="0">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Quantity</a:t>
            </a:r>
            <a:endParaRPr sz="2600">
              <a:solidFill>
                <a:schemeClr val="dk1"/>
              </a:solidFill>
              <a:latin typeface="Oswald SemiBold"/>
              <a:ea typeface="Oswald SemiBold"/>
              <a:cs typeface="Oswald SemiBold"/>
              <a:sym typeface="Oswald SemiBold"/>
            </a:endParaRPr>
          </a:p>
          <a:p>
            <a:pPr marL="914400" lvl="0" indent="-393700" algn="l" rtl="0">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Customer (</a:t>
            </a:r>
            <a:r>
              <a:rPr lang="en-US" sz="2600" i="1">
                <a:solidFill>
                  <a:schemeClr val="dk1"/>
                </a:solidFill>
                <a:latin typeface="Oswald SemiBold"/>
                <a:ea typeface="Oswald SemiBold"/>
                <a:cs typeface="Oswald SemiBold"/>
                <a:sym typeface="Oswald SemiBold"/>
              </a:rPr>
              <a:t>unique value)</a:t>
            </a:r>
            <a:endParaRPr sz="2600">
              <a:solidFill>
                <a:schemeClr val="dk1"/>
              </a:solidFill>
              <a:latin typeface="Oswald SemiBold"/>
              <a:ea typeface="Oswald SemiBold"/>
              <a:cs typeface="Oswald SemiBold"/>
              <a:sym typeface="Oswald SemiBold"/>
            </a:endParaRPr>
          </a:p>
          <a:p>
            <a:pPr marL="914400" lvl="0" indent="-393700" algn="l" rtl="0">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AOV</a:t>
            </a:r>
            <a:endParaRPr sz="4100">
              <a:solidFill>
                <a:schemeClr val="dk1"/>
              </a:solidFill>
              <a:latin typeface="Oswald SemiBold"/>
              <a:ea typeface="Oswald SemiBold"/>
              <a:cs typeface="Oswald SemiBold"/>
              <a:sym typeface="Oswald SemiBold"/>
            </a:endParaRPr>
          </a:p>
          <a:p>
            <a:pPr marL="0" lvl="0" indent="0" algn="l" rtl="0">
              <a:lnSpc>
                <a:spcPct val="140000"/>
              </a:lnSpc>
              <a:spcBef>
                <a:spcPts val="0"/>
              </a:spcBef>
              <a:spcAft>
                <a:spcPts val="0"/>
              </a:spcAft>
              <a:buNone/>
            </a:pPr>
            <a:endParaRPr sz="3230">
              <a:solidFill>
                <a:srgbClr val="303870"/>
              </a:solidFill>
              <a:latin typeface="Nunito"/>
              <a:ea typeface="Nunito"/>
              <a:cs typeface="Nunito"/>
              <a:sym typeface="Nunito"/>
            </a:endParaRPr>
          </a:p>
        </p:txBody>
      </p:sp>
      <p:sp>
        <p:nvSpPr>
          <p:cNvPr id="361" name="Google Shape;361;g3d03f543068_9_12"/>
          <p:cNvSpPr txBox="1"/>
          <p:nvPr/>
        </p:nvSpPr>
        <p:spPr>
          <a:xfrm>
            <a:off x="368150" y="3896975"/>
            <a:ext cx="8671500" cy="5767800"/>
          </a:xfrm>
          <a:prstGeom prst="rect">
            <a:avLst/>
          </a:prstGeom>
          <a:noFill/>
          <a:ln>
            <a:noFill/>
          </a:ln>
        </p:spPr>
        <p:txBody>
          <a:bodyPr spcFirstLastPara="1" wrap="square" lIns="91425" tIns="91425" rIns="91425" bIns="91425" anchor="t" anchorCtr="0">
            <a:spAutoFit/>
          </a:bodyPr>
          <a:lstStyle/>
          <a:p>
            <a:pPr marL="0" lvl="0" indent="0" algn="l" rtl="0">
              <a:lnSpc>
                <a:spcPct val="140000"/>
              </a:lnSpc>
              <a:spcBef>
                <a:spcPts val="0"/>
              </a:spcBef>
              <a:spcAft>
                <a:spcPts val="0"/>
              </a:spcAft>
              <a:buNone/>
            </a:pPr>
            <a:r>
              <a:rPr lang="en-US" sz="3230">
                <a:solidFill>
                  <a:schemeClr val="dk1"/>
                </a:solidFill>
                <a:latin typeface="Oswald SemiBold"/>
                <a:ea typeface="Oswald SemiBold"/>
                <a:cs typeface="Oswald SemiBold"/>
                <a:sym typeface="Oswald SemiBold"/>
              </a:rPr>
              <a:t>Halaman 2:</a:t>
            </a:r>
            <a:endParaRPr sz="2600">
              <a:solidFill>
                <a:schemeClr val="dk1"/>
              </a:solidFill>
              <a:latin typeface="Oswald SemiBold"/>
              <a:ea typeface="Oswald SemiBold"/>
              <a:cs typeface="Oswald SemiBold"/>
              <a:sym typeface="Oswald SemiBold"/>
            </a:endParaRPr>
          </a:p>
          <a:p>
            <a:pPr marL="0" lvl="0" indent="0" algn="l" rtl="0">
              <a:lnSpc>
                <a:spcPct val="115000"/>
              </a:lnSpc>
              <a:spcBef>
                <a:spcPts val="0"/>
              </a:spcBef>
              <a:spcAft>
                <a:spcPts val="0"/>
              </a:spcAft>
              <a:buNone/>
            </a:pPr>
            <a:r>
              <a:rPr lang="en-US" sz="2600">
                <a:solidFill>
                  <a:schemeClr val="dk1"/>
                </a:solidFill>
                <a:latin typeface="Oswald SemiBold"/>
                <a:ea typeface="Oswald SemiBold"/>
                <a:cs typeface="Oswald SemiBold"/>
                <a:sym typeface="Oswald SemiBold"/>
              </a:rPr>
              <a:t>Dapat memperlihatkan:</a:t>
            </a:r>
            <a:endParaRPr sz="2600">
              <a:solidFill>
                <a:schemeClr val="dk1"/>
              </a:solidFill>
              <a:latin typeface="Oswald SemiBold"/>
              <a:ea typeface="Oswald SemiBold"/>
              <a:cs typeface="Oswald SemiBold"/>
              <a:sym typeface="Oswald SemiBold"/>
            </a:endParaRPr>
          </a:p>
          <a:p>
            <a:pPr marL="457200" lvl="0" indent="-393700" algn="l" rtl="0">
              <a:lnSpc>
                <a:spcPct val="115000"/>
              </a:lnSpc>
              <a:spcBef>
                <a:spcPts val="0"/>
              </a:spcBef>
              <a:spcAft>
                <a:spcPts val="0"/>
              </a:spcAft>
              <a:buClr>
                <a:schemeClr val="dk1"/>
              </a:buClr>
              <a:buSzPts val="2600"/>
              <a:buFont typeface="Oswald SemiBold"/>
              <a:buAutoNum type="alphaLcPeriod"/>
            </a:pPr>
            <a:r>
              <a:rPr lang="en-US" sz="2600">
                <a:solidFill>
                  <a:schemeClr val="dk1"/>
                </a:solidFill>
                <a:latin typeface="Oswald SemiBold"/>
                <a:ea typeface="Oswald SemiBold"/>
                <a:cs typeface="Oswald SemiBold"/>
                <a:sym typeface="Oswald SemiBold"/>
              </a:rPr>
              <a:t>Tabel berisi:</a:t>
            </a:r>
            <a:endParaRPr sz="2600">
              <a:solidFill>
                <a:schemeClr val="dk1"/>
              </a:solidFill>
              <a:latin typeface="Oswald SemiBold"/>
              <a:ea typeface="Oswald SemiBold"/>
              <a:cs typeface="Oswald SemiBold"/>
              <a:sym typeface="Oswald SemiBold"/>
            </a:endParaRPr>
          </a:p>
          <a:p>
            <a:pPr marL="914400" lvl="0" indent="-393700" algn="l" rtl="0">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Product Name</a:t>
            </a:r>
            <a:endParaRPr sz="2600">
              <a:solidFill>
                <a:schemeClr val="dk1"/>
              </a:solidFill>
              <a:latin typeface="Oswald SemiBold"/>
              <a:ea typeface="Oswald SemiBold"/>
              <a:cs typeface="Oswald SemiBold"/>
              <a:sym typeface="Oswald SemiBold"/>
            </a:endParaRPr>
          </a:p>
          <a:p>
            <a:pPr marL="914400" lvl="0" indent="-393700" algn="l" rtl="0">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Category</a:t>
            </a:r>
            <a:endParaRPr sz="2600">
              <a:solidFill>
                <a:schemeClr val="dk1"/>
              </a:solidFill>
              <a:latin typeface="Oswald SemiBold"/>
              <a:ea typeface="Oswald SemiBold"/>
              <a:cs typeface="Oswald SemiBold"/>
              <a:sym typeface="Oswald SemiBold"/>
            </a:endParaRPr>
          </a:p>
          <a:p>
            <a:pPr marL="914400" lvl="0" indent="-393700" algn="l" rtl="0">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Before Discount</a:t>
            </a:r>
            <a:endParaRPr sz="2600">
              <a:solidFill>
                <a:schemeClr val="dk1"/>
              </a:solidFill>
              <a:latin typeface="Oswald SemiBold"/>
              <a:ea typeface="Oswald SemiBold"/>
              <a:cs typeface="Oswald SemiBold"/>
              <a:sym typeface="Oswald SemiBold"/>
            </a:endParaRPr>
          </a:p>
          <a:p>
            <a:pPr marL="914400" lvl="0" indent="-393700" algn="l" rtl="0">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After Discount</a:t>
            </a:r>
            <a:endParaRPr sz="2600">
              <a:solidFill>
                <a:schemeClr val="dk1"/>
              </a:solidFill>
              <a:latin typeface="Oswald SemiBold"/>
              <a:ea typeface="Oswald SemiBold"/>
              <a:cs typeface="Oswald SemiBold"/>
              <a:sym typeface="Oswald SemiBold"/>
            </a:endParaRPr>
          </a:p>
          <a:p>
            <a:pPr marL="914400" lvl="0" indent="-393700" algn="l" rtl="0">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Net Profit</a:t>
            </a:r>
            <a:endParaRPr sz="2600">
              <a:solidFill>
                <a:schemeClr val="dk1"/>
              </a:solidFill>
              <a:latin typeface="Oswald SemiBold"/>
              <a:ea typeface="Oswald SemiBold"/>
              <a:cs typeface="Oswald SemiBold"/>
              <a:sym typeface="Oswald SemiBold"/>
            </a:endParaRPr>
          </a:p>
          <a:p>
            <a:pPr marL="914400" lvl="0" indent="-393700" algn="l" rtl="0">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Qty</a:t>
            </a:r>
            <a:endParaRPr sz="2600">
              <a:solidFill>
                <a:schemeClr val="dk1"/>
              </a:solidFill>
              <a:latin typeface="Oswald SemiBold"/>
              <a:ea typeface="Oswald SemiBold"/>
              <a:cs typeface="Oswald SemiBold"/>
              <a:sym typeface="Oswald SemiBold"/>
            </a:endParaRPr>
          </a:p>
          <a:p>
            <a:pPr marL="914400" lvl="0" indent="-393700" algn="l" rtl="0">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Customer (</a:t>
            </a:r>
            <a:r>
              <a:rPr lang="en-US" sz="2600" i="1">
                <a:solidFill>
                  <a:schemeClr val="dk1"/>
                </a:solidFill>
                <a:latin typeface="Oswald SemiBold"/>
                <a:ea typeface="Oswald SemiBold"/>
                <a:cs typeface="Oswald SemiBold"/>
                <a:sym typeface="Oswald SemiBold"/>
              </a:rPr>
              <a:t>unique value</a:t>
            </a:r>
            <a:r>
              <a:rPr lang="en-US" sz="2600">
                <a:solidFill>
                  <a:schemeClr val="dk1"/>
                </a:solidFill>
                <a:latin typeface="Oswald SemiBold"/>
                <a:ea typeface="Oswald SemiBold"/>
                <a:cs typeface="Oswald SemiBold"/>
                <a:sym typeface="Oswald SemiBold"/>
              </a:rPr>
              <a:t>)</a:t>
            </a:r>
            <a:endParaRPr sz="2600">
              <a:solidFill>
                <a:schemeClr val="dk1"/>
              </a:solidFill>
              <a:latin typeface="Oswald SemiBold"/>
              <a:ea typeface="Oswald SemiBold"/>
              <a:cs typeface="Oswald SemiBold"/>
              <a:sym typeface="Oswald SemiBold"/>
            </a:endParaRPr>
          </a:p>
          <a:p>
            <a:pPr marL="0" lvl="0" indent="0" algn="l" rtl="0">
              <a:lnSpc>
                <a:spcPct val="115000"/>
              </a:lnSpc>
              <a:spcBef>
                <a:spcPts val="0"/>
              </a:spcBef>
              <a:spcAft>
                <a:spcPts val="0"/>
              </a:spcAft>
              <a:buNone/>
            </a:pPr>
            <a:endParaRPr>
              <a:solidFill>
                <a:schemeClr val="dk1"/>
              </a:solidFill>
            </a:endParaRPr>
          </a:p>
          <a:p>
            <a:pPr marL="0" lvl="0" indent="0" algn="l" rtl="0">
              <a:lnSpc>
                <a:spcPct val="140000"/>
              </a:lnSpc>
              <a:spcBef>
                <a:spcPts val="0"/>
              </a:spcBef>
              <a:spcAft>
                <a:spcPts val="0"/>
              </a:spcAft>
              <a:buNone/>
            </a:pPr>
            <a:endParaRPr sz="3230">
              <a:solidFill>
                <a:srgbClr val="303870"/>
              </a:solidFill>
              <a:latin typeface="Nunito"/>
              <a:ea typeface="Nunito"/>
              <a:cs typeface="Nunito"/>
              <a:sym typeface="Nuni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365"/>
        <p:cNvGrpSpPr/>
        <p:nvPr/>
      </p:nvGrpSpPr>
      <p:grpSpPr>
        <a:xfrm>
          <a:off x="0" y="0"/>
          <a:ext cx="0" cy="0"/>
          <a:chOff x="0" y="0"/>
          <a:chExt cx="0" cy="0"/>
        </a:xfrm>
      </p:grpSpPr>
      <p:grpSp>
        <p:nvGrpSpPr>
          <p:cNvPr id="366" name="Google Shape;366;g3d090459189_1_115"/>
          <p:cNvGrpSpPr/>
          <p:nvPr/>
        </p:nvGrpSpPr>
        <p:grpSpPr>
          <a:xfrm>
            <a:off x="17259300" y="-361655"/>
            <a:ext cx="3086120" cy="10649165"/>
            <a:chOff x="0" y="-95250"/>
            <a:chExt cx="812800" cy="2804700"/>
          </a:xfrm>
        </p:grpSpPr>
        <p:sp>
          <p:nvSpPr>
            <p:cNvPr id="367" name="Google Shape;367;g3d090459189_1_115"/>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g3d090459189_1_115"/>
            <p:cNvSpPr txBox="1"/>
            <p:nvPr/>
          </p:nvSpPr>
          <p:spPr>
            <a:xfrm>
              <a:off x="0" y="-95250"/>
              <a:ext cx="812700" cy="28047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69" name="Google Shape;369;g3d090459189_1_115"/>
          <p:cNvSpPr txBox="1"/>
          <p:nvPr/>
        </p:nvSpPr>
        <p:spPr>
          <a:xfrm>
            <a:off x="171450" y="375050"/>
            <a:ext cx="15462300" cy="1263000"/>
          </a:xfrm>
          <a:prstGeom prst="rect">
            <a:avLst/>
          </a:prstGeom>
          <a:noFill/>
          <a:ln>
            <a:noFill/>
          </a:ln>
        </p:spPr>
        <p:txBody>
          <a:bodyPr spcFirstLastPara="1" wrap="square" lIns="0" tIns="0" rIns="0" bIns="0" anchor="t" anchorCtr="0">
            <a:spAutoFit/>
          </a:bodyPr>
          <a:lstStyle/>
          <a:p>
            <a:pPr marL="457200" lvl="0" indent="-400050" algn="l" rtl="0">
              <a:lnSpc>
                <a:spcPct val="115000"/>
              </a:lnSpc>
              <a:spcBef>
                <a:spcPts val="0"/>
              </a:spcBef>
              <a:spcAft>
                <a:spcPts val="0"/>
              </a:spcAft>
              <a:buClr>
                <a:schemeClr val="dk2"/>
              </a:buClr>
              <a:buSzPts val="2700"/>
              <a:buFont typeface="Comfortaa"/>
              <a:buAutoNum type="alphaUcPeriod"/>
            </a:pPr>
            <a:r>
              <a:rPr lang="en-US" sz="2700" b="1">
                <a:solidFill>
                  <a:schemeClr val="dk2"/>
                </a:solidFill>
                <a:latin typeface="Comfortaa"/>
                <a:ea typeface="Comfortaa"/>
                <a:cs typeface="Comfortaa"/>
                <a:sym typeface="Comfortaa"/>
              </a:rPr>
              <a:t>Add Table </a:t>
            </a:r>
            <a:endParaRPr sz="2700" b="1">
              <a:solidFill>
                <a:schemeClr val="dk2"/>
              </a:solidFill>
              <a:latin typeface="Comfortaa"/>
              <a:ea typeface="Comfortaa"/>
              <a:cs typeface="Comfortaa"/>
              <a:sym typeface="Comfortaa"/>
            </a:endParaRPr>
          </a:p>
          <a:p>
            <a:pPr marL="0" marR="0" lvl="0" indent="0" algn="l" rtl="0">
              <a:lnSpc>
                <a:spcPct val="113999"/>
              </a:lnSpc>
              <a:spcBef>
                <a:spcPts val="0"/>
              </a:spcBef>
              <a:spcAft>
                <a:spcPts val="0"/>
              </a:spcAft>
              <a:buNone/>
            </a:pPr>
            <a:endParaRPr sz="5100" b="1">
              <a:solidFill>
                <a:schemeClr val="dk2"/>
              </a:solidFill>
              <a:latin typeface="Comfortaa"/>
              <a:ea typeface="Comfortaa"/>
              <a:cs typeface="Comfortaa"/>
              <a:sym typeface="Comfortaa"/>
            </a:endParaRPr>
          </a:p>
        </p:txBody>
      </p:sp>
      <p:sp>
        <p:nvSpPr>
          <p:cNvPr id="370" name="Google Shape;370;g3d090459189_1_115"/>
          <p:cNvSpPr txBox="1"/>
          <p:nvPr/>
        </p:nvSpPr>
        <p:spPr>
          <a:xfrm>
            <a:off x="-293726" y="890550"/>
            <a:ext cx="15927600" cy="1530000"/>
          </a:xfrm>
          <a:prstGeom prst="rect">
            <a:avLst/>
          </a:prstGeom>
          <a:noFill/>
          <a:ln>
            <a:noFill/>
          </a:ln>
        </p:spPr>
        <p:txBody>
          <a:bodyPr spcFirstLastPara="1" wrap="square" lIns="91425" tIns="91425" rIns="91425" bIns="91425" anchor="t" anchorCtr="0">
            <a:spAutoFit/>
          </a:bodyPr>
          <a:lstStyle/>
          <a:p>
            <a:pPr marL="914400" lvl="0" indent="0" algn="just" rtl="0">
              <a:lnSpc>
                <a:spcPct val="140000"/>
              </a:lnSpc>
              <a:spcBef>
                <a:spcPts val="0"/>
              </a:spcBef>
              <a:spcAft>
                <a:spcPts val="0"/>
              </a:spcAft>
              <a:buNone/>
            </a:pPr>
            <a:r>
              <a:rPr lang="en-US" sz="2300">
                <a:solidFill>
                  <a:schemeClr val="dk2"/>
                </a:solidFill>
              </a:rPr>
              <a:t>Membuat tabel dengan detail data penjualan berdasarkan </a:t>
            </a:r>
            <a:r>
              <a:rPr lang="en-US" sz="2300" b="1">
                <a:solidFill>
                  <a:schemeClr val="dk2"/>
                </a:solidFill>
              </a:rPr>
              <a:t>Product Name dan Category</a:t>
            </a:r>
            <a:r>
              <a:rPr lang="en-US" sz="2300">
                <a:solidFill>
                  <a:schemeClr val="dk2"/>
                </a:solidFill>
              </a:rPr>
              <a:t>, serta metrik </a:t>
            </a:r>
            <a:r>
              <a:rPr lang="en-US" sz="2300" b="1">
                <a:solidFill>
                  <a:schemeClr val="dk2"/>
                </a:solidFill>
              </a:rPr>
              <a:t>Before Discount, After Discount, Net Profit, Quantity Order, dan Customer (unique)</a:t>
            </a:r>
            <a:r>
              <a:rPr lang="en-US" sz="2300">
                <a:solidFill>
                  <a:schemeClr val="dk2"/>
                </a:solidFill>
              </a:rPr>
              <a:t> sehingga pengguna dapat melihat performa penjualan pada setiap produk secara lebih rinci. Berikut setup tabel yang digunakan:</a:t>
            </a:r>
            <a:endParaRPr sz="2300" b="1">
              <a:solidFill>
                <a:schemeClr val="dk2"/>
              </a:solidFill>
            </a:endParaRPr>
          </a:p>
        </p:txBody>
      </p:sp>
      <p:pic>
        <p:nvPicPr>
          <p:cNvPr id="371" name="Google Shape;371;g3d090459189_1_115" title="Screenshot 2026-03-17 at 22.13.02.png"/>
          <p:cNvPicPr preferRelativeResize="0"/>
          <p:nvPr/>
        </p:nvPicPr>
        <p:blipFill rotWithShape="1">
          <a:blip r:embed="rId3">
            <a:alphaModFix/>
          </a:blip>
          <a:srcRect b="69225"/>
          <a:stretch/>
        </p:blipFill>
        <p:spPr>
          <a:xfrm>
            <a:off x="644400" y="3257325"/>
            <a:ext cx="3312150" cy="1735093"/>
          </a:xfrm>
          <a:prstGeom prst="rect">
            <a:avLst/>
          </a:prstGeom>
          <a:noFill/>
          <a:ln>
            <a:noFill/>
          </a:ln>
        </p:spPr>
      </p:pic>
      <p:pic>
        <p:nvPicPr>
          <p:cNvPr id="372" name="Google Shape;372;g3d090459189_1_115" title="Screenshot 2026-03-17 at 22.13.02.png"/>
          <p:cNvPicPr preferRelativeResize="0"/>
          <p:nvPr/>
        </p:nvPicPr>
        <p:blipFill rotWithShape="1">
          <a:blip r:embed="rId3">
            <a:alphaModFix/>
          </a:blip>
          <a:srcRect t="44093"/>
          <a:stretch/>
        </p:blipFill>
        <p:spPr>
          <a:xfrm>
            <a:off x="644400" y="5463451"/>
            <a:ext cx="3312150" cy="3151975"/>
          </a:xfrm>
          <a:prstGeom prst="rect">
            <a:avLst/>
          </a:prstGeom>
          <a:noFill/>
          <a:ln>
            <a:noFill/>
          </a:ln>
        </p:spPr>
      </p:pic>
      <p:pic>
        <p:nvPicPr>
          <p:cNvPr id="373" name="Google Shape;373;g3d090459189_1_115" title="Screenshot 2026-03-17 at 22.15.42.png"/>
          <p:cNvPicPr preferRelativeResize="0"/>
          <p:nvPr/>
        </p:nvPicPr>
        <p:blipFill>
          <a:blip r:embed="rId4">
            <a:alphaModFix/>
          </a:blip>
          <a:stretch>
            <a:fillRect/>
          </a:stretch>
        </p:blipFill>
        <p:spPr>
          <a:xfrm>
            <a:off x="4563576" y="4015463"/>
            <a:ext cx="12088698" cy="334918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377"/>
        <p:cNvGrpSpPr/>
        <p:nvPr/>
      </p:nvGrpSpPr>
      <p:grpSpPr>
        <a:xfrm>
          <a:off x="0" y="0"/>
          <a:ext cx="0" cy="0"/>
          <a:chOff x="0" y="0"/>
          <a:chExt cx="0" cy="0"/>
        </a:xfrm>
      </p:grpSpPr>
      <p:grpSp>
        <p:nvGrpSpPr>
          <p:cNvPr id="378" name="Google Shape;378;g3d09ade4597_0_4"/>
          <p:cNvGrpSpPr/>
          <p:nvPr/>
        </p:nvGrpSpPr>
        <p:grpSpPr>
          <a:xfrm>
            <a:off x="17259300" y="-361655"/>
            <a:ext cx="3086120" cy="10649165"/>
            <a:chOff x="0" y="-95250"/>
            <a:chExt cx="812800" cy="2804700"/>
          </a:xfrm>
        </p:grpSpPr>
        <p:sp>
          <p:nvSpPr>
            <p:cNvPr id="379" name="Google Shape;379;g3d09ade4597_0_4"/>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g3d09ade4597_0_4"/>
            <p:cNvSpPr txBox="1"/>
            <p:nvPr/>
          </p:nvSpPr>
          <p:spPr>
            <a:xfrm>
              <a:off x="0" y="-95250"/>
              <a:ext cx="812700" cy="28047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81" name="Google Shape;381;g3d09ade4597_0_4"/>
          <p:cNvSpPr txBox="1"/>
          <p:nvPr/>
        </p:nvSpPr>
        <p:spPr>
          <a:xfrm>
            <a:off x="171450" y="375050"/>
            <a:ext cx="15462300" cy="1263000"/>
          </a:xfrm>
          <a:prstGeom prst="rect">
            <a:avLst/>
          </a:prstGeom>
          <a:noFill/>
          <a:ln>
            <a:noFill/>
          </a:ln>
        </p:spPr>
        <p:txBody>
          <a:bodyPr spcFirstLastPara="1" wrap="square" lIns="0" tIns="0" rIns="0" bIns="0" anchor="t" anchorCtr="0">
            <a:spAutoFit/>
          </a:bodyPr>
          <a:lstStyle/>
          <a:p>
            <a:pPr marL="571500" lvl="0" indent="-685800" algn="l" rtl="0">
              <a:lnSpc>
                <a:spcPct val="115000"/>
              </a:lnSpc>
              <a:spcBef>
                <a:spcPts val="0"/>
              </a:spcBef>
              <a:spcAft>
                <a:spcPts val="0"/>
              </a:spcAft>
              <a:buNone/>
            </a:pPr>
            <a:r>
              <a:rPr lang="en-US" sz="2700" b="1">
                <a:solidFill>
                  <a:schemeClr val="dk2"/>
                </a:solidFill>
                <a:latin typeface="Comfortaa"/>
                <a:ea typeface="Comfortaa"/>
                <a:cs typeface="Comfortaa"/>
                <a:sym typeface="Comfortaa"/>
              </a:rPr>
              <a:t>B. 	Add Slicer </a:t>
            </a:r>
            <a:endParaRPr sz="2700" b="1">
              <a:solidFill>
                <a:schemeClr val="dk2"/>
              </a:solidFill>
              <a:latin typeface="Comfortaa"/>
              <a:ea typeface="Comfortaa"/>
              <a:cs typeface="Comfortaa"/>
              <a:sym typeface="Comfortaa"/>
            </a:endParaRPr>
          </a:p>
          <a:p>
            <a:pPr marL="0" marR="0" lvl="0" indent="0" algn="l" rtl="0">
              <a:lnSpc>
                <a:spcPct val="113999"/>
              </a:lnSpc>
              <a:spcBef>
                <a:spcPts val="0"/>
              </a:spcBef>
              <a:spcAft>
                <a:spcPts val="0"/>
              </a:spcAft>
              <a:buNone/>
            </a:pPr>
            <a:endParaRPr sz="5100" b="1">
              <a:solidFill>
                <a:schemeClr val="dk2"/>
              </a:solidFill>
              <a:latin typeface="Comfortaa"/>
              <a:ea typeface="Comfortaa"/>
              <a:cs typeface="Comfortaa"/>
              <a:sym typeface="Comfortaa"/>
            </a:endParaRPr>
          </a:p>
        </p:txBody>
      </p:sp>
      <p:sp>
        <p:nvSpPr>
          <p:cNvPr id="382" name="Google Shape;382;g3d09ade4597_0_4"/>
          <p:cNvSpPr txBox="1"/>
          <p:nvPr/>
        </p:nvSpPr>
        <p:spPr>
          <a:xfrm>
            <a:off x="-293725" y="890550"/>
            <a:ext cx="16381200" cy="538800"/>
          </a:xfrm>
          <a:prstGeom prst="rect">
            <a:avLst/>
          </a:prstGeom>
          <a:noFill/>
          <a:ln>
            <a:noFill/>
          </a:ln>
        </p:spPr>
        <p:txBody>
          <a:bodyPr spcFirstLastPara="1" wrap="square" lIns="91425" tIns="91425" rIns="91425" bIns="91425" anchor="t" anchorCtr="0">
            <a:spAutoFit/>
          </a:bodyPr>
          <a:lstStyle/>
          <a:p>
            <a:pPr marL="914400" lvl="0" indent="0" algn="just" rtl="0">
              <a:lnSpc>
                <a:spcPct val="140000"/>
              </a:lnSpc>
              <a:spcBef>
                <a:spcPts val="0"/>
              </a:spcBef>
              <a:spcAft>
                <a:spcPts val="0"/>
              </a:spcAft>
              <a:buNone/>
            </a:pPr>
            <a:r>
              <a:rPr lang="en-US" sz="2300">
                <a:solidFill>
                  <a:schemeClr val="dk2"/>
                </a:solidFill>
              </a:rPr>
              <a:t>Slicer pada page 2 dashboard di bawah ini memiliki setup dan fungsi yang sama dengan yang terdapat pada page 1</a:t>
            </a:r>
            <a:endParaRPr sz="2300" b="1">
              <a:solidFill>
                <a:schemeClr val="dk2"/>
              </a:solidFill>
            </a:endParaRPr>
          </a:p>
        </p:txBody>
      </p:sp>
      <p:pic>
        <p:nvPicPr>
          <p:cNvPr id="383" name="Google Shape;383;g3d09ade4597_0_4" title="Screenshot 2026-03-17 at 22.19.07.png"/>
          <p:cNvPicPr preferRelativeResize="0"/>
          <p:nvPr/>
        </p:nvPicPr>
        <p:blipFill>
          <a:blip r:embed="rId3">
            <a:alphaModFix/>
          </a:blip>
          <a:stretch>
            <a:fillRect/>
          </a:stretch>
        </p:blipFill>
        <p:spPr>
          <a:xfrm>
            <a:off x="3895075" y="1638050"/>
            <a:ext cx="9582150" cy="1047750"/>
          </a:xfrm>
          <a:prstGeom prst="rect">
            <a:avLst/>
          </a:prstGeom>
          <a:noFill/>
          <a:ln>
            <a:noFill/>
          </a:ln>
        </p:spPr>
      </p:pic>
      <p:sp>
        <p:nvSpPr>
          <p:cNvPr id="384" name="Google Shape;384;g3d09ade4597_0_4"/>
          <p:cNvSpPr txBox="1"/>
          <p:nvPr/>
        </p:nvSpPr>
        <p:spPr>
          <a:xfrm>
            <a:off x="165725" y="3429000"/>
            <a:ext cx="15462300" cy="1263000"/>
          </a:xfrm>
          <a:prstGeom prst="rect">
            <a:avLst/>
          </a:prstGeom>
          <a:noFill/>
          <a:ln>
            <a:noFill/>
          </a:ln>
        </p:spPr>
        <p:txBody>
          <a:bodyPr spcFirstLastPara="1" wrap="square" lIns="0" tIns="0" rIns="0" bIns="0" anchor="t" anchorCtr="0">
            <a:spAutoFit/>
          </a:bodyPr>
          <a:lstStyle/>
          <a:p>
            <a:pPr marL="571500" lvl="0" indent="-685800" algn="l" rtl="0">
              <a:lnSpc>
                <a:spcPct val="115000"/>
              </a:lnSpc>
              <a:spcBef>
                <a:spcPts val="0"/>
              </a:spcBef>
              <a:spcAft>
                <a:spcPts val="0"/>
              </a:spcAft>
              <a:buNone/>
            </a:pPr>
            <a:r>
              <a:rPr lang="en-US" sz="2700" b="1">
                <a:solidFill>
                  <a:schemeClr val="dk2"/>
                </a:solidFill>
                <a:latin typeface="Comfortaa"/>
                <a:ea typeface="Comfortaa"/>
                <a:cs typeface="Comfortaa"/>
                <a:sym typeface="Comfortaa"/>
              </a:rPr>
              <a:t>C. 	Add Scorecard </a:t>
            </a:r>
            <a:endParaRPr sz="2700" b="1">
              <a:solidFill>
                <a:schemeClr val="dk2"/>
              </a:solidFill>
              <a:latin typeface="Comfortaa"/>
              <a:ea typeface="Comfortaa"/>
              <a:cs typeface="Comfortaa"/>
              <a:sym typeface="Comfortaa"/>
            </a:endParaRPr>
          </a:p>
          <a:p>
            <a:pPr marL="0" marR="0" lvl="0" indent="0" algn="l" rtl="0">
              <a:lnSpc>
                <a:spcPct val="113999"/>
              </a:lnSpc>
              <a:spcBef>
                <a:spcPts val="0"/>
              </a:spcBef>
              <a:spcAft>
                <a:spcPts val="0"/>
              </a:spcAft>
              <a:buNone/>
            </a:pPr>
            <a:endParaRPr sz="5100" b="1">
              <a:solidFill>
                <a:schemeClr val="dk2"/>
              </a:solidFill>
              <a:latin typeface="Comfortaa"/>
              <a:ea typeface="Comfortaa"/>
              <a:cs typeface="Comfortaa"/>
              <a:sym typeface="Comfortaa"/>
            </a:endParaRPr>
          </a:p>
        </p:txBody>
      </p:sp>
      <p:pic>
        <p:nvPicPr>
          <p:cNvPr id="385" name="Google Shape;385;g3d09ade4597_0_4" title="Screenshot 2026-03-17 at 22.20.56.png"/>
          <p:cNvPicPr preferRelativeResize="0"/>
          <p:nvPr/>
        </p:nvPicPr>
        <p:blipFill>
          <a:blip r:embed="rId4">
            <a:alphaModFix/>
          </a:blip>
          <a:stretch>
            <a:fillRect/>
          </a:stretch>
        </p:blipFill>
        <p:spPr>
          <a:xfrm>
            <a:off x="732775" y="4136682"/>
            <a:ext cx="15906750" cy="1562100"/>
          </a:xfrm>
          <a:prstGeom prst="rect">
            <a:avLst/>
          </a:prstGeom>
          <a:noFill/>
          <a:ln>
            <a:noFill/>
          </a:ln>
        </p:spPr>
      </p:pic>
      <p:sp>
        <p:nvSpPr>
          <p:cNvPr id="386" name="Google Shape;386;g3d09ade4597_0_4"/>
          <p:cNvSpPr txBox="1"/>
          <p:nvPr/>
        </p:nvSpPr>
        <p:spPr>
          <a:xfrm>
            <a:off x="-50850" y="5992552"/>
            <a:ext cx="15906900" cy="2521200"/>
          </a:xfrm>
          <a:prstGeom prst="rect">
            <a:avLst/>
          </a:prstGeom>
          <a:noFill/>
          <a:ln>
            <a:noFill/>
          </a:ln>
        </p:spPr>
        <p:txBody>
          <a:bodyPr spcFirstLastPara="1" wrap="square" lIns="91425" tIns="91425" rIns="91425" bIns="91425" anchor="t" anchorCtr="0">
            <a:spAutoFit/>
          </a:bodyPr>
          <a:lstStyle/>
          <a:p>
            <a:pPr marL="914400" lvl="0" indent="0" algn="just" rtl="0">
              <a:lnSpc>
                <a:spcPct val="140000"/>
              </a:lnSpc>
              <a:spcBef>
                <a:spcPts val="0"/>
              </a:spcBef>
              <a:spcAft>
                <a:spcPts val="0"/>
              </a:spcAft>
              <a:buNone/>
            </a:pPr>
            <a:r>
              <a:rPr lang="en-US" sz="2300">
                <a:solidFill>
                  <a:schemeClr val="dk2"/>
                </a:solidFill>
              </a:rPr>
              <a:t>Scorecard Values Sales, Net Profit dan AOV pada page 2 memiliki fungsi yang sama dengan yang terdapat di page 1. Namun ada beberapa Scorecard tambahan:</a:t>
            </a:r>
            <a:br>
              <a:rPr lang="en-US" sz="2300">
                <a:solidFill>
                  <a:schemeClr val="dk2"/>
                </a:solidFill>
              </a:rPr>
            </a:br>
            <a:r>
              <a:rPr lang="en-US" sz="2300">
                <a:solidFill>
                  <a:schemeClr val="dk2"/>
                </a:solidFill>
              </a:rPr>
              <a:t>- Scorecard </a:t>
            </a:r>
            <a:r>
              <a:rPr lang="en-US" sz="2300" b="1">
                <a:solidFill>
                  <a:schemeClr val="dk2"/>
                </a:solidFill>
              </a:rPr>
              <a:t>Quantity </a:t>
            </a:r>
            <a:r>
              <a:rPr lang="en-US" sz="2300">
                <a:solidFill>
                  <a:schemeClr val="dk2"/>
                </a:solidFill>
              </a:rPr>
              <a:t>menampilkan total produk yang terjual berdasarkan kolom Quantity Order</a:t>
            </a:r>
            <a:endParaRPr sz="2300">
              <a:solidFill>
                <a:schemeClr val="dk2"/>
              </a:solidFill>
            </a:endParaRPr>
          </a:p>
          <a:p>
            <a:pPr marL="914400" lvl="0" indent="0" algn="just" rtl="0">
              <a:lnSpc>
                <a:spcPct val="140000"/>
              </a:lnSpc>
              <a:spcBef>
                <a:spcPts val="0"/>
              </a:spcBef>
              <a:spcAft>
                <a:spcPts val="0"/>
              </a:spcAft>
              <a:buNone/>
            </a:pPr>
            <a:r>
              <a:rPr lang="en-US" sz="2300">
                <a:solidFill>
                  <a:schemeClr val="dk2"/>
                </a:solidFill>
              </a:rPr>
              <a:t>- Scorecard </a:t>
            </a:r>
            <a:r>
              <a:rPr lang="en-US" sz="2300" b="1">
                <a:solidFill>
                  <a:schemeClr val="dk2"/>
                </a:solidFill>
              </a:rPr>
              <a:t>Customer</a:t>
            </a:r>
            <a:r>
              <a:rPr lang="en-US" sz="2300">
                <a:solidFill>
                  <a:schemeClr val="dk2"/>
                </a:solidFill>
              </a:rPr>
              <a:t> menampilkan jumlah pelanggan unik yang secara otomatis telah ditampilkan dengan fungsi  COUNT_DISTINCT.</a:t>
            </a:r>
            <a:endParaRPr sz="23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390"/>
        <p:cNvGrpSpPr/>
        <p:nvPr/>
      </p:nvGrpSpPr>
      <p:grpSpPr>
        <a:xfrm>
          <a:off x="0" y="0"/>
          <a:ext cx="0" cy="0"/>
          <a:chOff x="0" y="0"/>
          <a:chExt cx="0" cy="0"/>
        </a:xfrm>
      </p:grpSpPr>
      <p:grpSp>
        <p:nvGrpSpPr>
          <p:cNvPr id="391" name="Google Shape;391;g3d09ade4597_0_23"/>
          <p:cNvGrpSpPr/>
          <p:nvPr/>
        </p:nvGrpSpPr>
        <p:grpSpPr>
          <a:xfrm>
            <a:off x="17259300" y="-361655"/>
            <a:ext cx="3086120" cy="10649165"/>
            <a:chOff x="0" y="-95250"/>
            <a:chExt cx="812800" cy="2804700"/>
          </a:xfrm>
        </p:grpSpPr>
        <p:sp>
          <p:nvSpPr>
            <p:cNvPr id="392" name="Google Shape;392;g3d09ade4597_0_23"/>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g3d09ade4597_0_23"/>
            <p:cNvSpPr txBox="1"/>
            <p:nvPr/>
          </p:nvSpPr>
          <p:spPr>
            <a:xfrm>
              <a:off x="0" y="-95250"/>
              <a:ext cx="812700" cy="28047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94" name="Google Shape;394;g3d09ade4597_0_23"/>
          <p:cNvSpPr txBox="1"/>
          <p:nvPr/>
        </p:nvSpPr>
        <p:spPr>
          <a:xfrm>
            <a:off x="171450" y="375050"/>
            <a:ext cx="15462300" cy="415500"/>
          </a:xfrm>
          <a:prstGeom prst="rect">
            <a:avLst/>
          </a:prstGeom>
          <a:noFill/>
          <a:ln>
            <a:noFill/>
          </a:ln>
        </p:spPr>
        <p:txBody>
          <a:bodyPr spcFirstLastPara="1" wrap="square" lIns="0" tIns="0" rIns="0" bIns="0" anchor="t" anchorCtr="0">
            <a:spAutoFit/>
          </a:bodyPr>
          <a:lstStyle/>
          <a:p>
            <a:pPr marL="971550" marR="0" lvl="0" indent="-971550" algn="l" rtl="0">
              <a:lnSpc>
                <a:spcPct val="113999"/>
              </a:lnSpc>
              <a:spcBef>
                <a:spcPts val="0"/>
              </a:spcBef>
              <a:spcAft>
                <a:spcPts val="0"/>
              </a:spcAft>
              <a:buNone/>
            </a:pPr>
            <a:r>
              <a:rPr lang="en-US" sz="2700" b="1">
                <a:solidFill>
                  <a:schemeClr val="dk2"/>
                </a:solidFill>
                <a:latin typeface="Comfortaa"/>
                <a:ea typeface="Comfortaa"/>
                <a:cs typeface="Comfortaa"/>
                <a:sym typeface="Comfortaa"/>
              </a:rPr>
              <a:t>Add Pie Chart and Bar Chart  </a:t>
            </a:r>
            <a:endParaRPr sz="5100" b="1">
              <a:solidFill>
                <a:schemeClr val="dk2"/>
              </a:solidFill>
              <a:latin typeface="Comfortaa"/>
              <a:ea typeface="Comfortaa"/>
              <a:cs typeface="Comfortaa"/>
              <a:sym typeface="Comfortaa"/>
            </a:endParaRPr>
          </a:p>
        </p:txBody>
      </p:sp>
      <p:sp>
        <p:nvSpPr>
          <p:cNvPr id="395" name="Google Shape;395;g3d09ade4597_0_23"/>
          <p:cNvSpPr txBox="1"/>
          <p:nvPr/>
        </p:nvSpPr>
        <p:spPr>
          <a:xfrm>
            <a:off x="171450" y="1021700"/>
            <a:ext cx="15162900" cy="2025600"/>
          </a:xfrm>
          <a:prstGeom prst="rect">
            <a:avLst/>
          </a:prstGeom>
          <a:noFill/>
          <a:ln>
            <a:noFill/>
          </a:ln>
        </p:spPr>
        <p:txBody>
          <a:bodyPr spcFirstLastPara="1" wrap="square" lIns="91425" tIns="91425" rIns="91425" bIns="91425" anchor="t" anchorCtr="0">
            <a:spAutoFit/>
          </a:bodyPr>
          <a:lstStyle/>
          <a:p>
            <a:pPr marL="914400" lvl="0" indent="0" algn="just" rtl="0">
              <a:lnSpc>
                <a:spcPct val="140000"/>
              </a:lnSpc>
              <a:spcBef>
                <a:spcPts val="0"/>
              </a:spcBef>
              <a:spcAft>
                <a:spcPts val="0"/>
              </a:spcAft>
              <a:buNone/>
            </a:pPr>
            <a:r>
              <a:rPr lang="en-US" sz="2300">
                <a:solidFill>
                  <a:schemeClr val="dk2"/>
                </a:solidFill>
              </a:rPr>
              <a:t>Pada dashboard, kami juga menambahkan </a:t>
            </a:r>
            <a:r>
              <a:rPr lang="en-US" sz="2300" b="1">
                <a:solidFill>
                  <a:schemeClr val="dk2"/>
                </a:solidFill>
              </a:rPr>
              <a:t>Pie Chart </a:t>
            </a:r>
            <a:r>
              <a:rPr lang="en-US" sz="2300">
                <a:solidFill>
                  <a:schemeClr val="dk2"/>
                </a:solidFill>
              </a:rPr>
              <a:t>yang menampilkan distribusi jumlah customer berdasarkan metode pembayaran yang digunakan pada transaksi; serta </a:t>
            </a:r>
            <a:r>
              <a:rPr lang="en-US" sz="2300" b="1">
                <a:solidFill>
                  <a:schemeClr val="dk2"/>
                </a:solidFill>
              </a:rPr>
              <a:t>Bar Chart</a:t>
            </a:r>
            <a:r>
              <a:rPr lang="en-US" sz="2300">
                <a:solidFill>
                  <a:schemeClr val="dk2"/>
                </a:solidFill>
              </a:rPr>
              <a:t> yang menampilkan perbandingan antara jumlah </a:t>
            </a:r>
            <a:r>
              <a:rPr lang="en-US" sz="2300" b="1">
                <a:solidFill>
                  <a:schemeClr val="dk2"/>
                </a:solidFill>
              </a:rPr>
              <a:t>customer</a:t>
            </a:r>
            <a:r>
              <a:rPr lang="en-US" sz="2300">
                <a:solidFill>
                  <a:schemeClr val="dk2"/>
                </a:solidFill>
              </a:rPr>
              <a:t> dan total </a:t>
            </a:r>
            <a:r>
              <a:rPr lang="en-US" sz="2300" b="1">
                <a:solidFill>
                  <a:schemeClr val="dk2"/>
                </a:solidFill>
              </a:rPr>
              <a:t>quantity pembelian</a:t>
            </a:r>
            <a:r>
              <a:rPr lang="en-US" sz="2300">
                <a:solidFill>
                  <a:schemeClr val="dk2"/>
                </a:solidFill>
              </a:rPr>
              <a:t> pada setiap kategori produk. </a:t>
            </a:r>
            <a:endParaRPr sz="2300">
              <a:solidFill>
                <a:schemeClr val="dk2"/>
              </a:solidFill>
            </a:endParaRPr>
          </a:p>
          <a:p>
            <a:pPr marL="914400" lvl="0" indent="0" algn="just" rtl="0">
              <a:lnSpc>
                <a:spcPct val="140000"/>
              </a:lnSpc>
              <a:spcBef>
                <a:spcPts val="0"/>
              </a:spcBef>
              <a:spcAft>
                <a:spcPts val="0"/>
              </a:spcAft>
              <a:buNone/>
            </a:pPr>
            <a:endParaRPr sz="2300">
              <a:solidFill>
                <a:schemeClr val="dk2"/>
              </a:solidFill>
            </a:endParaRPr>
          </a:p>
        </p:txBody>
      </p:sp>
      <p:pic>
        <p:nvPicPr>
          <p:cNvPr id="396" name="Google Shape;396;g3d09ade4597_0_23" title="Screenshot 2026-03-17 at 22.32.32.png"/>
          <p:cNvPicPr preferRelativeResize="0"/>
          <p:nvPr/>
        </p:nvPicPr>
        <p:blipFill>
          <a:blip r:embed="rId3">
            <a:alphaModFix/>
          </a:blip>
          <a:stretch>
            <a:fillRect/>
          </a:stretch>
        </p:blipFill>
        <p:spPr>
          <a:xfrm>
            <a:off x="490675" y="2645763"/>
            <a:ext cx="16116300" cy="4591050"/>
          </a:xfrm>
          <a:prstGeom prst="rect">
            <a:avLst/>
          </a:prstGeom>
          <a:noFill/>
          <a:ln>
            <a:noFill/>
          </a:ln>
        </p:spPr>
      </p:pic>
      <p:sp>
        <p:nvSpPr>
          <p:cNvPr id="397" name="Google Shape;397;g3d09ade4597_0_23"/>
          <p:cNvSpPr txBox="1"/>
          <p:nvPr/>
        </p:nvSpPr>
        <p:spPr>
          <a:xfrm>
            <a:off x="9409550" y="7514516"/>
            <a:ext cx="6562500" cy="1785600"/>
          </a:xfrm>
          <a:prstGeom prst="rect">
            <a:avLst/>
          </a:prstGeom>
          <a:noFill/>
          <a:ln>
            <a:noFill/>
          </a:ln>
        </p:spPr>
        <p:txBody>
          <a:bodyPr spcFirstLastPara="1" wrap="square" lIns="91425" tIns="91425" rIns="91425" bIns="91425" anchor="t" anchorCtr="0">
            <a:spAutoFit/>
          </a:bodyPr>
          <a:lstStyle/>
          <a:p>
            <a:pPr marL="914400" lvl="0" indent="0" algn="just" rtl="0">
              <a:lnSpc>
                <a:spcPct val="140000"/>
              </a:lnSpc>
              <a:spcBef>
                <a:spcPts val="0"/>
              </a:spcBef>
              <a:spcAft>
                <a:spcPts val="0"/>
              </a:spcAft>
              <a:buNone/>
            </a:pPr>
            <a:r>
              <a:rPr lang="en-US" sz="2000">
                <a:solidFill>
                  <a:schemeClr val="dk2"/>
                </a:solidFill>
              </a:rPr>
              <a:t>Dari visualisasi Pie Chart terlihat bahwa metode </a:t>
            </a:r>
            <a:r>
              <a:rPr lang="en-US" sz="2000" b="1">
                <a:solidFill>
                  <a:schemeClr val="dk2"/>
                </a:solidFill>
              </a:rPr>
              <a:t>Cash on Delivery (COD)</a:t>
            </a:r>
            <a:r>
              <a:rPr lang="en-US" sz="2000">
                <a:solidFill>
                  <a:schemeClr val="dk2"/>
                </a:solidFill>
              </a:rPr>
              <a:t> menjadi metode pembayaran yang paling dominan dibandingkan metode pembayaran lainnya; </a:t>
            </a:r>
            <a:endParaRPr sz="2000"/>
          </a:p>
        </p:txBody>
      </p:sp>
      <p:sp>
        <p:nvSpPr>
          <p:cNvPr id="398" name="Google Shape;398;g3d09ade4597_0_23"/>
          <p:cNvSpPr txBox="1"/>
          <p:nvPr/>
        </p:nvSpPr>
        <p:spPr>
          <a:xfrm>
            <a:off x="606116" y="7530025"/>
            <a:ext cx="8139600" cy="2216400"/>
          </a:xfrm>
          <a:prstGeom prst="rect">
            <a:avLst/>
          </a:prstGeom>
          <a:noFill/>
          <a:ln>
            <a:noFill/>
          </a:ln>
        </p:spPr>
        <p:txBody>
          <a:bodyPr spcFirstLastPara="1" wrap="square" lIns="91425" tIns="91425" rIns="91425" bIns="91425" anchor="t" anchorCtr="0">
            <a:spAutoFit/>
          </a:bodyPr>
          <a:lstStyle/>
          <a:p>
            <a:pPr marL="914400" lvl="0" indent="0" algn="just" rtl="0">
              <a:lnSpc>
                <a:spcPct val="140000"/>
              </a:lnSpc>
              <a:spcBef>
                <a:spcPts val="0"/>
              </a:spcBef>
              <a:spcAft>
                <a:spcPts val="0"/>
              </a:spcAft>
              <a:buNone/>
            </a:pPr>
            <a:r>
              <a:rPr lang="en-US" sz="2000">
                <a:solidFill>
                  <a:schemeClr val="dk2"/>
                </a:solidFill>
              </a:rPr>
              <a:t>Visualisasi ini membantu mengidentifikasi kategori produk mana yang memiliki jumlah pelanggan dan volume pembelian paling tinggi, sehingga dapat menjadi acuan bagi tim marketing dalam menentukan strategi promosi pada kategori yang paling diminati.</a:t>
            </a:r>
            <a:endParaRPr sz="2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402"/>
        <p:cNvGrpSpPr/>
        <p:nvPr/>
      </p:nvGrpSpPr>
      <p:grpSpPr>
        <a:xfrm>
          <a:off x="0" y="0"/>
          <a:ext cx="0" cy="0"/>
          <a:chOff x="0" y="0"/>
          <a:chExt cx="0" cy="0"/>
        </a:xfrm>
      </p:grpSpPr>
      <p:grpSp>
        <p:nvGrpSpPr>
          <p:cNvPr id="403" name="Google Shape;403;g3d049250796_0_1"/>
          <p:cNvGrpSpPr/>
          <p:nvPr/>
        </p:nvGrpSpPr>
        <p:grpSpPr>
          <a:xfrm>
            <a:off x="17259300" y="-361655"/>
            <a:ext cx="3086120" cy="10649165"/>
            <a:chOff x="0" y="-95250"/>
            <a:chExt cx="812800" cy="2804700"/>
          </a:xfrm>
        </p:grpSpPr>
        <p:sp>
          <p:nvSpPr>
            <p:cNvPr id="404" name="Google Shape;404;g3d049250796_0_1"/>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g3d049250796_0_1"/>
            <p:cNvSpPr txBox="1"/>
            <p:nvPr/>
          </p:nvSpPr>
          <p:spPr>
            <a:xfrm>
              <a:off x="0" y="-95250"/>
              <a:ext cx="812700" cy="28047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06" name="Google Shape;406;g3d049250796_0_1"/>
          <p:cNvSpPr txBox="1"/>
          <p:nvPr/>
        </p:nvSpPr>
        <p:spPr>
          <a:xfrm>
            <a:off x="0" y="196850"/>
            <a:ext cx="8417400" cy="461700"/>
          </a:xfrm>
          <a:prstGeom prst="rect">
            <a:avLst/>
          </a:prstGeom>
          <a:noFill/>
          <a:ln>
            <a:noFill/>
          </a:ln>
        </p:spPr>
        <p:txBody>
          <a:bodyPr spcFirstLastPara="1" wrap="square" lIns="0" tIns="0" rIns="0" bIns="0" anchor="t" anchorCtr="0">
            <a:spAutoFit/>
          </a:bodyPr>
          <a:lstStyle/>
          <a:p>
            <a:pPr marL="0" marR="0" lvl="0" indent="0" algn="l" rtl="0">
              <a:lnSpc>
                <a:spcPct val="113999"/>
              </a:lnSpc>
              <a:spcBef>
                <a:spcPts val="0"/>
              </a:spcBef>
              <a:spcAft>
                <a:spcPts val="0"/>
              </a:spcAft>
              <a:buNone/>
            </a:pPr>
            <a:r>
              <a:rPr lang="en-US" sz="3000" b="1">
                <a:solidFill>
                  <a:srgbClr val="303870"/>
                </a:solidFill>
              </a:rPr>
              <a:t>OVERVIEW DASHBOARD PAGE 2</a:t>
            </a:r>
            <a:endParaRPr sz="3000"/>
          </a:p>
        </p:txBody>
      </p:sp>
      <p:pic>
        <p:nvPicPr>
          <p:cNvPr id="407" name="Google Shape;407;g3d049250796_0_1" title="FINPRO_DATA_VIS_D7-2_page-0002.jpg"/>
          <p:cNvPicPr preferRelativeResize="0"/>
          <p:nvPr/>
        </p:nvPicPr>
        <p:blipFill>
          <a:blip r:embed="rId3">
            <a:alphaModFix/>
          </a:blip>
          <a:stretch>
            <a:fillRect/>
          </a:stretch>
        </p:blipFill>
        <p:spPr>
          <a:xfrm>
            <a:off x="2355375" y="658550"/>
            <a:ext cx="12424908" cy="93236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411"/>
        <p:cNvGrpSpPr/>
        <p:nvPr/>
      </p:nvGrpSpPr>
      <p:grpSpPr>
        <a:xfrm>
          <a:off x="0" y="0"/>
          <a:ext cx="0" cy="0"/>
          <a:chOff x="0" y="0"/>
          <a:chExt cx="0" cy="0"/>
        </a:xfrm>
      </p:grpSpPr>
      <p:grpSp>
        <p:nvGrpSpPr>
          <p:cNvPr id="412" name="Google Shape;412;g3d774fd106a_8_4"/>
          <p:cNvGrpSpPr/>
          <p:nvPr/>
        </p:nvGrpSpPr>
        <p:grpSpPr>
          <a:xfrm>
            <a:off x="17259300" y="-361655"/>
            <a:ext cx="3086120" cy="10649165"/>
            <a:chOff x="0" y="-95250"/>
            <a:chExt cx="812800" cy="2804700"/>
          </a:xfrm>
        </p:grpSpPr>
        <p:sp>
          <p:nvSpPr>
            <p:cNvPr id="413" name="Google Shape;413;g3d774fd106a_8_4"/>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g3d774fd106a_8_4"/>
            <p:cNvSpPr txBox="1"/>
            <p:nvPr/>
          </p:nvSpPr>
          <p:spPr>
            <a:xfrm>
              <a:off x="0" y="-95250"/>
              <a:ext cx="812700" cy="28047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15" name="Google Shape;415;g3d774fd106a_8_4"/>
          <p:cNvSpPr txBox="1"/>
          <p:nvPr/>
        </p:nvSpPr>
        <p:spPr>
          <a:xfrm>
            <a:off x="377418" y="1329073"/>
            <a:ext cx="5646000" cy="988200"/>
          </a:xfrm>
          <a:prstGeom prst="rect">
            <a:avLst/>
          </a:prstGeom>
          <a:noFill/>
          <a:ln>
            <a:noFill/>
          </a:ln>
        </p:spPr>
        <p:txBody>
          <a:bodyPr spcFirstLastPara="1" wrap="square" lIns="0" tIns="0" rIns="0" bIns="0" anchor="t" anchorCtr="0">
            <a:spAutoFit/>
          </a:bodyPr>
          <a:lstStyle/>
          <a:p>
            <a:pPr marL="0" marR="0" lvl="0" indent="0" algn="l" rtl="0">
              <a:lnSpc>
                <a:spcPct val="113999"/>
              </a:lnSpc>
              <a:spcBef>
                <a:spcPts val="0"/>
              </a:spcBef>
              <a:spcAft>
                <a:spcPts val="0"/>
              </a:spcAft>
              <a:buNone/>
            </a:pPr>
            <a:r>
              <a:rPr lang="en-US" sz="3000" b="1">
                <a:solidFill>
                  <a:srgbClr val="303870"/>
                </a:solidFill>
              </a:rPr>
              <a:t>DASHBOARD ANALYSIS (DATA INSIGHTS)</a:t>
            </a:r>
            <a:endParaRPr sz="3000"/>
          </a:p>
        </p:txBody>
      </p:sp>
      <p:sp>
        <p:nvSpPr>
          <p:cNvPr id="416" name="Google Shape;416;g3d774fd106a_8_4"/>
          <p:cNvSpPr txBox="1"/>
          <p:nvPr/>
        </p:nvSpPr>
        <p:spPr>
          <a:xfrm>
            <a:off x="249818" y="2502223"/>
            <a:ext cx="8286900" cy="5892300"/>
          </a:xfrm>
          <a:prstGeom prst="rect">
            <a:avLst/>
          </a:prstGeom>
          <a:noFill/>
          <a:ln>
            <a:noFill/>
          </a:ln>
        </p:spPr>
        <p:txBody>
          <a:bodyPr spcFirstLastPara="1" wrap="square" lIns="0" tIns="0" rIns="0" bIns="0" anchor="t" anchorCtr="0">
            <a:spAutoFit/>
          </a:bodyPr>
          <a:lstStyle/>
          <a:p>
            <a:pPr marL="457200" lvl="0" indent="-381000" algn="just" rtl="0">
              <a:lnSpc>
                <a:spcPct val="115000"/>
              </a:lnSpc>
              <a:spcBef>
                <a:spcPts val="0"/>
              </a:spcBef>
              <a:spcAft>
                <a:spcPts val="0"/>
              </a:spcAft>
              <a:buSzPts val="2400"/>
              <a:buFont typeface="Nunito Medium"/>
              <a:buChar char="-"/>
            </a:pPr>
            <a:r>
              <a:rPr lang="en-US" sz="2400">
                <a:solidFill>
                  <a:schemeClr val="dk1"/>
                </a:solidFill>
                <a:latin typeface="Nunito Medium"/>
                <a:ea typeface="Nunito Medium"/>
                <a:cs typeface="Nunito Medium"/>
                <a:sym typeface="Nunito Medium"/>
              </a:rPr>
              <a:t>kategori mobile &amp; tablets menjadi dominasi dari aspek total penjualan (quantity), dan jumlah customer</a:t>
            </a:r>
            <a:endParaRPr sz="2400">
              <a:solidFill>
                <a:schemeClr val="dk1"/>
              </a:solidFill>
              <a:latin typeface="Nunito Medium"/>
              <a:ea typeface="Nunito Medium"/>
              <a:cs typeface="Nunito Medium"/>
              <a:sym typeface="Nunito Medium"/>
            </a:endParaRPr>
          </a:p>
          <a:p>
            <a:pPr marL="457200" lvl="0" indent="-381000" algn="just" rtl="0">
              <a:lnSpc>
                <a:spcPct val="115000"/>
              </a:lnSpc>
              <a:spcBef>
                <a:spcPts val="0"/>
              </a:spcBef>
              <a:spcAft>
                <a:spcPts val="0"/>
              </a:spcAft>
              <a:buClr>
                <a:schemeClr val="dk1"/>
              </a:buClr>
              <a:buSzPts val="2400"/>
              <a:buFont typeface="Nunito Medium"/>
              <a:buChar char="-"/>
            </a:pPr>
            <a:r>
              <a:rPr lang="en-US" sz="2400">
                <a:solidFill>
                  <a:schemeClr val="dk1"/>
                </a:solidFill>
                <a:latin typeface="Nunito Medium"/>
                <a:ea typeface="Nunito Medium"/>
                <a:cs typeface="Nunito Medium"/>
                <a:sym typeface="Nunito Medium"/>
              </a:rPr>
              <a:t>hal ini diperkuat dengan produk “IDROID_BALRX7-Gold” dari kategori mobile &amp; tablets menjadi produk dengan pendapatan profit dan quantity terbesar sepanjang tahun 2022</a:t>
            </a:r>
            <a:endParaRPr sz="2400">
              <a:solidFill>
                <a:schemeClr val="dk1"/>
              </a:solidFill>
              <a:latin typeface="Nunito Medium"/>
              <a:ea typeface="Nunito Medium"/>
              <a:cs typeface="Nunito Medium"/>
              <a:sym typeface="Nunito Medium"/>
            </a:endParaRPr>
          </a:p>
          <a:p>
            <a:pPr marL="457200" lvl="0" indent="-381000" algn="just" rtl="0">
              <a:lnSpc>
                <a:spcPct val="115000"/>
              </a:lnSpc>
              <a:spcBef>
                <a:spcPts val="0"/>
              </a:spcBef>
              <a:spcAft>
                <a:spcPts val="0"/>
              </a:spcAft>
              <a:buClr>
                <a:schemeClr val="dk1"/>
              </a:buClr>
              <a:buSzPts val="2400"/>
              <a:buFont typeface="Nunito Medium"/>
              <a:buChar char="-"/>
            </a:pPr>
            <a:r>
              <a:rPr lang="en-US" sz="2400">
                <a:solidFill>
                  <a:schemeClr val="dk1"/>
                </a:solidFill>
                <a:latin typeface="Nunito Medium"/>
                <a:ea typeface="Nunito Medium"/>
                <a:cs typeface="Nunito Medium"/>
                <a:sym typeface="Nunito Medium"/>
              </a:rPr>
              <a:t>kategori Books menjadi yang terendah dengan total quantity sebesar 223 pcs dan jumlah customer sebanyak 145</a:t>
            </a:r>
            <a:endParaRPr sz="2400">
              <a:solidFill>
                <a:schemeClr val="dk1"/>
              </a:solidFill>
              <a:latin typeface="Nunito Medium"/>
              <a:ea typeface="Nunito Medium"/>
              <a:cs typeface="Nunito Medium"/>
              <a:sym typeface="Nunito Medium"/>
            </a:endParaRPr>
          </a:p>
          <a:p>
            <a:pPr marL="457200" lvl="0" indent="-381000" algn="just" rtl="0">
              <a:lnSpc>
                <a:spcPct val="115000"/>
              </a:lnSpc>
              <a:spcBef>
                <a:spcPts val="0"/>
              </a:spcBef>
              <a:spcAft>
                <a:spcPts val="0"/>
              </a:spcAft>
              <a:buClr>
                <a:schemeClr val="dk1"/>
              </a:buClr>
              <a:buSzPts val="2400"/>
              <a:buFont typeface="Nunito Medium"/>
              <a:buChar char="-"/>
            </a:pPr>
            <a:r>
              <a:rPr lang="en-US" sz="2400">
                <a:solidFill>
                  <a:schemeClr val="dk1"/>
                </a:solidFill>
                <a:latin typeface="Nunito Medium"/>
                <a:ea typeface="Nunito Medium"/>
                <a:cs typeface="Nunito Medium"/>
                <a:sym typeface="Nunito Medium"/>
              </a:rPr>
              <a:t>metode pembayaran secara </a:t>
            </a:r>
            <a:r>
              <a:rPr lang="en-US" sz="2400" i="1">
                <a:solidFill>
                  <a:schemeClr val="dk1"/>
                </a:solidFill>
                <a:latin typeface="Nunito Medium"/>
                <a:ea typeface="Nunito Medium"/>
                <a:cs typeface="Nunito Medium"/>
                <a:sym typeface="Nunito Medium"/>
              </a:rPr>
              <a:t>Cash on Delivery</a:t>
            </a:r>
            <a:r>
              <a:rPr lang="en-US" sz="2400">
                <a:solidFill>
                  <a:schemeClr val="dk1"/>
                </a:solidFill>
                <a:latin typeface="Nunito Medium"/>
                <a:ea typeface="Nunito Medium"/>
                <a:cs typeface="Nunito Medium"/>
                <a:sym typeface="Nunito Medium"/>
              </a:rPr>
              <a:t> (COD) masih menjadi daya tarik customer dalam pembayaran produk, dengan distribusi customer sebesar 64.9%. Namun perlu diperhatikan risiko akan metode pembayaran ini.</a:t>
            </a:r>
            <a:endParaRPr sz="2400">
              <a:solidFill>
                <a:schemeClr val="dk1"/>
              </a:solidFill>
              <a:latin typeface="Nunito Medium"/>
              <a:ea typeface="Nunito Medium"/>
              <a:cs typeface="Nunito Medium"/>
              <a:sym typeface="Nunito Medium"/>
            </a:endParaRPr>
          </a:p>
        </p:txBody>
      </p:sp>
      <p:cxnSp>
        <p:nvCxnSpPr>
          <p:cNvPr id="417" name="Google Shape;417;g3d774fd106a_8_4"/>
          <p:cNvCxnSpPr/>
          <p:nvPr/>
        </p:nvCxnSpPr>
        <p:spPr>
          <a:xfrm>
            <a:off x="9020600" y="983650"/>
            <a:ext cx="72000" cy="8051400"/>
          </a:xfrm>
          <a:prstGeom prst="straightConnector1">
            <a:avLst/>
          </a:prstGeom>
          <a:noFill/>
          <a:ln w="9525" cap="flat" cmpd="sng">
            <a:solidFill>
              <a:schemeClr val="dk2"/>
            </a:solidFill>
            <a:prstDash val="solid"/>
            <a:round/>
            <a:headEnd type="none" w="med" len="med"/>
            <a:tailEnd type="none" w="med" len="med"/>
          </a:ln>
        </p:spPr>
      </p:cxnSp>
      <p:sp>
        <p:nvSpPr>
          <p:cNvPr id="418" name="Google Shape;418;g3d774fd106a_8_4"/>
          <p:cNvSpPr txBox="1"/>
          <p:nvPr/>
        </p:nvSpPr>
        <p:spPr>
          <a:xfrm>
            <a:off x="9461752" y="1319727"/>
            <a:ext cx="5646000" cy="461700"/>
          </a:xfrm>
          <a:prstGeom prst="rect">
            <a:avLst/>
          </a:prstGeom>
          <a:noFill/>
          <a:ln>
            <a:noFill/>
          </a:ln>
        </p:spPr>
        <p:txBody>
          <a:bodyPr spcFirstLastPara="1" wrap="square" lIns="0" tIns="0" rIns="0" bIns="0" anchor="t" anchorCtr="0">
            <a:spAutoFit/>
          </a:bodyPr>
          <a:lstStyle/>
          <a:p>
            <a:pPr marL="0" marR="0" lvl="0" indent="0" algn="l" rtl="0">
              <a:lnSpc>
                <a:spcPct val="113999"/>
              </a:lnSpc>
              <a:spcBef>
                <a:spcPts val="0"/>
              </a:spcBef>
              <a:spcAft>
                <a:spcPts val="0"/>
              </a:spcAft>
              <a:buNone/>
            </a:pPr>
            <a:r>
              <a:rPr lang="en-US" sz="3000" b="1">
                <a:solidFill>
                  <a:srgbClr val="303870"/>
                </a:solidFill>
              </a:rPr>
              <a:t>Call to Action</a:t>
            </a:r>
            <a:endParaRPr sz="3000"/>
          </a:p>
        </p:txBody>
      </p:sp>
      <p:sp>
        <p:nvSpPr>
          <p:cNvPr id="419" name="Google Shape;419;g3d774fd106a_8_4"/>
          <p:cNvSpPr txBox="1"/>
          <p:nvPr/>
        </p:nvSpPr>
        <p:spPr>
          <a:xfrm>
            <a:off x="9244300" y="2317275"/>
            <a:ext cx="7710600" cy="4617600"/>
          </a:xfrm>
          <a:prstGeom prst="rect">
            <a:avLst/>
          </a:prstGeom>
          <a:noFill/>
          <a:ln>
            <a:noFill/>
          </a:ln>
        </p:spPr>
        <p:txBody>
          <a:bodyPr spcFirstLastPara="1" wrap="square" lIns="0" tIns="0" rIns="0" bIns="0" anchor="t" anchorCtr="0">
            <a:spAutoFit/>
          </a:bodyPr>
          <a:lstStyle/>
          <a:p>
            <a:pPr marL="457200" lvl="0" indent="-381000" algn="just" rtl="0">
              <a:lnSpc>
                <a:spcPct val="115000"/>
              </a:lnSpc>
              <a:spcBef>
                <a:spcPts val="0"/>
              </a:spcBef>
              <a:spcAft>
                <a:spcPts val="0"/>
              </a:spcAft>
              <a:buClr>
                <a:schemeClr val="dk1"/>
              </a:buClr>
              <a:buSzPts val="2400"/>
              <a:buFont typeface="Nunito Medium"/>
              <a:buChar char="-"/>
            </a:pPr>
            <a:r>
              <a:rPr lang="en-US" sz="2400">
                <a:solidFill>
                  <a:schemeClr val="dk1"/>
                </a:solidFill>
                <a:latin typeface="Nunito Medium"/>
                <a:ea typeface="Nunito Medium"/>
                <a:cs typeface="Nunito Medium"/>
                <a:sym typeface="Nunito Medium"/>
              </a:rPr>
              <a:t>tetap lakukan penjualan pada kategori tertinggi, dan mulai fokus ke kategori yang relatif rendah dengan menawarkan promo/discount yang menarik customer</a:t>
            </a:r>
            <a:endParaRPr sz="2400">
              <a:solidFill>
                <a:schemeClr val="dk1"/>
              </a:solidFill>
              <a:latin typeface="Nunito Medium"/>
              <a:ea typeface="Nunito Medium"/>
              <a:cs typeface="Nunito Medium"/>
              <a:sym typeface="Nunito Medium"/>
            </a:endParaRPr>
          </a:p>
          <a:p>
            <a:pPr marL="457200" lvl="0" indent="-381000" algn="just" rtl="0">
              <a:lnSpc>
                <a:spcPct val="115000"/>
              </a:lnSpc>
              <a:spcBef>
                <a:spcPts val="0"/>
              </a:spcBef>
              <a:spcAft>
                <a:spcPts val="0"/>
              </a:spcAft>
              <a:buClr>
                <a:schemeClr val="dk1"/>
              </a:buClr>
              <a:buSzPts val="2400"/>
              <a:buFont typeface="Nunito Medium"/>
              <a:buChar char="-"/>
            </a:pPr>
            <a:r>
              <a:rPr lang="en-US" sz="2400">
                <a:solidFill>
                  <a:schemeClr val="dk1"/>
                </a:solidFill>
                <a:latin typeface="Nunito Medium"/>
                <a:ea typeface="Nunito Medium"/>
                <a:cs typeface="Nunito Medium"/>
                <a:sym typeface="Nunito Medium"/>
              </a:rPr>
              <a:t>penawaran promo bisa dengan program campaign cross-selling dengan kategori produk yang tinggi, ini bertujuan untuk menaikkan basis customer</a:t>
            </a:r>
            <a:endParaRPr sz="2400">
              <a:solidFill>
                <a:schemeClr val="dk1"/>
              </a:solidFill>
              <a:latin typeface="Nunito Medium"/>
              <a:ea typeface="Nunito Medium"/>
              <a:cs typeface="Nunito Medium"/>
              <a:sym typeface="Nunito Medium"/>
            </a:endParaRPr>
          </a:p>
          <a:p>
            <a:pPr marL="457200" lvl="0" indent="-381000" algn="just" rtl="0">
              <a:lnSpc>
                <a:spcPct val="115000"/>
              </a:lnSpc>
              <a:spcBef>
                <a:spcPts val="0"/>
              </a:spcBef>
              <a:spcAft>
                <a:spcPts val="0"/>
              </a:spcAft>
              <a:buClr>
                <a:schemeClr val="dk1"/>
              </a:buClr>
              <a:buSzPts val="2400"/>
              <a:buFont typeface="Nunito Medium"/>
              <a:buChar char="-"/>
            </a:pPr>
            <a:r>
              <a:rPr lang="en-US" sz="2400">
                <a:solidFill>
                  <a:schemeClr val="dk1"/>
                </a:solidFill>
                <a:latin typeface="Nunito Medium"/>
                <a:ea typeface="Nunito Medium"/>
                <a:cs typeface="Nunito Medium"/>
                <a:sym typeface="Nunito Medium"/>
              </a:rPr>
              <a:t>buat strategi untuk menekan volume penggunaan pembayaran secara COD, seperti penawaran opsi pembayaran secara digital yang bervariasi atau lakukan limit transaksi COD dalam variabel tertentu.</a:t>
            </a:r>
            <a:endParaRPr sz="2400">
              <a:solidFill>
                <a:schemeClr val="dk1"/>
              </a:solidFill>
              <a:latin typeface="Nunito Medium"/>
              <a:ea typeface="Nunito Medium"/>
              <a:cs typeface="Nunito Medium"/>
              <a:sym typeface="Nunito Medium"/>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423"/>
        <p:cNvGrpSpPr/>
        <p:nvPr/>
      </p:nvGrpSpPr>
      <p:grpSpPr>
        <a:xfrm>
          <a:off x="0" y="0"/>
          <a:ext cx="0" cy="0"/>
          <a:chOff x="0" y="0"/>
          <a:chExt cx="0" cy="0"/>
        </a:xfrm>
      </p:grpSpPr>
      <p:grpSp>
        <p:nvGrpSpPr>
          <p:cNvPr id="424" name="Google Shape;424;g3d03f543068_9_22"/>
          <p:cNvGrpSpPr/>
          <p:nvPr/>
        </p:nvGrpSpPr>
        <p:grpSpPr>
          <a:xfrm>
            <a:off x="17259300" y="-361655"/>
            <a:ext cx="3086120" cy="10649165"/>
            <a:chOff x="0" y="-95250"/>
            <a:chExt cx="812800" cy="2804700"/>
          </a:xfrm>
        </p:grpSpPr>
        <p:sp>
          <p:nvSpPr>
            <p:cNvPr id="425" name="Google Shape;425;g3d03f543068_9_22"/>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g3d03f543068_9_22"/>
            <p:cNvSpPr txBox="1"/>
            <p:nvPr/>
          </p:nvSpPr>
          <p:spPr>
            <a:xfrm>
              <a:off x="0" y="-95250"/>
              <a:ext cx="812700" cy="28047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27" name="Google Shape;427;g3d03f543068_9_22"/>
          <p:cNvSpPr txBox="1"/>
          <p:nvPr/>
        </p:nvSpPr>
        <p:spPr>
          <a:xfrm>
            <a:off x="171450" y="688750"/>
            <a:ext cx="5319600" cy="769500"/>
          </a:xfrm>
          <a:prstGeom prst="rect">
            <a:avLst/>
          </a:prstGeom>
          <a:noFill/>
          <a:ln>
            <a:noFill/>
          </a:ln>
        </p:spPr>
        <p:txBody>
          <a:bodyPr spcFirstLastPara="1" wrap="square" lIns="0" tIns="0" rIns="0" bIns="0" anchor="t" anchorCtr="0">
            <a:spAutoFit/>
          </a:bodyPr>
          <a:lstStyle/>
          <a:p>
            <a:pPr marL="0" marR="0" lvl="0" indent="0" algn="l" rtl="0">
              <a:lnSpc>
                <a:spcPct val="113999"/>
              </a:lnSpc>
              <a:spcBef>
                <a:spcPts val="0"/>
              </a:spcBef>
              <a:spcAft>
                <a:spcPts val="0"/>
              </a:spcAft>
              <a:buNone/>
            </a:pPr>
            <a:r>
              <a:rPr lang="en-US" sz="5000" b="1">
                <a:solidFill>
                  <a:srgbClr val="303870"/>
                </a:solidFill>
              </a:rPr>
              <a:t>QUESTION NO 2</a:t>
            </a:r>
            <a:endParaRPr sz="5000"/>
          </a:p>
        </p:txBody>
      </p:sp>
      <p:sp>
        <p:nvSpPr>
          <p:cNvPr id="428" name="Google Shape;428;g3d03f543068_9_22"/>
          <p:cNvSpPr txBox="1"/>
          <p:nvPr/>
        </p:nvSpPr>
        <p:spPr>
          <a:xfrm>
            <a:off x="171450" y="1585300"/>
            <a:ext cx="17145000" cy="216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4200">
                <a:solidFill>
                  <a:schemeClr val="dk1"/>
                </a:solidFill>
                <a:latin typeface="Oswald SemiBold"/>
                <a:ea typeface="Oswald SemiBold"/>
                <a:cs typeface="Oswald SemiBold"/>
                <a:sym typeface="Oswald SemiBold"/>
              </a:rPr>
              <a:t>Selama 2022, tampilkan category mobile &amp; tablet yang sudah terjadi pembayaran secara jazzwallet. Berapa quantity dan customer nya?</a:t>
            </a:r>
            <a:r>
              <a:rPr lang="en-US" sz="1700">
                <a:solidFill>
                  <a:schemeClr val="dk1"/>
                </a:solidFill>
                <a:latin typeface="Oswald SemiBold"/>
                <a:ea typeface="Oswald SemiBold"/>
                <a:cs typeface="Oswald SemiBold"/>
                <a:sym typeface="Oswald SemiBold"/>
              </a:rPr>
              <a:t> </a:t>
            </a:r>
            <a:endParaRPr sz="3200">
              <a:solidFill>
                <a:schemeClr val="dk1"/>
              </a:solidFill>
              <a:latin typeface="Oswald SemiBold"/>
              <a:ea typeface="Oswald SemiBold"/>
              <a:cs typeface="Oswald SemiBold"/>
              <a:sym typeface="Oswald SemiBold"/>
            </a:endParaRPr>
          </a:p>
          <a:p>
            <a:pPr marL="0" lvl="0" indent="0" algn="l" rtl="0">
              <a:lnSpc>
                <a:spcPct val="140000"/>
              </a:lnSpc>
              <a:spcBef>
                <a:spcPts val="0"/>
              </a:spcBef>
              <a:spcAft>
                <a:spcPts val="0"/>
              </a:spcAft>
              <a:buNone/>
            </a:pPr>
            <a:endParaRPr sz="3230">
              <a:solidFill>
                <a:schemeClr val="dk1"/>
              </a:solidFill>
              <a:latin typeface="Oswald SemiBold"/>
              <a:ea typeface="Oswald SemiBold"/>
              <a:cs typeface="Oswald SemiBold"/>
              <a:sym typeface="Oswald SemiBold"/>
            </a:endParaRPr>
          </a:p>
        </p:txBody>
      </p:sp>
      <p:pic>
        <p:nvPicPr>
          <p:cNvPr id="429" name="Google Shape;429;g3d03f543068_9_22" title="Screenshot 2026-03-16 at 19.55.30.png"/>
          <p:cNvPicPr preferRelativeResize="0"/>
          <p:nvPr/>
        </p:nvPicPr>
        <p:blipFill>
          <a:blip r:embed="rId3">
            <a:alphaModFix/>
          </a:blip>
          <a:stretch>
            <a:fillRect/>
          </a:stretch>
        </p:blipFill>
        <p:spPr>
          <a:xfrm>
            <a:off x="438150" y="3177258"/>
            <a:ext cx="4133850" cy="3429000"/>
          </a:xfrm>
          <a:prstGeom prst="rect">
            <a:avLst/>
          </a:prstGeom>
          <a:noFill/>
          <a:ln>
            <a:noFill/>
          </a:ln>
        </p:spPr>
      </p:pic>
      <p:pic>
        <p:nvPicPr>
          <p:cNvPr id="430" name="Google Shape;430;g3d03f543068_9_22" title="Screenshot 2026-03-16 at 19.55.40.png"/>
          <p:cNvPicPr preferRelativeResize="0"/>
          <p:nvPr/>
        </p:nvPicPr>
        <p:blipFill>
          <a:blip r:embed="rId4">
            <a:alphaModFix/>
          </a:blip>
          <a:stretch>
            <a:fillRect/>
          </a:stretch>
        </p:blipFill>
        <p:spPr>
          <a:xfrm>
            <a:off x="438150" y="7133808"/>
            <a:ext cx="4095750" cy="2857500"/>
          </a:xfrm>
          <a:prstGeom prst="rect">
            <a:avLst/>
          </a:prstGeom>
          <a:noFill/>
          <a:ln>
            <a:noFill/>
          </a:ln>
        </p:spPr>
      </p:pic>
      <p:pic>
        <p:nvPicPr>
          <p:cNvPr id="431" name="Google Shape;431;g3d03f543068_9_22" title="Screenshot 2026-03-16 at 19.56.10.png"/>
          <p:cNvPicPr preferRelativeResize="0"/>
          <p:nvPr/>
        </p:nvPicPr>
        <p:blipFill>
          <a:blip r:embed="rId5">
            <a:alphaModFix/>
          </a:blip>
          <a:stretch>
            <a:fillRect/>
          </a:stretch>
        </p:blipFill>
        <p:spPr>
          <a:xfrm>
            <a:off x="5264888" y="3268596"/>
            <a:ext cx="11301523" cy="3246325"/>
          </a:xfrm>
          <a:prstGeom prst="rect">
            <a:avLst/>
          </a:prstGeom>
          <a:noFill/>
          <a:ln>
            <a:noFill/>
          </a:ln>
        </p:spPr>
      </p:pic>
      <p:sp>
        <p:nvSpPr>
          <p:cNvPr id="432" name="Google Shape;432;g3d03f543068_9_22"/>
          <p:cNvSpPr txBox="1"/>
          <p:nvPr/>
        </p:nvSpPr>
        <p:spPr>
          <a:xfrm>
            <a:off x="5653500" y="7133808"/>
            <a:ext cx="10814400" cy="1723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US" sz="2500">
                <a:solidFill>
                  <a:schemeClr val="dk1"/>
                </a:solidFill>
                <a:latin typeface="Calibri"/>
                <a:ea typeface="Calibri"/>
                <a:cs typeface="Calibri"/>
                <a:sym typeface="Calibri"/>
              </a:rPr>
              <a:t>Setelah dilakukan filter pada </a:t>
            </a:r>
            <a:r>
              <a:rPr lang="en-US" sz="2500" b="1">
                <a:solidFill>
                  <a:schemeClr val="dk1"/>
                </a:solidFill>
                <a:latin typeface="Calibri"/>
                <a:ea typeface="Calibri"/>
                <a:cs typeface="Calibri"/>
                <a:sym typeface="Calibri"/>
              </a:rPr>
              <a:t>Category: Mobiles &amp; Tablets</a:t>
            </a:r>
            <a:r>
              <a:rPr lang="en-US" sz="2500">
                <a:solidFill>
                  <a:schemeClr val="dk1"/>
                </a:solidFill>
                <a:latin typeface="Calibri"/>
                <a:ea typeface="Calibri"/>
                <a:cs typeface="Calibri"/>
                <a:sym typeface="Calibri"/>
              </a:rPr>
              <a:t> dan </a:t>
            </a:r>
            <a:r>
              <a:rPr lang="en-US" sz="2500" b="1">
                <a:solidFill>
                  <a:schemeClr val="dk1"/>
                </a:solidFill>
                <a:latin typeface="Calibri"/>
                <a:ea typeface="Calibri"/>
                <a:cs typeface="Calibri"/>
                <a:sym typeface="Calibri"/>
              </a:rPr>
              <a:t>Payment: jazzwallet</a:t>
            </a:r>
            <a:r>
              <a:rPr lang="en-US" sz="2500">
                <a:solidFill>
                  <a:schemeClr val="dk1"/>
                </a:solidFill>
                <a:latin typeface="Calibri"/>
                <a:ea typeface="Calibri"/>
                <a:cs typeface="Calibri"/>
                <a:sym typeface="Calibri"/>
              </a:rPr>
              <a:t>, chart tidak menampilkan data untuk metrik </a:t>
            </a:r>
            <a:r>
              <a:rPr lang="en-US" sz="2500" b="1">
                <a:solidFill>
                  <a:schemeClr val="dk1"/>
                </a:solidFill>
                <a:latin typeface="Calibri"/>
                <a:ea typeface="Calibri"/>
                <a:cs typeface="Calibri"/>
                <a:sym typeface="Calibri"/>
              </a:rPr>
              <a:t>Quantity</a:t>
            </a:r>
            <a:r>
              <a:rPr lang="en-US" sz="2500">
                <a:solidFill>
                  <a:schemeClr val="dk1"/>
                </a:solidFill>
                <a:latin typeface="Calibri"/>
                <a:ea typeface="Calibri"/>
                <a:cs typeface="Calibri"/>
                <a:sym typeface="Calibri"/>
              </a:rPr>
              <a:t> dan </a:t>
            </a:r>
            <a:r>
              <a:rPr lang="en-US" sz="2500" b="1">
                <a:solidFill>
                  <a:schemeClr val="dk1"/>
                </a:solidFill>
                <a:latin typeface="Calibri"/>
                <a:ea typeface="Calibri"/>
                <a:cs typeface="Calibri"/>
                <a:sym typeface="Calibri"/>
              </a:rPr>
              <a:t>Customer</a:t>
            </a:r>
            <a:r>
              <a:rPr lang="en-US" sz="2500">
                <a:solidFill>
                  <a:schemeClr val="dk1"/>
                </a:solidFill>
                <a:latin typeface="Calibri"/>
                <a:ea typeface="Calibri"/>
                <a:cs typeface="Calibri"/>
                <a:sym typeface="Calibri"/>
              </a:rPr>
              <a:t>. Hal ini menunjukkan bahwa tidak terdapat transaksi pada kategori </a:t>
            </a:r>
            <a:r>
              <a:rPr lang="en-US" sz="2500" i="1">
                <a:solidFill>
                  <a:schemeClr val="dk1"/>
                </a:solidFill>
                <a:latin typeface="Calibri"/>
                <a:ea typeface="Calibri"/>
                <a:cs typeface="Calibri"/>
                <a:sym typeface="Calibri"/>
              </a:rPr>
              <a:t>Mobiles &amp; Tablets</a:t>
            </a:r>
            <a:r>
              <a:rPr lang="en-US" sz="2500">
                <a:solidFill>
                  <a:schemeClr val="dk1"/>
                </a:solidFill>
                <a:latin typeface="Calibri"/>
                <a:ea typeface="Calibri"/>
                <a:cs typeface="Calibri"/>
                <a:sym typeface="Calibri"/>
              </a:rPr>
              <a:t> yang menggunakan metode pembayaran </a:t>
            </a:r>
            <a:r>
              <a:rPr lang="en-US" sz="2500" i="1">
                <a:solidFill>
                  <a:schemeClr val="dk1"/>
                </a:solidFill>
                <a:latin typeface="Calibri"/>
                <a:ea typeface="Calibri"/>
                <a:cs typeface="Calibri"/>
                <a:sym typeface="Calibri"/>
              </a:rPr>
              <a:t>jazzwallet</a:t>
            </a:r>
            <a:endParaRPr sz="39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436"/>
        <p:cNvGrpSpPr/>
        <p:nvPr/>
      </p:nvGrpSpPr>
      <p:grpSpPr>
        <a:xfrm>
          <a:off x="0" y="0"/>
          <a:ext cx="0" cy="0"/>
          <a:chOff x="0" y="0"/>
          <a:chExt cx="0" cy="0"/>
        </a:xfrm>
      </p:grpSpPr>
      <p:grpSp>
        <p:nvGrpSpPr>
          <p:cNvPr id="437" name="Google Shape;437;g3d774fd106a_8_22"/>
          <p:cNvGrpSpPr/>
          <p:nvPr/>
        </p:nvGrpSpPr>
        <p:grpSpPr>
          <a:xfrm>
            <a:off x="17259300" y="-361655"/>
            <a:ext cx="3086120" cy="10649165"/>
            <a:chOff x="0" y="-95250"/>
            <a:chExt cx="812800" cy="2804700"/>
          </a:xfrm>
        </p:grpSpPr>
        <p:sp>
          <p:nvSpPr>
            <p:cNvPr id="438" name="Google Shape;438;g3d774fd106a_8_22"/>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g3d774fd106a_8_22"/>
            <p:cNvSpPr txBox="1"/>
            <p:nvPr/>
          </p:nvSpPr>
          <p:spPr>
            <a:xfrm>
              <a:off x="0" y="-95250"/>
              <a:ext cx="812700" cy="2804700"/>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40" name="Google Shape;440;g3d774fd106a_8_22"/>
          <p:cNvSpPr txBox="1"/>
          <p:nvPr/>
        </p:nvSpPr>
        <p:spPr>
          <a:xfrm>
            <a:off x="4401875" y="3044250"/>
            <a:ext cx="7648800" cy="1647000"/>
          </a:xfrm>
          <a:prstGeom prst="rect">
            <a:avLst/>
          </a:prstGeom>
          <a:noFill/>
          <a:ln>
            <a:noFill/>
          </a:ln>
        </p:spPr>
        <p:txBody>
          <a:bodyPr spcFirstLastPara="1" wrap="square" lIns="0" tIns="0" rIns="0" bIns="0" anchor="t" anchorCtr="0">
            <a:spAutoFit/>
          </a:bodyPr>
          <a:lstStyle/>
          <a:p>
            <a:pPr marL="0" marR="0" lvl="0" indent="0" algn="l" rtl="0">
              <a:lnSpc>
                <a:spcPct val="113999"/>
              </a:lnSpc>
              <a:spcBef>
                <a:spcPts val="0"/>
              </a:spcBef>
              <a:spcAft>
                <a:spcPts val="0"/>
              </a:spcAft>
              <a:buNone/>
            </a:pPr>
            <a:r>
              <a:rPr lang="en-US" sz="5000" b="1">
                <a:solidFill>
                  <a:srgbClr val="303870"/>
                </a:solidFill>
              </a:rPr>
              <a:t>Link Dashboard Kelompok D7</a:t>
            </a:r>
            <a:endParaRPr sz="5000"/>
          </a:p>
        </p:txBody>
      </p:sp>
      <p:sp>
        <p:nvSpPr>
          <p:cNvPr id="441" name="Google Shape;441;g3d774fd106a_8_22"/>
          <p:cNvSpPr/>
          <p:nvPr/>
        </p:nvSpPr>
        <p:spPr>
          <a:xfrm>
            <a:off x="4401875" y="4847575"/>
            <a:ext cx="9183600" cy="18150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300">
                <a:solidFill>
                  <a:schemeClr val="lt1"/>
                </a:solidFill>
                <a:latin typeface="Calibri"/>
                <a:ea typeface="Calibri"/>
                <a:cs typeface="Calibri"/>
                <a:sym typeface="Calibri"/>
              </a:rPr>
              <a:t>https://lookerstudio.google.com/s/qUZAMZ6p6s4</a:t>
            </a:r>
            <a:endParaRPr sz="3300">
              <a:solidFill>
                <a:schemeClr val="lt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EDE2"/>
        </a:solidFill>
        <a:effectLst/>
      </p:bgPr>
    </p:bg>
    <p:spTree>
      <p:nvGrpSpPr>
        <p:cNvPr id="1" name="Shape 445"/>
        <p:cNvGrpSpPr/>
        <p:nvPr/>
      </p:nvGrpSpPr>
      <p:grpSpPr>
        <a:xfrm>
          <a:off x="0" y="0"/>
          <a:ext cx="0" cy="0"/>
          <a:chOff x="0" y="0"/>
          <a:chExt cx="0" cy="0"/>
        </a:xfrm>
      </p:grpSpPr>
      <p:grpSp>
        <p:nvGrpSpPr>
          <p:cNvPr id="446" name="Google Shape;446;p12"/>
          <p:cNvGrpSpPr/>
          <p:nvPr/>
        </p:nvGrpSpPr>
        <p:grpSpPr>
          <a:xfrm>
            <a:off x="17259300" y="-361652"/>
            <a:ext cx="3086100" cy="10648652"/>
            <a:chOff x="0" y="-95250"/>
            <a:chExt cx="812800" cy="2804583"/>
          </a:xfrm>
        </p:grpSpPr>
        <p:sp>
          <p:nvSpPr>
            <p:cNvPr id="447" name="Google Shape;447;p12"/>
            <p:cNvSpPr/>
            <p:nvPr/>
          </p:nvSpPr>
          <p:spPr>
            <a:xfrm>
              <a:off x="0" y="0"/>
              <a:ext cx="812800" cy="2709333"/>
            </a:xfrm>
            <a:custGeom>
              <a:avLst/>
              <a:gdLst/>
              <a:ahLst/>
              <a:cxnLst/>
              <a:rect l="l" t="t" r="r" b="b"/>
              <a:pathLst>
                <a:path w="812800" h="2709333" extrusionOk="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2"/>
            <p:cNvSpPr txBox="1"/>
            <p:nvPr/>
          </p:nvSpPr>
          <p:spPr>
            <a:xfrm>
              <a:off x="0" y="-95250"/>
              <a:ext cx="812800" cy="2804583"/>
            </a:xfrm>
            <a:prstGeom prst="rect">
              <a:avLst/>
            </a:prstGeom>
            <a:noFill/>
            <a:ln>
              <a:noFill/>
            </a:ln>
          </p:spPr>
          <p:txBody>
            <a:bodyPr spcFirstLastPara="1" wrap="square" lIns="50800" tIns="50800" rIns="50800" bIns="50800" anchor="ctr" anchorCtr="0">
              <a:noAutofit/>
            </a:bodyPr>
            <a:lstStyle/>
            <a:p>
              <a:pPr marL="0" marR="0" lvl="0" indent="0" algn="ctr" rtl="0">
                <a:lnSpc>
                  <a:spcPct val="182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49" name="Google Shape;449;p12"/>
          <p:cNvSpPr txBox="1"/>
          <p:nvPr/>
        </p:nvSpPr>
        <p:spPr>
          <a:xfrm>
            <a:off x="1028700" y="5165377"/>
            <a:ext cx="10209000" cy="1592100"/>
          </a:xfrm>
          <a:prstGeom prst="rect">
            <a:avLst/>
          </a:prstGeom>
          <a:noFill/>
          <a:ln>
            <a:noFill/>
          </a:ln>
        </p:spPr>
        <p:txBody>
          <a:bodyPr spcFirstLastPara="1" wrap="square" lIns="0" tIns="0" rIns="0" bIns="0" anchor="t" anchorCtr="0">
            <a:spAutoFit/>
          </a:bodyPr>
          <a:lstStyle/>
          <a:p>
            <a:pPr marL="0" marR="0" lvl="0" indent="0" algn="l" rtl="0">
              <a:lnSpc>
                <a:spcPct val="113999"/>
              </a:lnSpc>
              <a:spcBef>
                <a:spcPts val="0"/>
              </a:spcBef>
              <a:spcAft>
                <a:spcPts val="0"/>
              </a:spcAft>
              <a:buNone/>
            </a:pPr>
            <a:r>
              <a:rPr lang="en-US" sz="10343" b="1" i="0" u="none" strike="noStrike" cap="none">
                <a:solidFill>
                  <a:srgbClr val="303870"/>
                </a:solidFill>
                <a:latin typeface="Arial"/>
                <a:ea typeface="Arial"/>
                <a:cs typeface="Arial"/>
                <a:sym typeface="Arial"/>
              </a:rPr>
              <a:t>THANK YOU</a:t>
            </a:r>
            <a:endParaRPr/>
          </a:p>
        </p:txBody>
      </p:sp>
      <p:sp>
        <p:nvSpPr>
          <p:cNvPr id="450" name="Google Shape;450;p12"/>
          <p:cNvSpPr txBox="1"/>
          <p:nvPr/>
        </p:nvSpPr>
        <p:spPr>
          <a:xfrm>
            <a:off x="1028700" y="3484114"/>
            <a:ext cx="7652100" cy="4986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240">
                <a:solidFill>
                  <a:srgbClr val="303870"/>
                </a:solidFill>
                <a:latin typeface="Nunito"/>
                <a:ea typeface="Nunito"/>
                <a:cs typeface="Nunito"/>
                <a:sym typeface="Nunito"/>
              </a:rPr>
              <a:t>Final Project Data Analyst - Batch 26</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1751</Words>
  <Application>Microsoft Office PowerPoint</Application>
  <PresentationFormat>Custom</PresentationFormat>
  <Paragraphs>161</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Nunito Medium</vt:lpstr>
      <vt:lpstr>Comfortaa</vt:lpstr>
      <vt:lpstr>Calibri</vt:lpstr>
      <vt:lpstr>Oswald Medium</vt:lpstr>
      <vt:lpstr>Arial</vt:lpstr>
      <vt:lpstr>Nunito</vt:lpstr>
      <vt:lpstr>Oswald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Lenovo LOQ i7 gen 13 RTX 4060 Bima 91</cp:lastModifiedBy>
  <cp:revision>2</cp:revision>
  <dcterms:created xsi:type="dcterms:W3CDTF">2006-08-16T00:00:00Z</dcterms:created>
  <dcterms:modified xsi:type="dcterms:W3CDTF">2026-04-06T21:02:11Z</dcterms:modified>
</cp:coreProperties>
</file>